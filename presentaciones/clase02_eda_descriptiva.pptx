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</p:sldIdLst>
  <p:sldSz cx="9144000" cy="513892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3B4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4088" y="1252728"/>
            <a:ext cx="7744968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>
                <a:solidFill>
                  <a:srgbClr val="FFFFFF"/>
                </a:solidFill>
                <a:latin typeface="Fira Sans"/>
              </a:rPr>
              <a:t>Introducción y fundamentos estadísticos</a:t>
            </a:r>
          </a:p>
        </p:txBody>
      </p:sp>
      <p:sp>
        <p:nvSpPr>
          <p:cNvPr id="4" name="Rectangle 3"/>
          <p:cNvSpPr/>
          <p:nvPr/>
        </p:nvSpPr>
        <p:spPr>
          <a:xfrm>
            <a:off x="1975104" y="2651760"/>
            <a:ext cx="5202936" cy="521207"/>
          </a:xfrm>
          <a:prstGeom prst="rect">
            <a:avLst/>
          </a:prstGeom>
          <a:solidFill>
            <a:srgbClr val="E0A4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900" b="1">
                <a:solidFill>
                  <a:srgbClr val="1D3557"/>
                </a:solidFill>
                <a:latin typeface="Fira Sans"/>
              </a:rPr>
              <a:t>Clase 2 · Análisis exploratorio de datos 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547872"/>
            <a:ext cx="7744968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FFFFFF"/>
                </a:solidFill>
                <a:latin typeface="Fira Sans"/>
              </a:rPr>
              <a:t>Daniela Opitz</a:t>
            </a:r>
          </a:p>
          <a:p>
            <a:r>
              <a:rPr sz="1300" b="0">
                <a:solidFill>
                  <a:srgbClr val="B8C4D4"/>
                </a:solidFill>
                <a:latin typeface="Fira Sans"/>
              </a:rPr>
              <a:t>Diplomado en Ciencia de Datos Aplicada · Departamento de Informática · UTFSM · jueves 27 de agosto,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5806440" y="4480560"/>
            <a:ext cx="3017520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i_logo_recort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4562856"/>
            <a:ext cx="2743200" cy="39319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Contenidos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1. Formular la pregunta y la hipótesis del proyecto.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2. Rúbrica de la formulación del Capstone.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3. Qué es el análisis exploratorio de datos.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4. Tendencia central: media, mediana y moda.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5. Dispersión y forma: desviación estándar, percentiles y boxplot.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6. Calidad y limpieza de datos.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La pregunta y la hipótesis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Formular el proyecto antes de analizarlo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Seis tipos de pregunta</a:t>
            </a:r>
          </a:p>
        </p:txBody>
      </p:sp>
      <p:pic>
        <p:nvPicPr>
          <p:cNvPr id="4" name="Picture 3" descr="06_tipos_pregunt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312129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módulo cubre los cuatro primeros tipos. El error más común de un análisis es responder un tipo de pregunta creyendo que se responde otro (Leek y Peng, 2015).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Qué hace buena a una pregunta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De interés real: una audiencia concreta usaría la respuesta (Peng y Matsui, 2015).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Se pueden retomar preguntas que otros ya estudiaron; lo que no se acepta es copiar la solución: el análisis debe ser propio y sobre sus datos.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Plausible: la respuesta esperada tiene un mecanismo creíble.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Respondible: los datos necesarios existen y son obtenibles.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Específica: nombra variables y población, no generalidades.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¿Qué tiene de malo esta pregunta? (1 de 3)</a:t>
            </a:r>
          </a:p>
        </p:txBody>
      </p:sp>
      <p:sp>
        <p:nvSpPr>
          <p:cNvPr id="4" name="Rectangle 3"/>
          <p:cNvSpPr/>
          <p:nvPr/>
        </p:nvSpPr>
        <p:spPr>
          <a:xfrm>
            <a:off x="1097280" y="1828800"/>
            <a:ext cx="6949440" cy="1371600"/>
          </a:xfrm>
          <a:prstGeom prst="rect">
            <a:avLst/>
          </a:prstGeom>
          <a:solidFill>
            <a:srgbClr val="FFFFFF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1D3557"/>
                </a:solidFill>
                <a:latin typeface="Fira Sans"/>
              </a:rPr>
              <a:t>¿Cómo mejorar las ventas?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3749039"/>
            <a:ext cx="6949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333333"/>
                </a:solidFill>
                <a:latin typeface="Fira Sans"/>
              </a:rPr>
              <a:t>Discutamos antes de ver la reparación.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¿Qué tiene de malo esta pregunta? (2 de 3)</a:t>
            </a:r>
          </a:p>
        </p:txBody>
      </p:sp>
      <p:sp>
        <p:nvSpPr>
          <p:cNvPr id="4" name="Rectangle 3"/>
          <p:cNvSpPr/>
          <p:nvPr/>
        </p:nvSpPr>
        <p:spPr>
          <a:xfrm>
            <a:off x="1097280" y="1828800"/>
            <a:ext cx="6949440" cy="1371600"/>
          </a:xfrm>
          <a:prstGeom prst="rect">
            <a:avLst/>
          </a:prstGeom>
          <a:solidFill>
            <a:srgbClr val="FFFFFF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1D3557"/>
                </a:solidFill>
                <a:latin typeface="Fira Sans"/>
              </a:rPr>
              <a:t>¿Sirve la IA para mi empresa?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3749039"/>
            <a:ext cx="6949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333333"/>
                </a:solidFill>
                <a:latin typeface="Fira Sans"/>
              </a:rPr>
              <a:t>Discutamos antes de ver la reparación.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¿Qué tiene de malo esta pregunta? (3 de 3)</a:t>
            </a:r>
          </a:p>
        </p:txBody>
      </p:sp>
      <p:sp>
        <p:nvSpPr>
          <p:cNvPr id="4" name="Rectangle 3"/>
          <p:cNvSpPr/>
          <p:nvPr/>
        </p:nvSpPr>
        <p:spPr>
          <a:xfrm>
            <a:off x="1097280" y="1828800"/>
            <a:ext cx="6949440" cy="1371600"/>
          </a:xfrm>
          <a:prstGeom prst="rect">
            <a:avLst/>
          </a:prstGeom>
          <a:solidFill>
            <a:srgbClr val="FFFFFF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1D3557"/>
                </a:solidFill>
                <a:latin typeface="Fira Sans"/>
              </a:rPr>
              <a:t>¿Por qué renuncian los empleados?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3749039"/>
            <a:ext cx="6949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333333"/>
                </a:solidFill>
                <a:latin typeface="Fira Sans"/>
              </a:rPr>
              <a:t>Discutamos antes de ver la reparación.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Malas preguntas, reparadas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188720"/>
          <a:ext cx="8138160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377440"/>
                <a:gridCol w="3474720"/>
              </a:tblGrid>
              <a:tr h="41148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Fira Sans"/>
                        </a:rPr>
                        <a:t>La pregunta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Fira Sans"/>
                        </a:rPr>
                        <a:t>El problema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Fira Sans"/>
                        </a:rPr>
                        <a:t>Una versión que funciona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¿Cómo mejorar las ventas?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No dice qué medir ni dónde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¿Qué categorías de producto caen en invierno en las sucursales del sur?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¿Sirve la IA para mi empresa?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Sin variables ni población definidas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¿Cuántas horas de revisión manual ahorra clasificar los reclamos automáticamente?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¿Por qué renuncian los empleados?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Causal; los datos solo permiten explorar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¿Qué características comparten quienes renunciaron durante 2025?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434840"/>
            <a:ext cx="8138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reparación típica: nombrar la variable, la población y el periodo, y bajar la ambición causal al tipo de pregunta que los datos permiten.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De la pregunta a la hipótesis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Hipótesis: una afirmación sobre la relación entre variables medibles, que los datos pueden confirmar o refutar.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Si ningún resultado posible podría refutarla, no es una hipótesis.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Pregunta: ¿la duración del viaje depende del modo de transporte?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Hipótesis: los viajes en transporte público duran en promedio más que en auto. Variables: ModoAgrupado y TiempoViaje; el contraste, una comparación de medias (clase 5).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Malas hipótesis, reparadas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188720"/>
          <a:ext cx="8138160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377440"/>
                <a:gridCol w="3474720"/>
              </a:tblGrid>
              <a:tr h="41148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Fira Sans"/>
                        </a:rPr>
                        <a:t>La hipótesis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Fira Sans"/>
                        </a:rPr>
                        <a:t>El problema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Fira Sans"/>
                        </a:rPr>
                        <a:t>Una versión verificable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El marketing influye en las ventas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No dice qué marketing ni qué ventas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Las semanas con campaña activa venden más que las semanas sin campaña, en la misma sucursal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Los reclamos muestran patrones interesantes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No es falsable: cualquier cosa la confirma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Los reclamos aumentan en los meses de mayor demanda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Los viajes largos son culpa del transporte público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Atribuye causa donde solo hay asociación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Los viajes en transporte público duran en promedio más que los viajes en auto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434840"/>
            <a:ext cx="8138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Una hipótesis verificable nombra variables medibles y una comparación concreta; la tercera es la que contrastaremos con la EOD.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ciclo PPDAC</a:t>
            </a:r>
          </a:p>
        </p:txBody>
      </p:sp>
      <p:pic>
        <p:nvPicPr>
          <p:cNvPr id="4" name="Picture 3" descr="07_ppda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47742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Problema, plan, datos, análisis y conclusión (Wild y Pfannkuch, 1999): la formulación del Capstone es la etapa de problema y plan de este ciclo.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formulación del proyecto Capstone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Se publica hoy la rúbrica, con seis criterios: problema (20 pts), datos y metadatos (20), estrategia de obtención (15), novedad (15), viabilidad técnica (15) e impacto esperado (15).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Documento de 2 a 3 páginas, un envío por equipo (máximo 2 personas), por el aula virtual.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Entrega: lunes 7 de septiembre. Presentación breve de la idea: jueves 3, con retroalimentación y sin nota.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Quienes no usen datos de su trabajo pueden partir de la lista de datos sugeridos del repositorio.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El análisis exploratorio de datos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Qué es y por qué se hace primero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Qué es el EDA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Examinar los datos antes de modelar: resumirlos, graficarlos y detectar sus problemas.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término viene de Tukey (1977): explorar es trabajo estadístico serio, no un trámite previo.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Hoy: una variable a la vez, más calidad de los datos. El martes: relaciones entre variables.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Es lo que exige el entregable del 40%: el análisis exploratorio del proyecto.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datos de la clase: iris y la EOD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1">
                <a:solidFill>
                  <a:srgbClr val="1D3557"/>
                </a:solidFill>
                <a:latin typeface="Fira Sans"/>
              </a:rPr>
              <a:t>iris para aprender los conceptos; la EOD para aplicarlos a datos reales.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iris: 150 flores de tres especies, con el largo y el ancho del pétalo y del sépalo en centímetros. Publicado por Fisher (1936).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Chico y ordenado: los resúmenes se pueden verificar a mano.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La EOD ya la conocen: 113.591 viajes, con faltantes, colas y códigos.</a:t>
            </a:r>
          </a:p>
        </p:txBody>
      </p:sp>
      <p:pic>
        <p:nvPicPr>
          <p:cNvPr id="5" name="Picture 4" descr="13_iris_par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2916567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 tres especies</a:t>
            </a:r>
          </a:p>
        </p:txBody>
      </p:sp>
      <p:pic>
        <p:nvPicPr>
          <p:cNvPr id="4" name="Picture 3" descr="10_iris_espec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30732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Fotografías: Radomil, D. Gordon E. Robertson y Frank Mayfield, Wikimedia Commons, licencias CC BY-SA.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Cargar iris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37744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from sklearn.datasets import load_iris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iris = load_iris()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iris_df = pd.DataFrame(iris.data, columns=iris.feature_names)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iris_df["species"] = pd.Categorical.from_codes(iris.target, iris.target_names)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88620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Viene incluido en scikit-learn, así que no requiere descarga. La columna species queda como variable categórica de Pandas.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iris_df: las primeras filas</a:t>
            </a:r>
          </a:p>
        </p:txBody>
      </p:sp>
      <p:pic>
        <p:nvPicPr>
          <p:cNvPr id="4" name="Picture 3" descr="14_iris_d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4775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150 filas y 5 columnas: cuatro medidas numéricas y la especie como variable categórica.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Tendencia central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Un número para el centro de la variable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Frecuencia y moda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Para una variable cualitativa, el resumen básico es la frecuencia de cada categoría: value_counts(), y en porcentaje con normalize=True.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En iris: 50 flores de cada especie (un diseño balanceado).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moda es el valor más frecuente; es el único resumen de tendencia central que existe para variables cualitativas.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En la EOD, la moda de la duración es 30 minutos: la gente declara tiempos redondeados.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Media, mediana y moda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188720"/>
          <a:ext cx="8138160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4440"/>
                <a:gridCol w="3429000"/>
                <a:gridCol w="1737360"/>
                <a:gridCol w="1737360"/>
              </a:tblGrid>
              <a:tr h="41148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Fira Sans"/>
                        </a:rPr>
                        <a:t>Medida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Fira Sans"/>
                        </a:rPr>
                        <a:t>Definición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Fira Sans"/>
                        </a:rPr>
                        <a:t>iris: largo de sépalo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Fira Sans"/>
                        </a:rPr>
                        <a:t>EOD: duración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Media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El promedio: la suma de los valores dividida por el número de datos.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5,84 cm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36,9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Mediana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El valor central: deja el 50% de los datos a cada lado.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5,80 cm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30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Moda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El valor más frecuente; el único resumen posible para variables cualitativas.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5,0 cm (10 flores)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30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434840"/>
            <a:ext cx="8138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En iris, media y mediana casi coinciden: la distribución es simétrica. Cuando difieren, la media queda arrastrada hacia la cola.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Iris: el caso simétrico</a:t>
            </a:r>
          </a:p>
        </p:txBody>
      </p:sp>
      <p:pic>
        <p:nvPicPr>
          <p:cNvPr id="4" name="Picture 3" descr="08_iris_simetri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37387" y="1143000"/>
            <a:ext cx="5469224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En una distribución simétrica, media y mediana cuentan la misma historia.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EOD: el caso asimétrico</a:t>
            </a:r>
          </a:p>
        </p:txBody>
      </p:sp>
      <p:pic>
        <p:nvPicPr>
          <p:cNvPr id="4" name="Picture 3" descr="01_media_mediana_ingres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4481" y="1143000"/>
            <a:ext cx="5395037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Ingresos de los hogares de la EOD: mediana $0,51 millones, media $0,69 millones. La cola de ingresos altos arrastra la media; por eso el ingreso se reporta con la mediana.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Recreo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10 minutos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Dispersión y forma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Cuánto varían los datos alrededor del centro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Medir la dispersión</a:t>
            </a:r>
          </a:p>
        </p:txBody>
      </p:sp>
      <p:pic>
        <p:nvPicPr>
          <p:cNvPr id="4" name="Picture 3" descr="12_formulas_disper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percentiles completan el cuadro: quantile([0, 0.25, 0.5, 0.75, 1]) entrega el mínimo, los cuartiles y el máximo (en iris: 4,3 · 5,1 · 5,8 · 6,4 · 7,9).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media no basta</a:t>
            </a:r>
          </a:p>
        </p:txBody>
      </p:sp>
      <p:pic>
        <p:nvPicPr>
          <p:cNvPr id="4" name="Picture 3" descr="02_dispersion_comun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2348" y="1143000"/>
            <a:ext cx="5499302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Providencia y Talagante tienen la misma duración media de viaje (40,7 minutos), pero la desviación estándar de Talagante es el doble: dos realidades distintas detrás del mismo promedio.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boxplot</a:t>
            </a:r>
          </a:p>
        </p:txBody>
      </p:sp>
      <p:pic>
        <p:nvPicPr>
          <p:cNvPr id="4" name="Picture 3" descr="03_boxplot_anatom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0020" y="1143000"/>
            <a:ext cx="5663958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Cinco números en un solo gráfico: mediana, cuartiles, bigotes y valores atípicos. La regla de los bigotes (1,5 veces el IQR) es una convención para marcar valores inusuales, no un veredicto.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Valores atípicos (outliers)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1">
                <a:solidFill>
                  <a:srgbClr val="1D3557"/>
                </a:solidFill>
                <a:latin typeface="Fira Sans"/>
              </a:rPr>
              <a:t>Un valor atípico es una observación que se aleja notoriamente del resto.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Convención de Tukey: fuera de Q1 − 1,5·IQR y de Q3 + 1,5·IQR. Marca valores inusuales, no es un veredicto.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Atípico no significa error: puede ser un caso real e informativo. Distinguirlo exige criterio del dominio.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No hay una regla universal para excluirlos: es materia de la estadística robusta.</a:t>
            </a:r>
          </a:p>
        </p:txBody>
      </p:sp>
      <p:pic>
        <p:nvPicPr>
          <p:cNvPr id="5" name="Picture 4" descr="15_outliers_tuke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3136431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Boxplots para comparar grupos: iris</a:t>
            </a:r>
          </a:p>
        </p:txBody>
      </p:sp>
      <p:pic>
        <p:nvPicPr>
          <p:cNvPr id="4" name="Picture 3" descr="09_iris_boxpl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2889" y="1143000"/>
            <a:ext cx="5938221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largo del pétalo separa casi perfectamente a las tres especies: centros y dispersiones distintas en una sola figura.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Boxplots para comparar grupos: la EOD</a:t>
            </a:r>
          </a:p>
        </p:txBody>
      </p:sp>
      <p:pic>
        <p:nvPicPr>
          <p:cNvPr id="4" name="Picture 3" descr="04_boxplot_mod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89916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duración del viaje según el modo: centros y dispersiones distintas en una sola figura. Es el gráfico estándar para comparar una variable cuantitativa entre categorías.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Calidad y limpieza de datos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Los resúmenes valen lo que valen los datos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iris viene casi limpio; los datos reales, no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iris: cero faltantes en sus 150 filas... y aun así tiene una fila duplicada. Hasta el dataset más famoso trae un problema de calidad.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EOD: 278 duraciones faltantes, códigos que traducir, colas sospechosas y factores que son NaN por diseño.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Por eso el checklist de calidad se aplica siempre, también al dataset del proyecto.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Valores faltantes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Detección: isna().sum(), o el count de describe() contra len.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En la EOD: TiempoViaje tiene 278 faltantes entre 113.591 viajes.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Un NaN no siempre es error: en los factores de expansión significa "no aplica".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Opciones: eliminar, imputar o dejar que cada cálculo los excluya. Lo obligatorio: decidir y documentar.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Duplicados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duplicated() marca filas repetidas; drop_duplicates() las elimina.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Dos niveles: la fila completa y la llave que debería ser única.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En la EOD ambos chequeos dan cero; un cero también es un hallazgo.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riesgo típico: un merge con llaves repetidas multiplica filas.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Valores sospechosos</a:t>
            </a:r>
          </a:p>
        </p:txBody>
      </p:sp>
      <p:pic>
        <p:nvPicPr>
          <p:cNvPr id="4" name="Picture 3" descr="05_cola_imposib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8218" y="1143000"/>
            <a:ext cx="5847563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116 viajes declaran más de 5 horas y el máximo es de 22 horas. ¿Error de registro o viaje real? La respuesta exige criterio del dominio; la decisión (mantener, corregir o excluir) se toma en el código y se documenta.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Tapar valores con mask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187452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donde la condición se cumple, reemplaza (aquí, por NaN)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viajes["TiempoViaje"] = viajes["TiempoViaje"].mask(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viajes["TiempoViaje"] &gt; 300)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383279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mask reemplaza donde la condición es verdadera; where, su espejo, conserva donde es verdadera y reemplaza el resto. Regla nemotécnica: mask es dónde tapar, where es dónde quedarse.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Revisar cada merge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Comparar el número de filas antes y después: un inner descarta las filas sin pareja; en la clase 1, 113.591 viajes quedaron en 111.393.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Contar los NaN de las columnas nuevas cuando se usa how="left": ahí quedan visibles las filas sin correspondencia (2.198 comunas).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Verificar que la llave sea única en la tabla de parámetros: si está repetida, el merge multiplica filas.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Checklist de calidad antes de analizar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188720"/>
          <a:ext cx="8138160" cy="3063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40"/>
                <a:gridCol w="5303520"/>
              </a:tblGrid>
              <a:tr h="41148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Fira Sans"/>
                        </a:rPr>
                        <a:t>Revisión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Fira Sans"/>
                        </a:rPr>
                        <a:t>Con qué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Dimensiones y tipos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shape, info()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Faltantes por columna relevante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isna().sum(), count contra len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Duplicados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duplicated(): fila completa y llave única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Rangos válidos de cada variable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min, max, describe(), valores sospechosos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Merges verificados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filas antes y después, NaN nuevos, llaves únicas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434840"/>
            <a:ext cx="8138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decisión de limpieza queda escrita en el código, con su justificación.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Síntesis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Describir una variable exige tres miradas: centro (media, mediana), dispersión (desviación, IQR) y forma (histograma, boxplot).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Con asimetría, la mediana acompaña o reemplaza a la media.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limpieza es parte del análisis: faltantes, duplicados, rangos válidos y merges verificados, con decisiones documentadas.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pregunta del proyecto debe ser específica y la hipótesis, verificable con variables medibles.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Próxima clase (martes 01-sep): EDA II, relaciones entre variables y correlación.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Referencias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234440"/>
            <a:ext cx="7744968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Fisher, R. A. (1936). The Use of Multiple Measurements in Taxonomic Problems. Annals of Eugenics, 7(2), 179-188.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Tukey, J. W. (1977). Exploratory Data Analysis. Addison-Wesley.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Leek, J. T. y Peng, R. D. (2015). What is the question? Science, 347(6228), 1314-1315.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Peng, R. D. y Matsui, E. (2015). The Art of Data Science. Versión en línea: bookdown.org/rdpeng/artofdatascience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Wild, C. J. y Pfannkuch, M. (1999). Statistical Thinking in Empirical Enquiry. International Statistical Review, 67(3), 223-248.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Anaconda (2020). 2020 State of Data Science. Reporte de encuesta (n=2.360). anaconda.com/resources/whitepaper/state-of-data-science-2020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
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</p:sldIdLst>
  <p:sldSz cx="9144000" cy="5138928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3B4B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04088" y="1252728"/>
            <a:ext cx="7744968" cy="12984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200" b="1">
                <a:solidFill>
                  <a:srgbClr val="FFFFFF"/>
                </a:solidFill>
                <a:latin typeface="Fira Sans"/>
              </a:rPr>
              <a:t>Introducción y fundamentos estadísticos</a:t>
            </a:r>
          </a:p>
        </p:txBody>
      </p:sp>
      <p:sp>
        <p:nvSpPr>
          <p:cNvPr id="4" name="Rectangle 3"/>
          <p:cNvSpPr/>
          <p:nvPr/>
        </p:nvSpPr>
        <p:spPr>
          <a:xfrm>
            <a:off x="1975104" y="2651760"/>
            <a:ext cx="5202936" cy="521207"/>
          </a:xfrm>
          <a:prstGeom prst="rect">
            <a:avLst/>
          </a:prstGeom>
          <a:solidFill>
            <a:srgbClr val="E0A4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900" b="1">
                <a:solidFill>
                  <a:srgbClr val="1D3557"/>
                </a:solidFill>
                <a:latin typeface="Fira Sans"/>
              </a:rPr>
              <a:t>Clase 4 · Cierre del EDA y regresión múltiple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04088" y="3547872"/>
            <a:ext cx="7744968" cy="8961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0">
                <a:solidFill>
                  <a:srgbClr val="FFFFFF"/>
                </a:solidFill>
                <a:latin typeface="Fira Sans"/>
              </a:rPr>
              <a:t>Daniela Opitz</a:t>
            </a:r>
          </a:p>
          <a:p>
            <a:r>
              <a:rPr sz="1300" b="0">
                <a:solidFill>
                  <a:srgbClr val="B8C4D4"/>
                </a:solidFill>
                <a:latin typeface="Fira Sans"/>
              </a:rPr>
              <a:t>Diplomado en Ciencia de Datos Aplicada · Departamento de Informática · UTFSM · jueves 3 de septiembre, 2026</a:t>
            </a:r>
          </a:p>
        </p:txBody>
      </p:sp>
      <p:sp>
        <p:nvSpPr>
          <p:cNvPr id="6" name="Rectangle 5"/>
          <p:cNvSpPr/>
          <p:nvPr/>
        </p:nvSpPr>
        <p:spPr>
          <a:xfrm>
            <a:off x="5806440" y="4480560"/>
            <a:ext cx="3017520" cy="53035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di_logo_recortad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0" y="4562856"/>
            <a:ext cx="2743200" cy="393192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Contenidos de la clase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1. Presentaciones de las ideas de proyecto Capstone.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2. El impacto de sacar filas y atípicos.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3. La regresión ponderada (WLS).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4. Visualización: muchos puntos y colas largas.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5. Regresión múltiple: varias variables a la vez.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Avisos del proyecto Capstone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1">
                <a:solidFill>
                  <a:srgbClr val="1D3557"/>
                </a:solidFill>
                <a:latin typeface="Fira Sans"/>
              </a:rPr>
              <a:t>Hoy: presentación de la idea de cada equipo, de 5 a 7 minutos, sin nota.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La formulación se entrega el lunes 7; el primer análisis exploratorio, el lunes 15.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El enunciado y la rúbrica del primer análisis exploratorio ya están publicados en el repositorio.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1D35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3504" y="1847088"/>
            <a:ext cx="7946136" cy="1399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FFFFFF"/>
                </a:solidFill>
                <a:latin typeface="Fira Sans"/>
              </a:rPr>
              <a:t>Presentaciones de ideas</a:t>
            </a:r>
          </a:p>
          <a:p>
            <a:r>
              <a:rPr sz="1800" b="0">
                <a:solidFill>
                  <a:srgbClr val="E0A437"/>
                </a:solidFill>
                <a:latin typeface="Fira Sans"/>
              </a:rPr>
              <a:t>De 5 a 7 minutos por equipo, y preguntas de todos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El formato de hoy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1">
                <a:solidFill>
                  <a:srgbClr val="1D3557"/>
                </a:solidFill>
                <a:latin typeface="Fira Sans"/>
              </a:rPr>
              <a:t>Esta instancia no lleva nota: es para recibir retroalimentación temprano, cuando corregir cuesta poco.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Esquema sugerido: qué motiva el problema, el problema en sí, los datos y sus fuentes, y las primeras ideas.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Después de cada equipo, preguntas y comentarios del curso.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La pauta completa está en el repositorio, en evaluaciones.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1D35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3504" y="1847088"/>
            <a:ext cx="7946136" cy="1399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FFFFFF"/>
                </a:solidFill>
                <a:latin typeface="Fira Sans"/>
              </a:rPr>
              <a:t>Recreo</a:t>
            </a:r>
          </a:p>
          <a:p>
            <a:r>
              <a:rPr sz="1800" b="0">
                <a:solidFill>
                  <a:srgbClr val="E0A437"/>
                </a:solidFill>
                <a:latin typeface="Fira Sans"/>
              </a:rPr>
              <a:t>10 minutos · al volver: el cierre del EDA y la regresión múltiple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1D35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3504" y="1847088"/>
            <a:ext cx="7946136" cy="1399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FFFFFF"/>
                </a:solidFill>
                <a:latin typeface="Fira Sans"/>
              </a:rPr>
              <a:t>Lo pendiente de la clase 3</a:t>
            </a:r>
          </a:p>
          <a:p>
            <a:r>
              <a:rPr sz="1800" b="0">
                <a:solidFill>
                  <a:srgbClr val="E0A437"/>
                </a:solidFill>
                <a:latin typeface="Fira Sans"/>
              </a:rPr>
              <a:t>Del impacto de una fila a la regresión ponderada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El impacto de sacar una fila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1">
                <a:solidFill>
                  <a:srgbClr val="1D3557"/>
                </a:solidFill>
                <a:latin typeface="Fira Sans"/>
              </a:rPr>
              <a:t>Medirlo: recalcular cada resumen sin la fila, y comparar.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Sin Lo Barnechea, r casi no se mueve (sigue en −0,34), pero la pendiente cambia en un quinto: de −4,8 a −5,8 minutos por millón.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Un mismo punto puede pesar poco en un resumen y mucho en otro. El código está en el notebook.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Las fórmulas, con factor de expansión</a:t>
            </a:r>
          </a:p>
        </p:txBody>
      </p:sp>
      <p:pic>
        <p:nvPicPr>
          <p:cNvPr id="4" name="Picture 3" descr="c3_22_formulas_ponderad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342115"/>
            <a:ext cx="7744968" cy="275645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La misma recta de mínimos cuadrados, con cada término pesado por su factor: es la que usa el modelo que sigue, y en statsmodels se llama WLS (weighted least squares).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Otro modelo: la motorización del hogar</a:t>
            </a:r>
          </a:p>
        </p:txBody>
      </p:sp>
      <p:sp>
        <p:nvSpPr>
          <p:cNvPr id="4" name="Rectangle 3"/>
          <p:cNvSpPr/>
          <p:nvPr/>
        </p:nvSpPr>
        <p:spPr>
          <a:xfrm>
            <a:off x="704088" y="1280160"/>
            <a:ext cx="7744968" cy="2880360"/>
          </a:xfrm>
          <a:prstGeom prst="rect">
            <a:avLst/>
          </a:prstGeom>
          <a:solidFill>
            <a:srgbClr val="F0F2F5"/>
          </a:solidFill>
          <a:ln>
            <a:solidFill>
              <a:srgbClr val="D8DD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37160"/>
          <a:lstStyle/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x = h["IngresoHogar"] / 1e6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y, w = h["NumVeh"], h["Factor"]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/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# La fórmula de la pendiente ponderada, tal cual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b = (w*(x - xw)*(y - yw)).sum() / (w*(x - xw)**2).sum()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04088" y="4389120"/>
            <a:ext cx="7744968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6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600" b="0">
                <a:solidFill>
                  <a:srgbClr val="000000"/>
                </a:solidFill>
                <a:latin typeface="Fira Sans"/>
              </a:rPr>
              <a:t>18.264 hogares reales, ponderados por su factor: vehículos = 0,20 + 0,50 · ingreso. Medio vehículo más por cada millón.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Los atípicos de la variable a predecir</a:t>
            </a:r>
          </a:p>
        </p:txBody>
      </p:sp>
      <p:pic>
        <p:nvPicPr>
          <p:cNvPr id="4" name="Picture 3" descr="c3_27_boxplot_numveh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492260"/>
            <a:ext cx="7744968" cy="245615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El boxplot de NumVeh (clase 2): la cerca de Tukey queda en 2,5, y los hogares de 3 autos o más son atípicos. La siguiente diapo mide qué pasa al sacarlos.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Sacar atípicos de la variable a predecir</a:t>
            </a:r>
          </a:p>
        </p:txBody>
      </p:sp>
      <p:sp>
        <p:nvSpPr>
          <p:cNvPr id="4" name="Rectangle 3"/>
          <p:cNvSpPr/>
          <p:nvPr/>
        </p:nvSpPr>
        <p:spPr>
          <a:xfrm>
            <a:off x="704088" y="1280160"/>
            <a:ext cx="7744968" cy="2880360"/>
          </a:xfrm>
          <a:prstGeom prst="rect">
            <a:avLst/>
          </a:prstGeom>
          <a:solidFill>
            <a:srgbClr val="F0F2F5"/>
          </a:solidFill>
          <a:ln>
            <a:solidFill>
              <a:srgbClr val="D8DD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37160"/>
          <a:lstStyle/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q1, q3 = h["NumVeh"].quantile([0.25, 0.75])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sin_atipicos = h[h["NumVeh"] &lt;= q3 + 1.5 * (q3 - q1)]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/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# El mismo modelo, sin los hogares de 3 autos o más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np.polyfit(sin_atipicos["IngresoHogar"] / 1e6, sin_atipicos["NumVeh"], 1)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04088" y="4389120"/>
            <a:ext cx="7744968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6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600" b="0">
                <a:solidFill>
                  <a:srgbClr val="000000"/>
                </a:solidFill>
                <a:latin typeface="Fira Sans"/>
              </a:rPr>
              <a:t>Sacar 236 hogares aplana la pendiente ponderada (0,50 a 0,44): no eran errores, eran la señal. Los atípicos de y se investigan; se eliminan solo por dominio.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1D35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3504" y="1847088"/>
            <a:ext cx="7946136" cy="1399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FFFFFF"/>
                </a:solidFill>
                <a:latin typeface="Fira Sans"/>
              </a:rPr>
              <a:t>Visualización</a:t>
            </a:r>
          </a:p>
          <a:p>
            <a:r>
              <a:rPr sz="1800" b="0">
                <a:solidFill>
                  <a:srgbClr val="E0A437"/>
                </a:solidFill>
                <a:latin typeface="Fira Sans"/>
              </a:rPr>
              <a:t>Muchos puntos y colas largas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Graficar 90 mil puntos: overplotting</a:t>
            </a:r>
          </a:p>
        </p:txBody>
      </p:sp>
      <p:pic>
        <p:nvPicPr>
          <p:cNvPr id="4" name="Picture 3" descr="c3_08_overplottin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545618"/>
            <a:ext cx="7744968" cy="234944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Con todos los puntos sólidos, el scatter se satura y miente. Los remedios: transparencia (alpha), muestreo, o hexbin, donde el color cuenta los viajes (la distancia viene en la tabla DistanciaViaje.csv; sus −1 son faltantes disfrazados).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Cuándo usar escala logarítmica</a:t>
            </a:r>
          </a:p>
        </p:txBody>
      </p:sp>
      <p:pic>
        <p:nvPicPr>
          <p:cNvPr id="4" name="Picture 3" descr="c3_10_escala_lo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227136"/>
            <a:ext cx="7744968" cy="2986407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La misma distancia tiene cola larga: en lineal se aplasta; en log, la forma aparece. Y transformar con log es feature engineering clásico: vuelve lineales las relaciones multiplicativas.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 misma regresión, tres veces</a:t>
            </a:r>
          </a:p>
        </p:txBody>
      </p:sp>
      <p:pic>
        <p:nvPicPr>
          <p:cNvPr id="4" name="Picture 3" descr="c4_02_tres_modelo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660639"/>
            <a:ext cx="7744968" cy="21194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La transformación aplicada a duración ~ distancia: el log en ambos lados endereza la nube y el R² sube de 0,32 a 0,53. Y el modelo todavía pide más variables.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El mismo gráfico, dos veces</a:t>
            </a:r>
          </a:p>
        </p:txBody>
      </p:sp>
      <p:pic>
        <p:nvPicPr>
          <p:cNvPr id="4" name="Picture 3" descr="c3_16_mal_buen_grafic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217944"/>
            <a:ext cx="7744968" cy="300479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Los mismos 30 mil viajes: sin rotular y saturado, contra rotulado, con transparencia y con el hallazgo en el título.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Checklist del buen gráfico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Título que diga el hallazgo, no solo las variables.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Ejes con nombre y unidad; ejes que parten de cero en gráficos de barras.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Muchos puntos: alpha, muestreo o hexbin.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Colas largas: escala logarítmica o eje recortado, declarándolo.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1">
                <a:solidFill>
                  <a:srgbClr val="1D3557"/>
                </a:solidFill>
                <a:latin typeface="Fira Sans"/>
              </a:rPr>
              <a:t>El gráfico se corrige igual que el código: se itera hasta que un tercero lo entienda sin explicación oral.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1D35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3504" y="1847088"/>
            <a:ext cx="7946136" cy="1399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FFFFFF"/>
                </a:solidFill>
                <a:latin typeface="Fira Sans"/>
              </a:rPr>
              <a:t>Regresión múltiple</a:t>
            </a:r>
          </a:p>
          <a:p>
            <a:r>
              <a:rPr sz="1800" b="0">
                <a:solidFill>
                  <a:srgbClr val="E0A437"/>
                </a:solidFill>
                <a:latin typeface="Fira Sans"/>
              </a:rPr>
              <a:t>El primer modelo con varias variables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 fórmula de la regresión múltiple</a:t>
            </a:r>
          </a:p>
        </p:txBody>
      </p:sp>
      <p:pic>
        <p:nvPicPr>
          <p:cNvPr id="4" name="Picture 3" descr="c4_01_formula_multip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500263"/>
            <a:ext cx="7744968" cy="244015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Cada coeficiente aísla el efecto de su variable: cuánto cambia la predicción por una unidad de esa x, manteniendo las demás constantes.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 motorización, con dos variables</a:t>
            </a:r>
          </a:p>
        </p:txBody>
      </p:sp>
      <p:sp>
        <p:nvSpPr>
          <p:cNvPr id="4" name="Rectangle 3"/>
          <p:cNvSpPr/>
          <p:nvPr/>
        </p:nvSpPr>
        <p:spPr>
          <a:xfrm>
            <a:off x="704088" y="1280160"/>
            <a:ext cx="7744968" cy="2880360"/>
          </a:xfrm>
          <a:prstGeom prst="rect">
            <a:avLst/>
          </a:prstGeom>
          <a:solidFill>
            <a:srgbClr val="F0F2F5"/>
          </a:solidFill>
          <a:ln>
            <a:solidFill>
              <a:srgbClr val="D8DD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37160"/>
          <a:lstStyle/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X = sm.add_constant(pd.DataFrame({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    "ingreso": h["IngresoHogar"] / 1e6,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    "personas": h["NumPer"]}))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/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modelo = sm.WLS(h["NumVeh"], X, weights=h["Factor"]).fit()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04088" y="4389120"/>
            <a:ext cx="7744968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6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600" b="0">
                <a:solidFill>
                  <a:srgbClr val="000000"/>
                </a:solidFill>
                <a:latin typeface="Fira Sans"/>
              </a:rPr>
              <a:t>Ponderado: 0,48 vehículos por millón (era 0,50 a solas) y 0,03 por persona extra. El R² sube apenas, de 0,261 a 0,266: agregar variables no siempre aporta.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Leer el modelo: R²</a:t>
            </a:r>
          </a:p>
        </p:txBody>
      </p:sp>
      <p:pic>
        <p:nvPicPr>
          <p:cNvPr id="4" name="Picture 3" descr="c4_04_formula_r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297266"/>
            <a:ext cx="7744968" cy="2846146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Nuestro 0,266: ingreso y personas explican un cuarto de la variabilidad de los vehículos entre hogares. Agregar variables nunca baja el R²; por eso no basta con mirarlo.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El valor p, por ahora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1">
                <a:solidFill>
                  <a:srgbClr val="1D3557"/>
                </a:solidFill>
                <a:latin typeface="Fira Sans"/>
              </a:rPr>
              <a:t>La pregunta que responde: si el efecto real fuera cero, ¿qué tan raro sería este coeficiente solo por azar?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En el summary es la columna P&gt;|t|: ingreso y personas dan p prácticamente 0, ninguna parece azar.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Significativo no es sinónimo de importante: con 18 mil hogares, un aporte de 0,003 vehículos por bicicleta también da p diminuto.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La definición formal, con hipótesis y umbrales, es la clase 5.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El mapa para elegir variables</a:t>
            </a:r>
          </a:p>
        </p:txBody>
      </p:sp>
      <p:pic>
        <p:nvPicPr>
          <p:cNvPr id="4" name="Picture 3" descr="c4_05_mapa_candidata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30736" y="1143000"/>
            <a:ext cx="4082527" cy="31546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La fila de NumVeh es el mapa: ingreso 0,47 es el motor; las bicicletas casi no correlacionan con los vehículos (0,06) y son redundantes entre sí (0,83). Probarlas confirma: R² 0,266 a 0,267.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Una categórica entra como dummies</a:t>
            </a:r>
          </a:p>
        </p:txBody>
      </p:sp>
      <p:sp>
        <p:nvSpPr>
          <p:cNvPr id="4" name="Rectangle 3"/>
          <p:cNvSpPr/>
          <p:nvPr/>
        </p:nvSpPr>
        <p:spPr>
          <a:xfrm>
            <a:off x="704088" y="1280160"/>
            <a:ext cx="7744968" cy="2880360"/>
          </a:xfrm>
          <a:prstGeom prst="rect">
            <a:avLst/>
          </a:prstGeom>
          <a:solidFill>
            <a:srgbClr val="F0F2F5"/>
          </a:solidFill>
          <a:ln>
            <a:solidFill>
              <a:srgbClr val="D8DD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37160"/>
          <a:lstStyle/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# Una columna 0/1 por modo; el auto queda de referencia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dummies = pd.get_dummies(viajes["ModoAgrupado"])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dummies = dummies.drop(columns=["Auto"])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/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# Se agregan a la X junto al log de la distancia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04088" y="4389120"/>
            <a:ext cx="7744968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6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600" b="0">
                <a:solidFill>
                  <a:srgbClr val="000000"/>
                </a:solidFill>
                <a:latin typeface="Fira Sans"/>
              </a:rPr>
              <a:t>Cada coeficiente se lee comparado con la referencia: qué le pasa al tiempo de un viaje por ser en ese modo y no en auto, a igual distancia.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El resultado: distancia y modo</a:t>
            </a:r>
          </a:p>
        </p:txBody>
      </p:sp>
      <p:pic>
        <p:nvPicPr>
          <p:cNvPr id="4" name="Picture 3" descr="c4_03_coef_mod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4842" y="1143000"/>
            <a:ext cx="7534315" cy="31546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A igual distancia, un viaje en Bip! tarda 1,87 veces lo que uno en auto; taxi y caminata quedan casi iguales al auto. El R² sube de 0,53 a 0,60.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Síntesis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El impacto de filas y atípicos se mide con y sin, sobre todos los resúmenes en uso.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Cuando la conclusión es sobre la ciudad, se pondera: WLS.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Muchos puntos: alpha o hexbin. Colas largas: log, que además es feature engineering.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La regresión múltiple aísla el efecto de cada variable con las demás constantes; las categóricas entran como dummies.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R² dice cuánto explica el modelo; el valor p, si un coeficiente se distingue del azar. Significativo no es importante.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1">
                <a:solidFill>
                  <a:srgbClr val="1D3557"/>
                </a:solidFill>
                <a:latin typeface="Fira Sans"/>
              </a:rPr>
              <a:t>El primer EDA del proyecto usa exactamente estas herramientas (entrega: lunes 15).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Próxima clase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Martes 8: fundamentos de probabilidad y nociones de inferencia estadística.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La pregunta pendiente desde la clase 3: ¿qué significa el valor p que statsmodels ya nos mostró?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1">
                <a:solidFill>
                  <a:srgbClr val="1D3557"/>
                </a:solidFill>
                <a:latin typeface="Fira Sans"/>
              </a:rPr>
              <a:t>La formulación se entrega el lunes 7; el primer análisis exploratorio, el lunes 15.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Referencias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234440"/>
            <a:ext cx="7744968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700"/>
              </a:spcAft>
            </a:pPr>
            <a:r>
              <a:rPr sz="1300" b="0">
                <a:solidFill>
                  <a:srgbClr val="333333"/>
                </a:solidFill>
                <a:latin typeface="Fira Sans"/>
              </a:rPr>
              <a:t>Tukey, J. W. (1977). Exploratory Data Analysis. Addison-Wesley.</a:t>
            </a:r>
          </a:p>
          <a:p>
            <a:pPr>
              <a:lnSpc>
                <a:spcPct val="115000"/>
              </a:lnSpc>
              <a:spcAft>
                <a:spcPts val="700"/>
              </a:spcAft>
            </a:pPr>
            <a:r>
              <a:rPr sz="1300" b="0">
                <a:solidFill>
                  <a:srgbClr val="333333"/>
                </a:solidFill>
                <a:latin typeface="Fira Sans"/>
              </a:rPr>
              <a:t>Seabold, S. y Perktold, J. (2010). statsmodels: Econometric and statistical modeling with Python. Proceedings of the 9th Python in Science Conference.</a:t>
            </a:r>
          </a:p>
          <a:p>
            <a:pPr>
              <a:lnSpc>
                <a:spcPct val="115000"/>
              </a:lnSpc>
              <a:spcAft>
                <a:spcPts val="700"/>
              </a:spcAft>
            </a:pPr>
            <a:r>
              <a:rPr sz="1300" b="0">
                <a:solidFill>
                  <a:srgbClr val="333333"/>
                </a:solidFill>
                <a:latin typeface="Fira Sans"/>
              </a:rPr>
              <a:t>VanderPlas, J. (2016). Python Data Science Handbook. O'Reilly. Capítulo 5 (regresión lineal).</a:t>
            </a:r>
          </a:p>
          <a:p>
            <a:pPr>
              <a:lnSpc>
                <a:spcPct val="115000"/>
              </a:lnSpc>
              <a:spcAft>
                <a:spcPts val="700"/>
              </a:spcAft>
            </a:pPr>
            <a:r>
              <a:rPr sz="1300" b="0">
                <a:solidFill>
                  <a:srgbClr val="333333"/>
                </a:solidFill>
                <a:latin typeface="Fira Sans"/>
              </a:rPr>
              <a:t>Datos: Encuesta Origen Destino Santiago 2012 (Sectra).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
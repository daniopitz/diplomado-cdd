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Introducción y fundamentos estadísticos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4 · Cierre del EDA y regresión múltiple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Diplomado en Ciencia de Datos Aplicada · Departamento de Informática · UTFSM · jueves 3 de septiembre,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4480560"/>
            <a:ext cx="30175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_logo_recor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62856"/>
            <a:ext cx="274320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Avisos del proyecto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Hoy, en el segundo bloque: presentación de la idea de cada equipo, de 5 a 7 minutos, sin nota.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formulación se entrega el lunes 7; el primer análisis exploratorio, el martes 15.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enunciado y la rúbrica del primer análisis exploratorio ya están publicados en el repositorio.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Visualización: muchos puntos y colas largas.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El impacto de sacar filas y atípicos.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La regresión ponderada (WLS).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Regresión múltiple: varias variables a la vez.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Presentaciones de las ideas de proyecto Capstone (segundo bloque).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Visualización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Muchos puntos y colas largas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Graficar 90 mil puntos: overplotting</a:t>
            </a:r>
          </a:p>
        </p:txBody>
      </p:sp>
      <p:pic>
        <p:nvPicPr>
          <p:cNvPr id="4" name="Picture 3" descr="c3_08_overplo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90170"/>
            <a:ext cx="7744968" cy="2349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76773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todos los puntos sólidos, el scatter se satura y miente. Los remedios: transparencia (alpha), muestreo, o hexbin, donde el color cuenta los viajes (la distancia viene en la tabla DistanciaViaje.csv; sus −1 son faltantes disfrazados).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Cuándo usar escala logarítmica</a:t>
            </a:r>
          </a:p>
        </p:txBody>
      </p:sp>
      <p:pic>
        <p:nvPicPr>
          <p:cNvPr id="4" name="Picture 3" descr="c3_10_escala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99704"/>
            <a:ext cx="7744968" cy="29864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23271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misma distancia tiene cola larga: en lineal se aplasta; en log, la forma aparece. Y transformar con log es feature engineering clásico: vuelve lineales las relaciones multiplicativas.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mismo gráfico, dos veces</a:t>
            </a:r>
          </a:p>
        </p:txBody>
      </p:sp>
      <p:pic>
        <p:nvPicPr>
          <p:cNvPr id="4" name="Picture 3" descr="c3_16_mal_buen_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90512"/>
            <a:ext cx="7744968" cy="30047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32463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mismos 30 mil viajes: sin rotular y saturado, contra rotulado, con transparencia y con el hallazgo en el título.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Checklist del buen gráfico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Título adecuado: dice qué muestra el gráfico.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Ejes con nombre y unidad; ejes que parten de cero en gráficos de barras.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Muchos puntos: alpha, muestreo o hexbin.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Colas largas: escala logarítmica o eje recortado, declarándolo.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Lo pendiente de la clase 3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Del impacto de una fila a la regresión ponderada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¿Las comunas de mayor ingreso viajan menos tiempo?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El modelo inicial (clase 3): explicar la duración media del viaje por comuna con el ingreso medio del hogar, 45 comunas ponderadas. Recta: 38,3 − 4,8 · ingreso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impacto de sacar una fila</a:t>
            </a:r>
          </a:p>
        </p:txBody>
      </p:sp>
      <p:pic>
        <p:nvPicPr>
          <p:cNvPr id="4" name="Picture 3" descr="c4_06_impacto_f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38" y="1143000"/>
            <a:ext cx="6324523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Medirlo es recalcular con y sin: r casi no se mueve (−0,34), pero la pendiente cambia en un quinto, de −4,8 a −5,8 minutos por millón. Cada resumen tiene su propia sensibilidad.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fórmulas, con factor de expansión</a:t>
            </a:r>
          </a:p>
        </p:txBody>
      </p:sp>
      <p:pic>
        <p:nvPicPr>
          <p:cNvPr id="4" name="Picture 3" descr="c3_22_formulas_ponder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14683"/>
            <a:ext cx="7744968" cy="2756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208292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misma recta de mínimos cuadrados, con cada término pesado por su factor: es la que usa el modelo que sigue, y en statsmodels se llama WLS (weighted least squares).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¿Cuántos vehículos tiene un hogar según su ingreso?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Explicar los vehículos del hogar con el ingreso: 18.264 hogares, ponderados por su factor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Otro modelo: la motorización del hogar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x = h["IngresoHogar"] / 1e6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y, w = h["NumVeh"], h["Factor"]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La fórmula de la pendiente ponderada, tal cual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b = (w*(x - xw)*(y - yw)).sum() / (w*(x - xw)**2).sum()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18.264 hogares reales, ponderados por su factor: vehículos = 0,20 + 0,50 · ingreso. Medio vehículo más por cada millón.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atípicos de la variable a predecir</a:t>
            </a:r>
          </a:p>
        </p:txBody>
      </p:sp>
      <p:pic>
        <p:nvPicPr>
          <p:cNvPr id="4" name="Picture 3" descr="c3_27_boxplot_numve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64828"/>
            <a:ext cx="7744968" cy="24561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58147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boxplot de NumVeh (clase 2): la cerca de Tukey queda en 2,5, y los hogares de 3 autos o más son atípicos. La siguiente diapo mide qué pasa al sacarlos.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Sacar atípicos de la variable a predecir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q1, q3 = h["NumVeh"].quantile([0.25, 0.75])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sin_atipicos = h[h["NumVeh"] &lt;= q3 + 1.5 * (q3 - q1)]  # = 2.5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El mismo modelo, sin los hogares de 3 autos o más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np.polyfit(sin_atipicos["IngresoHogar"] / 1e6, sin_atipicos["NumVeh"],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Sin esos 236 hogares la pendiente baja de 0,50 a 0,44: eran la señal, no errores. Los atípicos se investigan y solo se eliminan por una razón del dominio.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impacto, dibujado: las dos rectas</a:t>
            </a:r>
          </a:p>
        </p:txBody>
      </p:sp>
      <p:pic>
        <p:nvPicPr>
          <p:cNvPr id="4" name="Picture 3" descr="c4_14_impacto_atip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280" y="1143000"/>
            <a:ext cx="5799439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Al perder los puntos dorados de arriba, la recta punteada gira hacia abajo: de 0,50 a 0,44 vehículos por millón. El modelo queda ciego justo a los hogares más motorizados, el fenómeno que quería capturar.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Regresión múltiple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El primer modelo con varias variables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fórmula de la regresión múltiple</a:t>
            </a:r>
          </a:p>
        </p:txBody>
      </p:sp>
      <p:pic>
        <p:nvPicPr>
          <p:cNvPr id="4" name="Picture 3" descr="c4_01_formula_mult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72831"/>
            <a:ext cx="7744968" cy="24401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50144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coeficiente aísla el efecto de su variable: cuánto cambia la predicción por una unidad de esa x, manteniendo las demás constantes.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¿Y si agregamos más variables al modelo de vehículos?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Explicar los vehículos con el ingreso y algo más: ¿qué candidatas trae la tabla de hogares, y cómo se elige? La primera regresión múltiple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para elegir variables</a:t>
            </a:r>
          </a:p>
        </p:txBody>
      </p:sp>
      <p:pic>
        <p:nvPicPr>
          <p:cNvPr id="4" name="Picture 3" descr="c4_05_mapa_candida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904" y="1143000"/>
            <a:ext cx="3680191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fila de NumVeh es el mapa: ingreso 0,47 es el motor; las personas (0,13) son la única candidata con algo; las bicicletas casi nada (0,06) y redundantes entre sí (0,83). Decisión: agregar las personas.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motorización, con dos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Explicar los vehículos del hogar con el ingreso y las personas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X = sm.add_constant(pd.DataFrame({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"ingreso": h["IngresoHogar"] / 1e6,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"personas": h["NumPer"]}))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modelo = sm.WLS(h["NumVeh"], X, weights=h["Factor"]).fit()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Ponderado: 0,48 vehículos por millón (era 0,50 a solas) y 0,03 por persona extra. El R² sube apenas, de 0,261 a 0,266: agregar variables no siempre aporta.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summary: los coeficientes y el valor p</a:t>
            </a:r>
          </a:p>
        </p:txBody>
      </p:sp>
      <p:pic>
        <p:nvPicPr>
          <p:cNvPr id="4" name="Picture 3" descr="c4_07_pvalu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49464"/>
            <a:ext cx="7744968" cy="2430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17479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coef es el modelo ajustado: de ahí sale la ecuación que sigue. P&gt;|t| responde, por variable: si en la ciudad el ingreso (o las personas) no tuviera efecto sobre los vehículos, ¿qué tan raro sería este coeficiente por azar de la muestra? Ambos dan 0,000.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ecuación ajustada y su lectura</a:t>
            </a:r>
          </a:p>
        </p:txBody>
      </p:sp>
      <p:pic>
        <p:nvPicPr>
          <p:cNvPr id="4" name="Picture 3" descr="c4_08_ecuacion_motor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65225"/>
            <a:ext cx="7744968" cy="2855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257750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fórmula de la múltiple con nuestros números: cada coeficiente se lee con las demás variables fijas.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Leer el modelo: R²</a:t>
            </a:r>
          </a:p>
        </p:txBody>
      </p:sp>
      <p:pic>
        <p:nvPicPr>
          <p:cNvPr id="4" name="Picture 3" descr="c4_04_formula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69834"/>
            <a:ext cx="7744968" cy="28461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253141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Nuestro 0,266: ingreso y personas explican un cuarto de la variabilidad de los vehículos entre hogares. Agregar variables nunca baja el R²; por eso no basta con mirarlo.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coeficientes al agregar variables</a:t>
            </a:r>
          </a:p>
        </p:txBody>
      </p:sp>
      <p:pic>
        <p:nvPicPr>
          <p:cNvPr id="4" name="Picture 3" descr="c4_10_cambio_coefic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85" y="1143000"/>
            <a:ext cx="6918429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ingreso apenas se mueve (0,50 a 0,48) al agregar personas y bicicletas: es un efecto robusto. Las variables nuevas entran con coeficientes minúsculos y el R² casi no cambia.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¿De qué depende la duración de un viaje?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Lo que ya sabemos (clase 3): correlaciona con la distancia, r = 0,57 y Spearman 0,76. Primera decisión: partir por la distancia, 102 mil viajes de la EOD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misma regresión, tres veces</a:t>
            </a:r>
          </a:p>
        </p:txBody>
      </p:sp>
      <p:pic>
        <p:nvPicPr>
          <p:cNvPr id="4" name="Picture 3" descr="c4_02_tres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633207"/>
            <a:ext cx="7744968" cy="2119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89768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Decisión 1: transformar con log, porque las dos variables tienen cola larga y en log la nube se endereza: R² de 0,32 a 0,53. Y queda claro que la distancia sola no basta.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¿Y si agregamos más variables?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Volvemos a la duración: la distancia explica el 53%. ¿Qué más podría explicarla, y cómo se decide?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mapa, también para la duración</a:t>
            </a:r>
          </a:p>
        </p:txBody>
      </p:sp>
      <p:pic>
        <p:nvPicPr>
          <p:cNvPr id="4" name="Picture 3" descr="c4_15_mapa_d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033" y="1143000"/>
            <a:ext cx="3681933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Igual que en vehículos, primero el mapa. La distancia (en log) es el motor: 0,73. El ingreso da 0,00 por viaje: el −0,34 de la clase 3 era entre comunas, y un promedio esconde a los individuos. Al modo, que es texto, el mapa no lo ve.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¿Qué más podría explicar la duración?</a:t>
            </a:r>
          </a:p>
        </p:txBody>
      </p:sp>
      <p:pic>
        <p:nvPicPr>
          <p:cNvPr id="4" name="Picture 3" descr="c4_13_por_m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81590"/>
            <a:ext cx="7744968" cy="2622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41385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categóricas se miran con groupby: el modo sí importa, Bip! 62 min contra 15 de caminata. Pero Bip! también va más lejos (7,5 km contra 0,4): hay que comparar a igual distancia.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Decisión 2: agregar el modo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modo es la candidata de mayor contraste y responde una pregunta de equidad: ¿cuánto más tarda un viaje según el modo, a igual distancia?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Comparar duraciones a secas mezcla el modo con la distancia; la regresión múltiple controla la distancia y aísla el modo.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Como el modo es texto, no puede entrar tal cual a la fórmula: primero hay que convertirlo en números.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período del día es la otra candidata fuerte (punta mañana 60 min, fuera de punta 32): queda para el ejercicio.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Una categórica, convertida en columnas 0/1</a:t>
            </a:r>
          </a:p>
        </p:txBody>
      </p:sp>
      <p:pic>
        <p:nvPicPr>
          <p:cNvPr id="4" name="Picture 3" descr="c4_11_dummies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32" y="1143000"/>
            <a:ext cx="7499335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modo es texto y la fórmula solo suma números: pd.get_dummies crea una columna por categoría. Cada viaje tiene un solo 1, en la de su modo; el auto se saca y queda de referencia.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dummies, en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Una columna 0/1 por modo; el auto queda de referencia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dummies = pd.get_dummies(viajes["ModoAgrupado"])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dummies = dummies.drop(columns=["Auto"])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Explicar la duración (log) con la distancia (log) y el modo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Las dummies se agregan a la X junto al log de la distancia. Cada coeficiente se lee comparado con la referencia: ese modo frente al auto, a igual distancia.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ecuación de la duración, leída</a:t>
            </a:r>
          </a:p>
        </p:txBody>
      </p:sp>
      <p:pic>
        <p:nvPicPr>
          <p:cNvPr id="4" name="Picture 3" descr="c4_09_ecuacion_d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355" y="1143000"/>
            <a:ext cx="6805288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modelo ajustado como ecuación: la distancia con su coeficiente y una dummy por modo con el suyo; el auto es la referencia y no lleva término. La tabla completa de coeficientes viene en la próxima diapo.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resultado: distancia y modo</a:t>
            </a:r>
          </a:p>
        </p:txBody>
      </p:sp>
      <p:pic>
        <p:nvPicPr>
          <p:cNvPr id="4" name="Picture 3" descr="c4_03_coef_m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58" y="1143000"/>
            <a:ext cx="7403283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A igual distancia, un viaje en Bip! tarda 1,87 veces lo que uno en auto; taxi y caminata quedan casi iguales al auto. El R² sube de 0,53 a 0,60.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se lee la dummy, con el logaritmo</a:t>
            </a:r>
          </a:p>
        </p:txBody>
      </p:sp>
      <p:pic>
        <p:nvPicPr>
          <p:cNvPr id="4" name="Picture 3" descr="c4_16_leer_dum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553016"/>
            <a:ext cx="7744968" cy="292900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regla para leer una dummy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coeficiente de una dummy solo se considera si el viaje es en ese modo de transporte; si no, la dummy vale 0 y el término desaparece.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Como el modelo está en log, el coeficiente se suma al log, y sumar en log es multiplicar: 10 elevado a 0,27 = 1,87. Por eso los dos tiempos se dividen y no se restan.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Lectura: un viaje en Bip! tarda 1,87 veces lo que uno en auto, a igual distancia.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Advertencia: el R² ajustado</a:t>
            </a:r>
          </a:p>
        </p:txBody>
      </p:sp>
      <p:pic>
        <p:nvPicPr>
          <p:cNvPr id="4" name="Picture 3" descr="c4_17_r2_aju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2" y="1143000"/>
            <a:ext cx="7146954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R² nunca baja al agregar variables; el ajustado descuenta cada una (en statsmodels, rsquared_adj). Con nuestros n es idéntico; con pocos datos, no. En sus proyectos, comparen modelos con el ajustado.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Muchos puntos: alpha o hexbin. Colas largas: log.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impacto de filas y atípicos se mide con y sin, sobre todos los resúmenes en uso.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Cuando la conclusión es sobre la ciudad, se pondera: WLS.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múltiple aísla el efecto de cada variable (categóricas como dummies); R² dice cuánto explica y el valor p si un coeficiente se distingue del azar.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primer EDA del proyecto usa exactamente estas herramientas (entrega: martes 15).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Recreo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10 minutos · al volver: las presentaciones de ideas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Presentaciones de ideas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De 5 a 7 minutos por equipo, y preguntas de todos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formato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Esta instancia no lleva nota: es para recibir retroalimentación temprano, cuando corregir cuesta poco.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Después de cada equipo, preguntas y comentarios del curso.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Próxima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Martes 8: fundamentos de probabilidad y nociones de inferencia estadística.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pregunta pendiente desde la clase 3: ¿qué significa el valor p que statsmodels ya nos mostró?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 formulación se entrega el lunes 7; el primer análisis exploratorio, el martes 15.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Tukey, J. W. (1977). Exploratory Data Analysis. Addison-Wesley.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Seabold, S. y Perktold, J. (2010). statsmodels: Econometric and statistical modeling with Python. Proceedings of the 9th Python in Science Conference.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VanderPlas, J. (2016). Python Data Science Handbook. O'Reilly. Capítulo 5 (regresión lineal).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Datos: Encuesta Origen Destino Santiago 2012 (Sectra).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
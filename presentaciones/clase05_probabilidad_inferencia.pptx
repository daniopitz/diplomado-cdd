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5 · Probabilidad e inferencia: ¿real o azar?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8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15; el enunciado y la rúbrica están publicados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entregada el lunes 7 se devuelve con comentarios durante la semana.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azar tiene forma: variables aleatorias y la normal.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Un número se mueve: distribución muestral y error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Primer uso del error estándar: el intervalo de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La pendiente también se mueve: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Segundo uso: la prueba de hipótesis, la t y el valor p. Qué supone.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se movería este número con otra muestra?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 desde la clase 3: la pendiente de −4,8 minutos por millón, con 45 comunas y p = 0,021. ¿Real o azar? Hoy se responde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Descriptiva e inferencia</a:t>
            </a:r>
          </a:p>
        </p:txBody>
      </p:sp>
      <p:pic>
        <p:nvPicPr>
          <p:cNvPr id="4" name="Picture 3" descr="c5_29_descriptiva_infer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35284"/>
            <a:ext cx="7744968" cy="2515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8769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descriptiva habla de la tabla que tenemos; la inferencia, de la población de la que salió, con su incertidumbre. Dos preguntas: cuánto vale, y si es real o azar.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1. El azar tiene forma</a:t>
            </a:r>
          </a:p>
        </p:txBody>
      </p:sp>
      <p:pic>
        <p:nvPicPr>
          <p:cNvPr id="4" name="Picture 3" descr="c5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Probabilidad, el lenguaje de la incertidumbre: variables aleatorias y distribuciones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variable aleatoria y su distribución</a:t>
            </a:r>
          </a:p>
        </p:txBody>
      </p:sp>
      <p:pic>
        <p:nvPicPr>
          <p:cNvPr id="4" name="Picture 3" descr="c5_01_distribu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45" y="1143000"/>
            <a:ext cx="662930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próximo viaje depende del azar: es una variable aleatoria. Su distribución dice qué valores toma y con qué frecuencia: en la población, el histograma. La esperanza es su media.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también es una variable aleatoria</a:t>
            </a:r>
          </a:p>
        </p:txBody>
      </p:sp>
      <p:pic>
        <p:nvPicPr>
          <p:cNvPr id="4" name="Picture 3" descr="c5_30_media_variable_alea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6373"/>
            <a:ext cx="7744968" cy="2493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7660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Depende de qué 100 viajes cayeron en la muestra: otra muestra, otra media. Y aunque la duración no tenga forma de campana, la media sí. Esa campana tiene nombre, y es la siguiente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normal</a:t>
            </a:r>
          </a:p>
        </p:txBody>
      </p:sp>
      <p:pic>
        <p:nvPicPr>
          <p:cNvPr id="4" name="Picture 3" descr="c5_03_normal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1327"/>
            <a:ext cx="7744968" cy="25671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56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campana tiene dos parámetros: μ, la media, y σ, la desviación estándar. El 95% de los valores cae a menos de 1,96 σ de la media. Es la distribución de la inferencia porque los promedios la siguen; ese 1,96 vuelve en los intervalos de confianza.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no es normal; en log, casi</a:t>
            </a:r>
          </a:p>
        </p:txBody>
      </p:sp>
      <p:pic>
        <p:nvPicPr>
          <p:cNvPr id="4" name="Picture 3" descr="c5_02_norm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739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723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cola larga (asimetría 5,3) se aleja de la normal; en log la variable se acomoda a la campana. Es la razón de fondo del log de la clase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2. Un número se mueve</a:t>
            </a:r>
          </a:p>
        </p:txBody>
      </p:sp>
      <p:pic>
        <p:nvPicPr>
          <p:cNvPr id="4" name="Picture 3" descr="c5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Muestra y población: una muestra es una de muchas posibles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muestras, dos medias</a:t>
            </a:r>
          </a:p>
        </p:txBody>
      </p:sp>
      <p:pic>
        <p:nvPicPr>
          <p:cNvPr id="4" name="Picture 3" descr="c5_05_dos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3849"/>
            <a:ext cx="7744968" cy="2558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912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Hoy tratamos los 113 mil viajes de la EOD como si fueran la población, para poder muestrear muchas veces. Cada muestra de 100 viajes da otra media; ninguna es la poblacional.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media</a:t>
            </a:r>
          </a:p>
        </p:txBody>
      </p:sp>
      <p:pic>
        <p:nvPicPr>
          <p:cNvPr id="4" name="Picture 3" descr="c5_06_distribucion_mue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43" y="1143000"/>
            <a:ext cx="639851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2.000 muestras, 2.000 medias: su histograma es la distribución muestral, centrada en la media real. Su desviación es el error estándar: cuánto se mueve la media de una muestra a otra. Se pudo hacer porque aquí tenemos la población.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Desviación estándar y error estándar</a:t>
            </a:r>
          </a:p>
        </p:txBody>
      </p:sp>
      <p:pic>
        <p:nvPicPr>
          <p:cNvPr id="4" name="Picture 3" descr="c5_33_desviacion_vs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815" y="1143000"/>
            <a:ext cx="74323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desviación estándar σ describe los datos: cuánto varía la duración de un viaje a otro. El error estándar EE(x̄) = σ/√n describe el estimador: cuánto varía la media de una muestra a otra. Es la desviación estándar de la distribución muestral; por eso es más chico, y baja con 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estándar, desde una sola muestra</a:t>
            </a:r>
          </a:p>
        </p:txBody>
      </p:sp>
      <p:pic>
        <p:nvPicPr>
          <p:cNvPr id="4" name="Picture 3" descr="c5_08_formula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181" y="1143000"/>
            <a:ext cx="603363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2.000 muestras fueron posibles porque aquí tenemos la población. En la vida real hay una sola muestra y ninguna población a la vista: la fórmula da casi el mismo número desde esa muestra, con s en lugar de σ.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teorema central del límite</a:t>
            </a:r>
          </a:p>
        </p:txBody>
      </p:sp>
      <p:pic>
        <p:nvPicPr>
          <p:cNvPr id="4" name="Picture 3" descr="c5_07_t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58765"/>
            <a:ext cx="7744968" cy="2212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0817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de una muestra se distribuye normal alrededor de la media real, con desviación σ/√n, aunque la variable no sea normal. Por eso la normal es la distribución de la inferencia: los promedios lo son, y la regla del 1,96 σ se les puede aplicar.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3. Primer uso del error estándar: el intervalo</a:t>
            </a:r>
          </a:p>
        </p:txBody>
      </p:sp>
      <p:pic>
        <p:nvPicPr>
          <p:cNvPr id="4" name="Picture 3" descr="c5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error estándar a un rango honesto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distribución muestral al intervalo</a:t>
            </a:r>
          </a:p>
        </p:txBody>
      </p:sp>
      <p:pic>
        <p:nvPicPr>
          <p:cNvPr id="4" name="Picture 3" descr="c5_18_puente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397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5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Paso 1: por el TCL las medias muestrales son normales, así que el 95% cae a menos de 1,96 EE de μ. Paso 2, la misma frase al revés: μ está a menos de 1,96 EE de la media de mi muestra en el 95% de las muestras. Ese rango es el intervalo.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del 95%</a:t>
            </a:r>
          </a:p>
        </p:txBody>
      </p:sp>
      <p:pic>
        <p:nvPicPr>
          <p:cNvPr id="4" name="Picture 3" descr="c5_09_formula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76204"/>
            <a:ext cx="7744968" cy="2433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677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lee sobre el procedimiento: si repitiéramos el muestreo, el 95% de los intervalos atraparía la media real. Este intervalo en particular la atrapa o no; nunca sabremos cuál de los dos.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población</a:t>
            </a:r>
          </a:p>
        </p:txBody>
      </p:sp>
      <p:pic>
        <p:nvPicPr>
          <p:cNvPr id="4" name="Picture 3" descr="c5_10_cober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261" y="1143000"/>
            <a:ext cx="690147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100 muestras de 100 viajes, 100 intervalos: los rojos no atrapan la media. Cerca del 95% lo hace; con cola larga y n = 100, un poco menos.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4. La pendiente también se mueve</a:t>
            </a:r>
          </a:p>
        </p:txBody>
      </p:sp>
      <p:pic>
        <p:nvPicPr>
          <p:cNvPr id="4" name="Picture 3" descr="c5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9527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974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pregunta pendiente: la pendiente de la recta duración = a + b · ingreso, b = −4,8 minutos por millón, con 45 comunas (el coef del ingreso en el summary). Otra muestra de comunas daría otra b. ¿Cuánto se mueve?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bootstrap</a:t>
            </a:r>
          </a:p>
        </p:txBody>
      </p:sp>
      <p:pic>
        <p:nvPicPr>
          <p:cNvPr id="4" name="Picture 3" descr="c5_39_que_e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una población de comunas de donde sacar otra muestra, así que la muestra hace de población: se sacan de ella muestras nuevas de 45, con reemplazo, y se mira cuánto cambia la pendiente entre ellas. Sin reemplazo no serviría: 45 de 45 son siempre las mismas 45.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remuestra: los mismos 45 puntos</a:t>
            </a:r>
          </a:p>
        </p:txBody>
      </p:sp>
      <p:pic>
        <p:nvPicPr>
          <p:cNvPr id="4" name="Picture 3" descr="c5_35_una_remues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884" y="1143000"/>
            <a:ext cx="673023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remuestra anterior, sobre el gráfico: las comunas que no salieron quedan vacías, las que salieron varias veces pesan más, y la recta de esta remuestra tiene otra pendiente que la observada.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Otra muestra, otra recta, otra pendiente</a:t>
            </a:r>
          </a:p>
        </p:txBody>
      </p:sp>
      <p:pic>
        <p:nvPicPr>
          <p:cNvPr id="4" name="Picture 3" descr="c5_24_recta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6139"/>
            <a:ext cx="7744968" cy="25775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9080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da una recta y cada recta una pendiente: 30 rectas, 30 pendientes. Las 30 son solo para ver la idea; para ver la forma completa hacen falta más, y la siguiente slide dice cuántas y por qué.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3 comunas, 10 remuestras posibles; con 45, 5 × 10²⁵</a:t>
            </a:r>
          </a:p>
        </p:txBody>
      </p:sp>
      <p:pic>
        <p:nvPicPr>
          <p:cNvPr id="4" name="Picture 3" descr="c5_37_tres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3443"/>
            <a:ext cx="7744968" cy="26828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3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es un conjunto distinto de puntos, con repeticiones, y cada conjunto da su recta. Con 45 comunas las combinaciones son 5 × 10²⁵: las 30 rectas y las 2.000 son combinaciones distintas elegidas al azar. Lo que se repite es el procedimiento, no el ajuste.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¿Por qué 2.000 remuestras, y no 30?</a:t>
            </a:r>
          </a:p>
        </p:txBody>
      </p:sp>
      <p:pic>
        <p:nvPicPr>
          <p:cNvPr id="4" name="Picture 3" descr="c5_36_por_que_2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6719"/>
            <a:ext cx="7744968" cy="25563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022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30 el histograma es tosco y el error estándar todavía se mueve; desde unas 2.000 deja de cambiar. Y no se repite ningún ajuste: de 5 × 10²⁵ remuestras posibles, las 2.000 sacadas son todas distintas.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Remuestrear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pendientes = []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for _ in range(2000):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idx = rng.integers(0, 45, 45)   # con reemplazo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pendientes.append(np.polyfit(x[idx], y[idx], 1)[0])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np.percentile(pendientes, [2.5, 97.5])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remuestra da una pendiente. La distribución de las 2.000 pendientes es la distribución muestral de la pendiente, estimada sin fórmulas ni supuestos.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pendiente</a:t>
            </a:r>
          </a:p>
        </p:txBody>
      </p:sp>
      <p:pic>
        <p:nvPicPr>
          <p:cNvPr id="4" name="Picture 3" descr="c5_13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94" y="1143000"/>
            <a:ext cx="661081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bootstrap, el histograma: una campana alrededor de la pendiente observada, cuya desviación es el error estándar de la pendiente. Sin bootstrap, la campana punteada: la fórmula de statsmodels, que viene en la siguiente slide. Casi ninguna remuestra llega al 0.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bootstrap: los percentiles 2,5 y 97,5</a:t>
            </a:r>
          </a:p>
        </p:txBody>
      </p:sp>
      <p:pic>
        <p:nvPicPr>
          <p:cNvPr id="4" name="Picture 3" descr="c5_40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207" y="1143000"/>
            <a:ext cx="646558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Ordenar las 2.000 pendientes: la número 50 desde abajo es el percentil 2,5 y la número 50 desde arriba, el 97,5. Entre ambas queda el 95% central de las remuestras, y ese es el intervalo. No supone forma de campana: lo lee directo del histograma.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statsmodels lo calcula con una fórmula: std err</a:t>
            </a:r>
          </a:p>
        </p:txBody>
      </p:sp>
      <p:pic>
        <p:nvPicPr>
          <p:cNvPr id="4" name="Picture 3" descr="c5_11b_summary_coef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0443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86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Sin remuestrear, a partir de los residuos: la columna std err. El error estándar de la pendiente es 2,02, cerca del 1,8 del bootstrap. Las demás columnas se van a ir pintando a medida que lleguen sus conceptos.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el std err: la fórmula</a:t>
            </a:r>
          </a:p>
        </p:txBody>
      </p:sp>
      <p:pic>
        <p:nvPicPr>
          <p:cNvPr id="4" name="Picture 3" descr="c5_32_formula_e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919" y="1143000"/>
            <a:ext cx="676616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decisión de la etapa 2, ahora para la recta: s reemplaza a σ. La pendiente se mueve menos si las comunas están cerca de la recta (s chico) y si los ingresos están bien desplegados (la suma grande).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la pendiente, en el summary</a:t>
            </a:r>
          </a:p>
        </p:txBody>
      </p:sp>
      <p:pic>
        <p:nvPicPr>
          <p:cNvPr id="4" name="Picture 3" descr="c5_11a_summary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[0.025 0.975]: b ± 2,02 · EE = [−8,9; −0,75]. El primer uso del error estándar, ahora para la pendiente.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pendiente de las comunas, con y sin bootstrap</a:t>
            </a:r>
          </a:p>
        </p:txBody>
      </p:sp>
      <p:pic>
        <p:nvPicPr>
          <p:cNvPr id="4" name="Picture 3" descr="c5_34_tabla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7723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922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caminos al mismo número, con la misma muestra de 45 comunas: se parecen, y ningún intervalo incluye el 0. La fórmula es instantánea, pero existe solo para algunos estadísticos y supone cosas sobre los residuos.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bootstrap y cuándo la fórmula?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fórmula (y su t): medias y coeficientes de una regresión bien planteada, con errores independientes y varianza pareja. Es exacta, instantánea y viene en el summary.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Bootstrap cuando no hay fórmula para ese estadístico: una mediana, un percentil, una razón, un R², la métrica de un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Bootstrap cuando los supuestos fallan: colas largas con pocos datos, varianza que cambia, un estimador que no es un promedio. No supone campana: lee el histograma.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Ninguno arregla una muestra sesgada ni filas dependientes. Si se pueden hacer los dos, hacerlos: si coinciden, la fórmula está bien.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5. Segundo uso del error estándar: el contraste</a:t>
            </a:r>
          </a:p>
        </p:txBody>
      </p:sp>
      <p:pic>
        <p:nvPicPr>
          <p:cNvPr id="4" name="Picture 3" descr="c5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Prueba de hipótesis y valor p: ¿la pendiente es real o azar?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tiene que ver p con la regresión</a:t>
            </a:r>
          </a:p>
        </p:txBody>
      </p:sp>
      <p:pic>
        <p:nvPicPr>
          <p:cNvPr id="4" name="Picture 3" descr="c5_45_p_y_regre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07" y="1143000"/>
            <a:ext cx="757058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p = 0,021 concluimos que la relación entre ingreso y duración probablemente es real; con p = 0,40 no podríamos distinguir la recta del ruido. Lo que p no dice: si el efecto es grande, ni si es causal.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campana, en dos posiciones</a:t>
            </a:r>
          </a:p>
        </p:txBody>
      </p:sp>
      <p:pic>
        <p:nvPicPr>
          <p:cNvPr id="4" name="Picture 3" descr="c5_46_campana_a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749" y="1143000"/>
            <a:ext cx="563250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Arriba, centrada en lo observado: cuánto se mueve nuestra pendiente, y de ahí el intervalo. Abajo, centrada en 0: qué haría el azar sin relación, y de ahí la prueba. Que el intervalo no toque el 0 y que b caiga en la zona de rechazo es la misma afirmación.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 nula H0: la pendiente real es 0, el ingreso no tiene efecto sobre la duración. Alternativa H1: no es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pregunta: si H0 fuera cierta, ¿qué tan raro sería que una muestra de comunas diera, solo por azar, una pendiente tan lejos de 0 como la nuestra?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la regla del 1,96 al revés: si la real fuera 0, el 95% de las pendientes caería a menos de unos 2 errores estándar de 0. El estadístico: t = b / EE(b), a cuántos errores estándar del cero está la pendiente 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p: la probabilidad, si H0 fuera cierta, de un t así de lejos. Convención: si p &lt; 0,05, se rechaza H0 y el efecto se declara significativo.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prueba, paso a paso</a:t>
            </a:r>
          </a:p>
        </p:txBody>
      </p:sp>
      <p:pic>
        <p:nvPicPr>
          <p:cNvPr id="4" name="Picture 3" descr="c5_48_logica_prue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5205"/>
            <a:ext cx="7744968" cy="2944629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t, en el summary</a:t>
            </a:r>
          </a:p>
        </p:txBody>
      </p:sp>
      <p:pic>
        <p:nvPicPr>
          <p:cNvPr id="4" name="Picture 3" descr="c5_11d_summar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 = −4,81 / 2,02 = −2,39: la pendiente está a 2,4 errores estándar del cero. Falta saber qué tan raro es eso, y con qué distribución se mide.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 y p: la fórmula y el código</a:t>
            </a:r>
          </a:p>
        </p:txBody>
      </p:sp>
      <p:pic>
        <p:nvPicPr>
          <p:cNvPr id="4" name="Picture 3" descr="c5_44_t_p_formula_codi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436" y="1143000"/>
            <a:ext cx="701312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 es la acumulada de la t de Student con n − 2 = 43 grados de libertad: la normal con un margen extra, porque σ se estimó con 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completo, por fin</a:t>
            </a:r>
          </a:p>
        </p:txBody>
      </p:sp>
      <p:pic>
        <p:nvPicPr>
          <p:cNvPr id="4" name="Picture 3" descr="c5_11_summary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última columna, P&gt;|t| = 0,021: si la pendiente real fuera 0, un t así de lejos ocurre el 2,1% de las veces. Las cinco columnas, pintadas: coeficiente, error estándar, intervalo, t y valor p.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pendiente que nos dio el modelo no es azar: en las comunas de mayor ingreso los viajes duran menos, unos 4,8 minutos menos por cada millón de pesos de ingreso medio (entre 0,75 y 8,9).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que la sostiene: p = 0,021 y el intervalo [−8,9; −0,75] no incluye el 0. Con 45 comunas apenas cruza el umbral, porque p depende del efecto y del tamaño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Que un efecto sea estadísticamente significativo no dice que sea grande: el tamaño lo da el coeficiente, y su precisión, el intervalo.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causalidad, tampoco con p pequeño.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Supuestos de OLS, 1: errores independientes</a:t>
            </a:r>
          </a:p>
        </p:txBody>
      </p:sp>
      <p:pic>
        <p:nvPicPr>
          <p:cNvPr id="4" name="Picture 3" descr="c5_47_independencia_duplic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374" y="1143000"/>
            <a:ext cx="7259251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t y p de OLS suponen errores independientes entre filas. Si 50 de las 100 personas son parejas de la misma casa, comparten ingreso, gasto y residuo: 100 filas, 50 residuos independientes, y OLS cuenta 100. Repetir una tabla muestra el efecto: el error estándar baja de 2,02 a 1,41 sin información nueva.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Supuestos de OLS, 2: varianza constante</a:t>
            </a:r>
          </a:p>
        </p:txBody>
      </p:sp>
      <p:pic>
        <p:nvPicPr>
          <p:cNvPr id="4" name="Picture 3" descr="c5_21_varia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59336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19671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del std err usa un solo número para todos los residuos, s: EE(b) = s / √Σ(x − x̄)².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Supuestos de OLS, 3: errores normales</a:t>
            </a:r>
          </a:p>
        </p:txBody>
      </p:sp>
      <p:pic>
        <p:nvPicPr>
          <p:cNvPr id="4" name="Picture 3" descr="c5_22_norm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7417"/>
            <a:ext cx="7744968" cy="245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952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residuos no se vuelven normales con más datos: tienen la forma que les dan los datos. Lo que se vuelve normal es la pendiente. Por eso el supuesto solo hace falta con pocos datos; con muchos, deja de necesitarse, no de cumplirse.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esto importa en ciencia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lo que entrega un modelo sale de una muestra: sus coeficientes, sus predicciones y las métricas con que se evalúa. Con otra muestra, todo eso cambia.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dos modelos es comparar dos números que se mueven. Sin saber cuánto se mueven, no se puede decir cuál es mejor.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modelo que se ajusta demasiado a su muestra aprende el azar de esa muestra, y falla con datos nuevos. Medir el movimiento es la forma de detectarlo.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técnicas de las próximas clases, y del resto del diplomado, son maneras de medir y controlar ese movimiento.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Inferir es pasar de la muestra a la población cuantificando la incertidumbre. La herramienta central es el error estándar: la desviación estándar de la distribución muestral de un estimador, sea la media o la pendiente, obtenida por fórmula o por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intervalo de confianza del 95%, estimación ± 1,96 EE (2,02 EE con 43 grados de libertad), delimita los valores de la población compatibles con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prueba de hipótesis contrasta el estimador con el valor que tendría sin efecto: t = b / EE(b), y su valor p es la probabilidad de un t tan extremo bajo H0. Para la pendiente de las comunas, p = 0,021: se rechaza H0.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Estas conclusiones dependen de los supuestos de OLS sobre los errores (independencia, varianza constante y, con pocos datos, normalidad), y no informan del tamaño del efecto ni de causalidad.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10: regresión logística, para una respuesta que es sí o no, y cómo clasificar con ella.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leer completo el summary de cualquier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Efron, B. y Tibshirani, R. J. (1993). An Introduction to the Bootstrap. Chapman &amp; Hall.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Wasserstein, R. L. y Lazar, N. A. (2016). The ASA Statement on p-Values: Context, Process, and Purpose. The American Statistician, 70(2), 129-133.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
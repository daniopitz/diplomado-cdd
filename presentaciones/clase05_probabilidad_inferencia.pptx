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5 · Probabilidad e inferencia: ¿real o azar?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martes 8 de septiembre,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806440" y="4480560"/>
            <a:ext cx="30175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i_logo_recor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4562856"/>
            <a:ext cx="2743200" cy="3931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Avisos del proyecto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primer análisis exploratorio se entrega el lunes 15; el enunciado y la rúbrica están publicados en el repositorio.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formulación entregada el lunes 7 se devuelve con comentarios durante la semana.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Lo de hoy entra directo en el EDA: intervalos de confianza y la trampa de probar muchas variables.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Probabilidad: variables aleatorias y distribuciones.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Inferencia: muestra y población, la distribución muestral y el error estándar.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Intervalos de confianza.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Prueba de hipótesis y valor p: la pregunta pendiente.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Bootstrap, y regresión logística: clasificar un sí o no.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6. La trampa de las comparaciones múltiples.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¿Cuánto se movería este número con otra muestra?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La pregunta pendiente desde la clase 3: la pendiente de −4,8 minutos por millón, con 45 comunas y p = 0,021. ¿Real o azar? Hoy se responde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Descriptiva e inferencia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Estadística descriptiva, clases 2 a 4: resume y grafica la tabla que tenemos. Sus números hablan solo de esas filas, no de los viajes que nadie encuestó.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Inferencia estadística: usa esos mismos datos para hablar de la población de la que salieron, y dice cuánta incertidumbre trae esa afirmación.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Sus dos preguntas: ¿cuánto vale? (estimación, con un intervalo) y ¿es real o azar? (prueba de hipótesis, con un valor p).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probabilidad es el lenguaje de esa incertidumbre; por eso va primero.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Por qué aparece la normal</a:t>
            </a:r>
          </a:p>
        </p:txBody>
      </p:sp>
      <p:pic>
        <p:nvPicPr>
          <p:cNvPr id="4" name="Picture 3" descr="c5_19_cami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56104"/>
            <a:ext cx="7744968" cy="232847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No porque los datos sean normales (la duración no lo es), sino porque los promedios lo son: al repetir la muestra, la media y la pendiente se reparten como una campana alrededor del valor real. De esa campana sale el 1,96 que construye el intervalo y el valor p.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Probabilidad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El lenguaje de la incertidumbre: variables aleatorias y distribuciones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variable aleatoria y su distribución</a:t>
            </a:r>
          </a:p>
        </p:txBody>
      </p:sp>
      <p:pic>
        <p:nvPicPr>
          <p:cNvPr id="4" name="Picture 3" descr="c5_01_distribucion_dur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8678" y="1143000"/>
            <a:ext cx="6746642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duración del próximo viaje depende del azar: es una variable aleatoria. Su distribución dice qué valores toma y con qué frecuencia: en la población, el histograma. La esperanza es su media.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distribución normal</a:t>
            </a:r>
          </a:p>
        </p:txBody>
      </p:sp>
      <p:pic>
        <p:nvPicPr>
          <p:cNvPr id="4" name="Picture 3" descr="c5_03_normal_reg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38850"/>
            <a:ext cx="7744968" cy="256297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campana tiene dos parámetros: μ, la media, y σ, la desviación estándar. El 95% de los valores cae a menos de 1,96 σ de la media. Es la distribución de la inferencia porque los promedios la siguen; ese 1,96 vuelve en los intervalos de confianza.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¿Es normal la duración? En minutos no; en log, casi</a:t>
            </a:r>
          </a:p>
        </p:txBody>
      </p:sp>
      <p:pic>
        <p:nvPicPr>
          <p:cNvPr id="4" name="Picture 3" descr="c5_02_normal_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43171"/>
            <a:ext cx="7744968" cy="255433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cola larga (asimetría 5,3) se aleja de la normal; en log la variable se acomoda a la campana. Es la razón de fondo del log de la clase 4.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distribución para contar: la binomial</a:t>
            </a:r>
          </a:p>
        </p:txBody>
      </p:sp>
      <p:pic>
        <p:nvPicPr>
          <p:cNvPr id="4" name="Picture 3" descr="c5_04_binom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8091" y="1143000"/>
            <a:ext cx="7287816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número de éxitos en n intentos independientes con probabilidad p. Cada barra sale de la fórmula: las formas de elegir k viajes entre 20, por p elevado a k, por (1 − p) elevado a 20 − k. En Python, stats.binom.pmf(k, 20, p).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Muestra y población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Una muestra es una de muchas posibles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Dos muestras, dos medias</a:t>
            </a:r>
          </a:p>
        </p:txBody>
      </p:sp>
      <p:pic>
        <p:nvPicPr>
          <p:cNvPr id="4" name="Picture 3" descr="c5_05_dos_muestr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41281"/>
            <a:ext cx="7744968" cy="255811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Hoy tratamos los 113 mil viajes de la EOD como si fueran la población, para poder muestrear muchas veces. Cada muestra de 100 viajes da otra media; ninguna es la poblacional.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distribución muestral de la media</a:t>
            </a:r>
          </a:p>
        </p:txBody>
      </p:sp>
      <p:pic>
        <p:nvPicPr>
          <p:cNvPr id="4" name="Picture 3" descr="c5_06_distribucion_muest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2984" y="1143000"/>
            <a:ext cx="709803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2.000 muestras, 2.000 medias: su histograma es la distribución muestral, centrada en la media real. Su desviación estándar es el error estándar: cuánto se mueve la media de una muestra a otra.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error estándar de la media</a:t>
            </a:r>
          </a:p>
        </p:txBody>
      </p:sp>
      <p:pic>
        <p:nvPicPr>
          <p:cNvPr id="4" name="Picture 3" descr="c5_08_formula_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19678"/>
            <a:ext cx="7744968" cy="220132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Se calcula desde una sola muestra, sin ver la población. Para reducirlo a la mitad hay que cuadruplicar la muestra.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teorema central del límite</a:t>
            </a:r>
          </a:p>
        </p:txBody>
      </p:sp>
      <p:pic>
        <p:nvPicPr>
          <p:cNvPr id="4" name="Picture 3" descr="c5_07_tc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14213"/>
            <a:ext cx="7744968" cy="221225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media de una muestra se distribuye normal alrededor de la media real, con desviación σ/√n, aunque la variable no sea normal. Por eso la normal es la distribución de la inferencia: los promedios lo son, y la regla del 1,96 σ se les puede aplicar.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Intervalos de confianza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Del error estándar a un rango honesto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 la distribución muestral al intervalo</a:t>
            </a:r>
          </a:p>
        </p:txBody>
      </p:sp>
      <p:pic>
        <p:nvPicPr>
          <p:cNvPr id="4" name="Picture 3" descr="c5_18_puente_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93845"/>
            <a:ext cx="7744968" cy="24529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Paso 1: por el TCL las medias muestrales son normales, así que el 95% cae a menos de 1,96 EE de μ. Paso 2, la misma frase al revés: μ está a menos de 1,96 EE de la media de mi muestra en el 95% de las muestras. Ese rango es el intervalo.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intervalo de confianza del 95%</a:t>
            </a:r>
          </a:p>
        </p:txBody>
      </p:sp>
      <p:pic>
        <p:nvPicPr>
          <p:cNvPr id="4" name="Picture 3" descr="c5_09_formula_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02487"/>
            <a:ext cx="7744968" cy="263570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Se lee sobre el procedimiento: si repitiéramos el muestreo, el 95% de los intervalos atraparía la media real. Este intervalo en particular la atrapa o no; nunca sabremos cuál de los dos.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Comprobado con la población</a:t>
            </a:r>
          </a:p>
        </p:txBody>
      </p:sp>
      <p:pic>
        <p:nvPicPr>
          <p:cNvPr id="4" name="Picture 3" descr="c5_10_cober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186" y="1143000"/>
            <a:ext cx="7023627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100 muestras de 100 viajes, 100 intervalos: los rojos no atrapan la media. Cerca del 95% lo hace; con cola larga y n = 100, un poco menos.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Prueba de hipótesis y valor p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La pregunta pendiente: ¿la pendiente es real o azar?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lógica de la prueba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Hipótesis nula H0: la pendiente real es 0, el ingreso no tiene efecto sobre la duración. Alternativa H1: no es 0.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Si H0 fuera cierta, ¿qué tan raro sería obtener una pendiente como la nuestra solo por azar de qué comunas cayeron en la muestra?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Esa probabilidad es el valor p. Convención: si p &lt; 0,05, se rechaza H0 y el efecto se declara significativo.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estadístico que lo mide: t = coeficiente / error estándar, a cuántos errores estándar del cero está la pendiente.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summary completo, por fin</a:t>
            </a:r>
          </a:p>
        </p:txBody>
      </p:sp>
      <p:pic>
        <p:nvPicPr>
          <p:cNvPr id="4" name="Picture 3" descr="c5_11_summary_compl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47565"/>
            <a:ext cx="7744968" cy="254554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pendiente −4,81 con error estándar 2,02: t = −2,39. Si la real fuera 0, un t así de lejos ocurre el 2,1% de las veces: p = 0,021. El intervalo [−8,9; −0,75] no incluye el 0.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valor p, dibujado</a:t>
            </a:r>
          </a:p>
        </p:txBody>
      </p:sp>
      <p:pic>
        <p:nvPicPr>
          <p:cNvPr id="4" name="Picture 3" descr="c5_12_valor_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8678" y="1143000"/>
            <a:ext cx="7426642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45 puntos se usa la distribución t (una normal algo más ancha, por estimar σ con s). El área dorada de las dos colas más allá del t observado es el valor p.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 y p, a mano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b, ee = modelo.params["ingreso"], modelo.bse["ingreso"]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t = b / ee                                 # -2.39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Dos colas de la t con n - 2 grados de libertad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 = 2 * (1 - stats.t.cdf(abs(t), df=43))   # 0.021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Lo que statsmodels imprime sale de esta cuenta: el coeficiente en unidades de su error estándar, y el área que deja en las colas.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respuesta, y su letra chica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pendiente de −4,8 no parece azar: p = 0,021 y el intervalo [−8,9; −0,75] no incluye el 0. Rechazamos H0.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Pero el valor p depende del efecto y del tamaño de la muestra: la motorización (18 mil hogares) tiene t = 80 y p prácticamente 0; las comunas, con 45 puntos, apenas cruzan el umbral.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Significativo no es importante: el tamaño del efecto lo dice el coeficiente; su precisión, el intervalo.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Correlación no es causalidad, tampoco con p pequeño: seguimos reportando asociación.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Qué supone la regresión para inferir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No que las variables sean normales. Los t y p del summary suponen residuos independientes, con la misma varianza y, con n chico, normales.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 n grande el TCL hace el trabajo: un coeficiente es un promedio ponderado de los y, y los promedios se vuelven normales.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Lo que sí daña la inferencia: colas largas y atípicos, que inflan el error estándar. El log de la clase 4 también ayuda aquí.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 45 comunas los supuestos pesan; con 113 mil viajes, casi nada.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Bootstrap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La misma respuesta, sin fórmulas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Remuestrear los datos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pendientes = []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for _ in range(2000):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idx = rng.integers(0, 45, 45)     # 45 comunas, con reemplazo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pendientes.append(np.polyfit(x[idx], y[idx], 1)[0])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np.percentile(pendientes, [2.5, 97.5])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Sacar 45 comunas con reemplazo imita el azar del muestreo: algunas se repiten, otras quedan fuera. La distribución de las 2.000 pendientes dice cuánto se mueve la nuestra.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pendiente, remuestreada</a:t>
            </a:r>
          </a:p>
        </p:txBody>
      </p:sp>
      <p:pic>
        <p:nvPicPr>
          <p:cNvPr id="4" name="Picture 3" descr="c5_13_bootstr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2984" y="1143000"/>
            <a:ext cx="709803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intervalo bootstrap se parece al de statsmodels y casi ninguna remuestra llega al 0: la misma conclusión por un camino que solo usa el computador. Sirve para cualquier estadístico.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¿Qué hogares tienen auto?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Explicar un sí o no (tiene auto) con el ingreso del hogar: la regresión logística, y con ella, clasificar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recta no sirve para un sí o no</a:t>
            </a:r>
          </a:p>
        </p:txBody>
      </p:sp>
      <p:pic>
        <p:nvPicPr>
          <p:cNvPr id="4" name="Picture 3" descr="c5_15_recta_vs_logist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8992" y="1143000"/>
            <a:ext cx="6726015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Sobre un 0/1, la recta predice 1,39 a los 5 millones y valores negativos abajo: no respeta que la respuesta vive entre 0 y 1. La logística pasa la recta por una S y queda siempre en el rango.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regresión logística</a:t>
            </a:r>
          </a:p>
        </p:txBody>
      </p:sp>
      <p:pic>
        <p:nvPicPr>
          <p:cNvPr id="4" name="Picture 3" descr="c5_16_formula_logist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62245"/>
            <a:ext cx="7744968" cy="291619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recta a + b·x, pero dentro de la sigmoide. La respuesta es una Bernoulli (la binomial con n = 1) cuya probabilidad depende de x.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logística en statsmodels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logistica = sm.GLM(h["tiene_auto"], sm.add_constant(ingreso),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               family=sm.families.Binomial(),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               freq_weights=h["Factor"]).fit()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np.exp(logistica.params["IngresoHogar"])   # 8.9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GLM con familia binomial, ponderado con el factor. Lectura multiplicativa, como el log de la clase 4: cada millón multiplica las chances de tener auto por 8,9.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Clasificar: de la probabilidad a la decisión</a:t>
            </a:r>
          </a:p>
        </p:txBody>
      </p:sp>
      <p:pic>
        <p:nvPicPr>
          <p:cNvPr id="4" name="Picture 3" descr="c5_17_clasific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506" y="1143000"/>
            <a:ext cx="7058986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Predecir "tiene auto" cuando P supera 0,5 (desde 0,86 millones). Acierta el 70%, contra el 61% de decir siempre "no": la comparación con la base es obligatoria. Dónde se equivoca lo dice la matriz de confusión (un crosstab).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La trampa de las comparaciones múltiples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Qué pasa con el valor p cuando se prueba de todo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20 variables de puro ruido</a:t>
            </a:r>
          </a:p>
        </p:txBody>
      </p:sp>
      <p:pic>
        <p:nvPicPr>
          <p:cNvPr id="4" name="Picture 3" descr="c5_14_comparaciones_multip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392" y="1143000"/>
            <a:ext cx="7625215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Números al azar, sin relación con nada, probados contra la duración por comuna: con 20 intentos y umbral 0,05 se espera una falsa alarma. Es lo que pasa al recorrer una matriz de correlación buscando la que dé.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Reglas para el EDA del proyecto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Reportar cuántas pruebas se hicieron; un hallazgo aislado entre muchos intentos merece desconfianza.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corrección más simple, Bonferroni: dividir el umbral por el número de pruebas (0,05 / 20 = 0,0025).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Preferir el intervalo de confianza al valor p: muestra el tamaño del efecto y su precisión.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Significativo no es importante, y correlación no es causalidad.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Una muestra es una de muchas: todo número calculado se movería con otra muestra, y el error estándar mide cuánto.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teorema central del límite: los promedios se distribuyen normal, aunque los datos no.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intervalo de confianza convierte el error estándar en un rango que atrapa el valor real el 95% de las veces.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valor p responde: si el efecto real fuera cero, ¿qué tan raro sería lo observado? Con p &lt; 0,05, la pendiente de −4,8 es real.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Para un sí o no, la regresión logística: la recta dentro de una sigmoide; clasificar es cortar en 0,5 y comparar con la base.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Para el EDA del lunes 15: intervalos, y cuidado con probar de todo.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10 minutos · al volver: manos al teclado, con el notebook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Próxima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Jueves 10: regresión lineal en profundidad: supuestos, diagnósticos con los residuos y evaluación fuera de la muestra.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 lo de hoy ya se puede leer completo el summary de cualquier modelo.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primer análisis exploratorio se entrega el lunes 15.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Efron, B. y Tibshirani, R. J. (1993). An Introduction to the Bootstrap. Chapman &amp; Hall.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Wasserstein, R. L. y Lazar, N. A. (2016). The ASA Statement on p-Values: Context, Process, and Purpose. The American Statistician, 70(2), 129-133.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VanderPlas, J. (2016). Python Data Science Handbook. O'Reilly.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Datos: Encuesta Origen Destino Santiago 2012 (Sectra).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
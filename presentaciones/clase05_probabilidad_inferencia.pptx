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9144000" cy="513892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3B4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04088" y="1252728"/>
            <a:ext cx="7744968" cy="1298448"/>
          </a:xfrm>
          <a:prstGeom prst="rect">
            <a:avLst/>
          </a:prstGeom>
          <a:noFill/>
        </p:spPr>
        <p:txBody>
          <a:bodyPr wrap="square">
            <a:spAutoFit/>
          </a:bodyPr>
          <a:lstStyle/>
          <a:p>
            <a:r>
              <a:rPr sz="4200" b="1">
                <a:solidFill>
                  <a:srgbClr val="FFFFFF"/>
                </a:solidFill>
                <a:latin typeface="Fira Sans"/>
              </a:rPr>
              <a:t>Introducción y fundamentos estadísticos</a:t>
            </a:r>
          </a:p>
        </p:txBody>
      </p:sp>
      <p:sp>
        <p:nvSpPr>
          <p:cNvPr id="4" name="Rectangle 3"/>
          <p:cNvSpPr/>
          <p:nvPr/>
        </p:nvSpPr>
        <p:spPr>
          <a:xfrm>
            <a:off x="1975104" y="2651760"/>
            <a:ext cx="5202936" cy="521207"/>
          </a:xfrm>
          <a:prstGeom prst="rect">
            <a:avLst/>
          </a:prstGeom>
          <a:solidFill>
            <a:srgbClr val="E0A4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1D3557"/>
                </a:solidFill>
                <a:latin typeface="Fira Sans"/>
              </a:rPr>
              <a:t>Clase 5 · Probabilidad e inferencia: ¿real o azar?</a:t>
            </a:r>
          </a:p>
        </p:txBody>
      </p:sp>
      <p:sp>
        <p:nvSpPr>
          <p:cNvPr id="5" name="TextBox 4"/>
          <p:cNvSpPr txBox="1"/>
          <p:nvPr/>
        </p:nvSpPr>
        <p:spPr>
          <a:xfrm>
            <a:off x="704088" y="3547872"/>
            <a:ext cx="7744968" cy="896112"/>
          </a:xfrm>
          <a:prstGeom prst="rect">
            <a:avLst/>
          </a:prstGeom>
          <a:noFill/>
        </p:spPr>
        <p:txBody>
          <a:bodyPr wrap="square">
            <a:spAutoFit/>
          </a:bodyPr>
          <a:lstStyle/>
          <a:p>
            <a:r>
              <a:rPr sz="1500" b="0">
                <a:solidFill>
                  <a:srgbClr val="FFFFFF"/>
                </a:solidFill>
                <a:latin typeface="Fira Sans"/>
              </a:rPr>
              <a:t>Daniela Opitz</a:t>
            </a:r>
          </a:p>
          <a:p>
            <a:r>
              <a:rPr sz="1300" b="0">
                <a:solidFill>
                  <a:srgbClr val="B8C4D4"/>
                </a:solidFill>
                <a:latin typeface="Fira Sans"/>
              </a:rPr>
              <a:t>Diplomado en Ciencia de Datos Aplicada · Departamento de Informática · UTFSM · martes 8 de septiembre, 2026</a:t>
            </a:r>
          </a:p>
        </p:txBody>
      </p:sp>
      <p:sp>
        <p:nvSpPr>
          <p:cNvPr id="6" name="Rectangle 5"/>
          <p:cNvSpPr/>
          <p:nvPr/>
        </p:nvSpPr>
        <p:spPr>
          <a:xfrm>
            <a:off x="5806440" y="4480560"/>
            <a:ext cx="301752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_logo_recortado.png"/>
          <p:cNvPicPr>
            <a:picLocks noChangeAspect="1"/>
          </p:cNvPicPr>
          <p:nvPr/>
        </p:nvPicPr>
        <p:blipFill>
          <a:blip r:embed="rId2"/>
          <a:stretch>
            <a:fillRect/>
          </a:stretch>
        </p:blipFill>
        <p:spPr>
          <a:xfrm>
            <a:off x="5943600" y="4562856"/>
            <a:ext cx="2743200" cy="39319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Avisos del proyecto Capstone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El primer análisis exploratorio se entrega el lunes 15; el enunciado y la rúbrica están publicados en el repositorio.</a:t>
            </a:r>
          </a:p>
          <a:p>
            <a:pPr>
              <a:lnSpc>
                <a:spcPct val="112000"/>
              </a:lnSpc>
              <a:spcAft>
                <a:spcPts val="900"/>
              </a:spcAft>
            </a:pPr>
            <a:r>
              <a:rPr sz="1800" b="1">
                <a:solidFill>
                  <a:srgbClr val="E0A437"/>
                </a:solidFill>
                <a:latin typeface="Fira Sans"/>
              </a:rPr>
              <a:t>▸ </a:t>
            </a:r>
            <a:r>
              <a:rPr sz="1800" b="0">
                <a:solidFill>
                  <a:srgbClr val="000000"/>
                </a:solidFill>
                <a:latin typeface="Fira Sans"/>
              </a:rPr>
              <a:t>La formulación entregada el lunes 7 se devuelve con comentarios durante la semana.</a:t>
            </a:r>
          </a:p>
          <a:p>
            <a:pPr>
              <a:lnSpc>
                <a:spcPct val="112000"/>
              </a:lnSpc>
              <a:spcAft>
                <a:spcPts val="900"/>
              </a:spcAft>
            </a:pPr>
            <a:r>
              <a:rPr sz="1800" b="1">
                <a:solidFill>
                  <a:srgbClr val="E0A437"/>
                </a:solidFill>
                <a:latin typeface="Fira Sans"/>
              </a:rPr>
              <a:t>▸ </a:t>
            </a:r>
            <a:r>
              <a:rPr sz="1800" b="0">
                <a:solidFill>
                  <a:srgbClr val="000000"/>
                </a:solidFill>
                <a:latin typeface="Fira Sans"/>
              </a:rPr>
              <a:t>Lo de hoy entra directo en el EDA: intervalos de confianza y la trampa de probar muchas variables.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Contenidos de la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0">
                <a:solidFill>
                  <a:srgbClr val="000000"/>
                </a:solidFill>
                <a:latin typeface="Fira Sans"/>
              </a:rPr>
              <a:t>1. El azar tiene forma: variables aleatorias y la normal.</a:t>
            </a:r>
          </a:p>
          <a:p>
            <a:pPr>
              <a:lnSpc>
                <a:spcPct val="112000"/>
              </a:lnSpc>
              <a:spcAft>
                <a:spcPts val="900"/>
              </a:spcAft>
            </a:pPr>
            <a:r>
              <a:rPr sz="1800" b="1">
                <a:solidFill>
                  <a:srgbClr val="E0A437"/>
                </a:solidFill>
                <a:latin typeface="Fira Sans"/>
              </a:rPr>
              <a:t>▸ </a:t>
            </a:r>
            <a:r>
              <a:rPr sz="1800" b="0">
                <a:solidFill>
                  <a:srgbClr val="000000"/>
                </a:solidFill>
                <a:latin typeface="Fira Sans"/>
              </a:rPr>
              <a:t>2. Un número se mueve: distribución muestral y error estándar.</a:t>
            </a:r>
          </a:p>
          <a:p>
            <a:pPr>
              <a:lnSpc>
                <a:spcPct val="112000"/>
              </a:lnSpc>
              <a:spcAft>
                <a:spcPts val="900"/>
              </a:spcAft>
            </a:pPr>
            <a:r>
              <a:rPr sz="1800" b="1">
                <a:solidFill>
                  <a:srgbClr val="E0A437"/>
                </a:solidFill>
                <a:latin typeface="Fira Sans"/>
              </a:rPr>
              <a:t>▸ </a:t>
            </a:r>
            <a:r>
              <a:rPr sz="1800" b="0">
                <a:solidFill>
                  <a:srgbClr val="000000"/>
                </a:solidFill>
                <a:latin typeface="Fira Sans"/>
              </a:rPr>
              <a:t>3. Primer uso del error estándar: el intervalo de confianza.</a:t>
            </a:r>
          </a:p>
          <a:p>
            <a:pPr>
              <a:lnSpc>
                <a:spcPct val="112000"/>
              </a:lnSpc>
              <a:spcAft>
                <a:spcPts val="900"/>
              </a:spcAft>
            </a:pPr>
            <a:r>
              <a:rPr sz="1800" b="1">
                <a:solidFill>
                  <a:srgbClr val="E0A437"/>
                </a:solidFill>
                <a:latin typeface="Fira Sans"/>
              </a:rPr>
              <a:t>▸ </a:t>
            </a:r>
            <a:r>
              <a:rPr sz="1800" b="0">
                <a:solidFill>
                  <a:srgbClr val="000000"/>
                </a:solidFill>
                <a:latin typeface="Fira Sans"/>
              </a:rPr>
              <a:t>4. La pendiente también se mueve: bootstrap.</a:t>
            </a:r>
          </a:p>
          <a:p>
            <a:pPr>
              <a:lnSpc>
                <a:spcPct val="112000"/>
              </a:lnSpc>
              <a:spcAft>
                <a:spcPts val="900"/>
              </a:spcAft>
            </a:pPr>
            <a:r>
              <a:rPr sz="1800" b="1">
                <a:solidFill>
                  <a:srgbClr val="E0A437"/>
                </a:solidFill>
                <a:latin typeface="Fira Sans"/>
              </a:rPr>
              <a:t>▸ </a:t>
            </a:r>
            <a:r>
              <a:rPr sz="1800" b="0">
                <a:solidFill>
                  <a:srgbClr val="000000"/>
                </a:solidFill>
                <a:latin typeface="Fira Sans"/>
              </a:rPr>
              <a:t>5. Segundo uso: la prueba de hipótesis, la t y el valor p. Qué supone.</a:t>
            </a:r>
          </a:p>
          <a:p>
            <a:pPr>
              <a:lnSpc>
                <a:spcPct val="112000"/>
              </a:lnSpc>
              <a:spcAft>
                <a:spcPts val="900"/>
              </a:spcAft>
            </a:pPr>
            <a:r>
              <a:rPr sz="1800" b="1">
                <a:solidFill>
                  <a:srgbClr val="E0A437"/>
                </a:solidFill>
                <a:latin typeface="Fira Sans"/>
              </a:rPr>
              <a:t>▸ </a:t>
            </a:r>
            <a:r>
              <a:rPr sz="1800" b="0">
                <a:solidFill>
                  <a:srgbClr val="000000"/>
                </a:solidFill>
                <a:latin typeface="Fira Sans"/>
              </a:rPr>
              <a:t>6. La trampa de las comparaciones múltiples.</a:t>
            </a:r>
          </a:p>
          <a:p>
            <a:pPr>
              <a:lnSpc>
                <a:spcPct val="112000"/>
              </a:lnSpc>
              <a:spcAft>
                <a:spcPts val="900"/>
              </a:spcAft>
            </a:pPr>
            <a:r>
              <a:rPr sz="1800" b="1">
                <a:solidFill>
                  <a:srgbClr val="E0A437"/>
                </a:solidFill>
                <a:latin typeface="Fira Sans"/>
              </a:rPr>
              <a:t>▸ </a:t>
            </a:r>
            <a:r>
              <a:rPr sz="1800" b="0">
                <a:solidFill>
                  <a:srgbClr val="000000"/>
                </a:solidFill>
                <a:latin typeface="Fira Sans"/>
              </a:rPr>
              <a:t>7. Otro modelo, el mismo lector: regresión logística para un sí o no.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¿Cuánto se movería este número con otra muestra?</a:t>
            </a:r>
          </a:p>
          <a:p>
            <a:r>
              <a:rPr sz="1800" b="0">
                <a:solidFill>
                  <a:srgbClr val="E0A437"/>
                </a:solidFill>
                <a:latin typeface="Fira Sans"/>
              </a:rPr>
              <a:t>La pregunta pendiente desde la clase 3: la pendiente de −4,8 minutos por millón, con 45 comunas y p = 0,021. ¿Real o azar? Hoy se responde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Descriptiva e inferencia</a:t>
            </a:r>
          </a:p>
        </p:txBody>
      </p:sp>
      <p:pic>
        <p:nvPicPr>
          <p:cNvPr id="4" name="Picture 3" descr="c5_29_descriptiva_inferencia.png"/>
          <p:cNvPicPr>
            <a:picLocks noChangeAspect="1"/>
          </p:cNvPicPr>
          <p:nvPr/>
        </p:nvPicPr>
        <p:blipFill>
          <a:blip r:embed="rId2"/>
          <a:stretch>
            <a:fillRect/>
          </a:stretch>
        </p:blipFill>
        <p:spPr>
          <a:xfrm>
            <a:off x="699515" y="1435284"/>
            <a:ext cx="7744968" cy="2515247"/>
          </a:xfrm>
          <a:prstGeom prst="rect">
            <a:avLst/>
          </a:prstGeom>
        </p:spPr>
      </p:pic>
      <p:sp>
        <p:nvSpPr>
          <p:cNvPr id="5" name="TextBox 4"/>
          <p:cNvSpPr txBox="1"/>
          <p:nvPr/>
        </p:nvSpPr>
        <p:spPr>
          <a:xfrm>
            <a:off x="704088" y="4087691"/>
            <a:ext cx="7744968" cy="512064"/>
          </a:xfrm>
          <a:prstGeom prst="rect">
            <a:avLst/>
          </a:prstGeom>
          <a:noFill/>
        </p:spPr>
        <p:txBody>
          <a:bodyPr wrap="square">
            <a:spAutoFit/>
          </a:bodyPr>
          <a:lstStyle/>
          <a:p>
            <a:r>
              <a:rPr sz="1300" b="0">
                <a:solidFill>
                  <a:srgbClr val="333333"/>
                </a:solidFill>
                <a:latin typeface="Fira Sans"/>
              </a:rPr>
              <a:t>La descriptiva habla de la tabla que tenemos; la inferencia, de la población de la que salió, con su incertidumbre. Dos preguntas: cuánto vale, y si es real o azar.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1. El azar tiene forma</a:t>
            </a:r>
          </a:p>
        </p:txBody>
      </p:sp>
      <p:pic>
        <p:nvPicPr>
          <p:cNvPr id="4" name="Picture 3" descr="c5_23_mapa_1.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Probabilidad, el lenguaje de la incertidumbre: variables aleatorias y distribuciones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Una variable aleatoria y su distribución</a:t>
            </a:r>
          </a:p>
        </p:txBody>
      </p:sp>
      <p:pic>
        <p:nvPicPr>
          <p:cNvPr id="4" name="Picture 3" descr="c5_01_distribucion_duracion.png"/>
          <p:cNvPicPr>
            <a:picLocks noChangeAspect="1"/>
          </p:cNvPicPr>
          <p:nvPr/>
        </p:nvPicPr>
        <p:blipFill>
          <a:blip r:embed="rId2"/>
          <a:stretch>
            <a:fillRect/>
          </a:stretch>
        </p:blipFill>
        <p:spPr>
          <a:xfrm>
            <a:off x="1257345" y="1143000"/>
            <a:ext cx="6629309"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La duración del próximo viaje depende del azar: es una variable aleatoria. Su distribución dice qué valores toma y con qué frecuencia: en la población, el histograma. La esperanza es su media.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media también es una variable aleatoria</a:t>
            </a:r>
          </a:p>
        </p:txBody>
      </p:sp>
      <p:pic>
        <p:nvPicPr>
          <p:cNvPr id="4" name="Picture 3" descr="c5_30_media_variable_aleatoria.png"/>
          <p:cNvPicPr>
            <a:picLocks noChangeAspect="1"/>
          </p:cNvPicPr>
          <p:nvPr/>
        </p:nvPicPr>
        <p:blipFill>
          <a:blip r:embed="rId2"/>
          <a:stretch>
            <a:fillRect/>
          </a:stretch>
        </p:blipFill>
        <p:spPr>
          <a:xfrm>
            <a:off x="699515" y="1491838"/>
            <a:ext cx="7744968" cy="2402139"/>
          </a:xfrm>
          <a:prstGeom prst="rect">
            <a:avLst/>
          </a:prstGeom>
        </p:spPr>
      </p:pic>
      <p:sp>
        <p:nvSpPr>
          <p:cNvPr id="5" name="TextBox 4"/>
          <p:cNvSpPr txBox="1"/>
          <p:nvPr/>
        </p:nvSpPr>
        <p:spPr>
          <a:xfrm>
            <a:off x="704088" y="4031137"/>
            <a:ext cx="7744968" cy="512064"/>
          </a:xfrm>
          <a:prstGeom prst="rect">
            <a:avLst/>
          </a:prstGeom>
          <a:noFill/>
        </p:spPr>
        <p:txBody>
          <a:bodyPr wrap="square">
            <a:spAutoFit/>
          </a:bodyPr>
          <a:lstStyle/>
          <a:p>
            <a:r>
              <a:rPr sz="1300" b="0">
                <a:solidFill>
                  <a:srgbClr val="333333"/>
                </a:solidFill>
                <a:latin typeface="Fira Sans"/>
              </a:rPr>
              <a:t>Depende de qué 100 viajes cayeron en la muestra: otra muestra, otra media. Y aunque la duración no tenga forma de campana, la media sí. Esa campana tiene nombre, y es la siguiente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normal</a:t>
            </a:r>
          </a:p>
        </p:txBody>
      </p:sp>
      <p:pic>
        <p:nvPicPr>
          <p:cNvPr id="4" name="Picture 3" descr="c5_03_normal_regla.png"/>
          <p:cNvPicPr>
            <a:picLocks noChangeAspect="1"/>
          </p:cNvPicPr>
          <p:nvPr/>
        </p:nvPicPr>
        <p:blipFill>
          <a:blip r:embed="rId2"/>
          <a:stretch>
            <a:fillRect/>
          </a:stretch>
        </p:blipFill>
        <p:spPr>
          <a:xfrm>
            <a:off x="699515" y="1283402"/>
            <a:ext cx="7744968" cy="2562978"/>
          </a:xfrm>
          <a:prstGeom prst="rect">
            <a:avLst/>
          </a:prstGeom>
        </p:spPr>
      </p:pic>
      <p:sp>
        <p:nvSpPr>
          <p:cNvPr id="5" name="TextBox 4"/>
          <p:cNvSpPr txBox="1"/>
          <p:nvPr/>
        </p:nvSpPr>
        <p:spPr>
          <a:xfrm>
            <a:off x="704088" y="3983541"/>
            <a:ext cx="7744968" cy="768096"/>
          </a:xfrm>
          <a:prstGeom prst="rect">
            <a:avLst/>
          </a:prstGeom>
          <a:noFill/>
        </p:spPr>
        <p:txBody>
          <a:bodyPr wrap="square">
            <a:spAutoFit/>
          </a:bodyPr>
          <a:lstStyle/>
          <a:p>
            <a:r>
              <a:rPr sz="1300" b="0">
                <a:solidFill>
                  <a:srgbClr val="333333"/>
                </a:solidFill>
                <a:latin typeface="Fira Sans"/>
              </a:rPr>
              <a:t>La campana tiene dos parámetros: μ, la media, y σ, la desviación estándar. El 95% de los valores cae a menos de 1,96 σ de la media. Es la distribución de la inferencia porque los promedios la siguen; ese 1,96 vuelve en los intervalos de confianza.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duración no es normal; en log, casi</a:t>
            </a:r>
          </a:p>
        </p:txBody>
      </p:sp>
      <p:pic>
        <p:nvPicPr>
          <p:cNvPr id="4" name="Picture 3" descr="c5_02_normal_log.png"/>
          <p:cNvPicPr>
            <a:picLocks noChangeAspect="1"/>
          </p:cNvPicPr>
          <p:nvPr/>
        </p:nvPicPr>
        <p:blipFill>
          <a:blip r:embed="rId2"/>
          <a:stretch>
            <a:fillRect/>
          </a:stretch>
        </p:blipFill>
        <p:spPr>
          <a:xfrm>
            <a:off x="699515" y="1415739"/>
            <a:ext cx="7744968" cy="2554337"/>
          </a:xfrm>
          <a:prstGeom prst="rect">
            <a:avLst/>
          </a:prstGeom>
        </p:spPr>
      </p:pic>
      <p:sp>
        <p:nvSpPr>
          <p:cNvPr id="5" name="TextBox 4"/>
          <p:cNvSpPr txBox="1"/>
          <p:nvPr/>
        </p:nvSpPr>
        <p:spPr>
          <a:xfrm>
            <a:off x="704088" y="4107236"/>
            <a:ext cx="7744968" cy="512064"/>
          </a:xfrm>
          <a:prstGeom prst="rect">
            <a:avLst/>
          </a:prstGeom>
          <a:noFill/>
        </p:spPr>
        <p:txBody>
          <a:bodyPr wrap="square">
            <a:spAutoFit/>
          </a:bodyPr>
          <a:lstStyle/>
          <a:p>
            <a:r>
              <a:rPr sz="1300" b="0">
                <a:solidFill>
                  <a:srgbClr val="333333"/>
                </a:solidFill>
                <a:latin typeface="Fira Sans"/>
              </a:rPr>
              <a:t>La cola larga (asimetría 5,3) se aleja de la normal; en log la variable se acomoda a la campana. Es la razón de fondo del log de la clase 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2. Un número se mueve</a:t>
            </a:r>
          </a:p>
        </p:txBody>
      </p:sp>
      <p:pic>
        <p:nvPicPr>
          <p:cNvPr id="4" name="Picture 3" descr="c5_23_mapa_2.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Muestra y población: una muestra es una de muchas posibles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Dos muestras, dos medias</a:t>
            </a:r>
          </a:p>
        </p:txBody>
      </p:sp>
      <p:pic>
        <p:nvPicPr>
          <p:cNvPr id="4" name="Picture 3" descr="c5_05_dos_muestras.png"/>
          <p:cNvPicPr>
            <a:picLocks noChangeAspect="1"/>
          </p:cNvPicPr>
          <p:nvPr/>
        </p:nvPicPr>
        <p:blipFill>
          <a:blip r:embed="rId2"/>
          <a:stretch>
            <a:fillRect/>
          </a:stretch>
        </p:blipFill>
        <p:spPr>
          <a:xfrm>
            <a:off x="699515" y="1413849"/>
            <a:ext cx="7744968" cy="2558117"/>
          </a:xfrm>
          <a:prstGeom prst="rect">
            <a:avLst/>
          </a:prstGeom>
        </p:spPr>
      </p:pic>
      <p:sp>
        <p:nvSpPr>
          <p:cNvPr id="5" name="TextBox 4"/>
          <p:cNvSpPr txBox="1"/>
          <p:nvPr/>
        </p:nvSpPr>
        <p:spPr>
          <a:xfrm>
            <a:off x="704088" y="4109126"/>
            <a:ext cx="7744968" cy="512064"/>
          </a:xfrm>
          <a:prstGeom prst="rect">
            <a:avLst/>
          </a:prstGeom>
          <a:noFill/>
        </p:spPr>
        <p:txBody>
          <a:bodyPr wrap="square">
            <a:spAutoFit/>
          </a:bodyPr>
          <a:lstStyle/>
          <a:p>
            <a:r>
              <a:rPr sz="1300" b="0">
                <a:solidFill>
                  <a:srgbClr val="333333"/>
                </a:solidFill>
                <a:latin typeface="Fira Sans"/>
              </a:rPr>
              <a:t>Hoy tratamos los 113 mil viajes de la EOD como si fueran la población, para poder muestrear muchas veces. Cada muestra de 100 viajes da otra media; ninguna es la poblacional.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muestral de la media</a:t>
            </a:r>
          </a:p>
        </p:txBody>
      </p:sp>
      <p:pic>
        <p:nvPicPr>
          <p:cNvPr id="4" name="Picture 3" descr="c5_06_distribucion_muestral.png"/>
          <p:cNvPicPr>
            <a:picLocks noChangeAspect="1"/>
          </p:cNvPicPr>
          <p:nvPr/>
        </p:nvPicPr>
        <p:blipFill>
          <a:blip r:embed="rId2"/>
          <a:stretch>
            <a:fillRect/>
          </a:stretch>
        </p:blipFill>
        <p:spPr>
          <a:xfrm>
            <a:off x="1084707" y="1143000"/>
            <a:ext cx="6974586"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2.000 muestras, 2.000 medias: su histograma es la distribución muestral, centrada en la media real. Su desviación estándar es el error estándar: cuánto se mueve la media de una muestra a otra.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error estándar de la media</a:t>
            </a:r>
          </a:p>
        </p:txBody>
      </p:sp>
      <p:pic>
        <p:nvPicPr>
          <p:cNvPr id="4" name="Picture 3" descr="c5_08_formula_ee.png"/>
          <p:cNvPicPr>
            <a:picLocks noChangeAspect="1"/>
          </p:cNvPicPr>
          <p:nvPr/>
        </p:nvPicPr>
        <p:blipFill>
          <a:blip r:embed="rId2"/>
          <a:stretch>
            <a:fillRect/>
          </a:stretch>
        </p:blipFill>
        <p:spPr>
          <a:xfrm>
            <a:off x="699515" y="1248628"/>
            <a:ext cx="7744968" cy="2888559"/>
          </a:xfrm>
          <a:prstGeom prst="rect">
            <a:avLst/>
          </a:prstGeom>
        </p:spPr>
      </p:pic>
      <p:sp>
        <p:nvSpPr>
          <p:cNvPr id="5" name="TextBox 4"/>
          <p:cNvSpPr txBox="1"/>
          <p:nvPr/>
        </p:nvSpPr>
        <p:spPr>
          <a:xfrm>
            <a:off x="704088" y="4274347"/>
            <a:ext cx="7744968" cy="512064"/>
          </a:xfrm>
          <a:prstGeom prst="rect">
            <a:avLst/>
          </a:prstGeom>
          <a:noFill/>
        </p:spPr>
        <p:txBody>
          <a:bodyPr wrap="square">
            <a:spAutoFit/>
          </a:bodyPr>
          <a:lstStyle/>
          <a:p>
            <a:r>
              <a:rPr sz="1300" b="0">
                <a:solidFill>
                  <a:srgbClr val="333333"/>
                </a:solidFill>
                <a:latin typeface="Fira Sans"/>
              </a:rPr>
              <a:t>Se calcula desde una sola muestra, sin ver la población, reemplazando σ por s. Para reducirlo a la mitad hay que cuadruplicar la muestra.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teorema central del límite</a:t>
            </a:r>
          </a:p>
        </p:txBody>
      </p:sp>
      <p:pic>
        <p:nvPicPr>
          <p:cNvPr id="4" name="Picture 3" descr="c5_07_tcl.png"/>
          <p:cNvPicPr>
            <a:picLocks noChangeAspect="1"/>
          </p:cNvPicPr>
          <p:nvPr/>
        </p:nvPicPr>
        <p:blipFill>
          <a:blip r:embed="rId2"/>
          <a:stretch>
            <a:fillRect/>
          </a:stretch>
        </p:blipFill>
        <p:spPr>
          <a:xfrm>
            <a:off x="699515" y="1458765"/>
            <a:ext cx="7744968" cy="2212254"/>
          </a:xfrm>
          <a:prstGeom prst="rect">
            <a:avLst/>
          </a:prstGeom>
        </p:spPr>
      </p:pic>
      <p:sp>
        <p:nvSpPr>
          <p:cNvPr id="5" name="TextBox 4"/>
          <p:cNvSpPr txBox="1"/>
          <p:nvPr/>
        </p:nvSpPr>
        <p:spPr>
          <a:xfrm>
            <a:off x="704088" y="3808178"/>
            <a:ext cx="7744968" cy="768096"/>
          </a:xfrm>
          <a:prstGeom prst="rect">
            <a:avLst/>
          </a:prstGeom>
          <a:noFill/>
        </p:spPr>
        <p:txBody>
          <a:bodyPr wrap="square">
            <a:spAutoFit/>
          </a:bodyPr>
          <a:lstStyle/>
          <a:p>
            <a:r>
              <a:rPr sz="1300" b="0">
                <a:solidFill>
                  <a:srgbClr val="333333"/>
                </a:solidFill>
                <a:latin typeface="Fira Sans"/>
              </a:rPr>
              <a:t>La media de una muestra se distribuye normal alrededor de la media real, con desviación σ/√n, aunque la variable no sea normal. Por eso la normal es la distribución de la inferencia: los promedios lo son, y la regla del 1,96 σ se les puede aplicar.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3. Primer uso del error estándar: el intervalo</a:t>
            </a:r>
          </a:p>
        </p:txBody>
      </p:sp>
      <p:pic>
        <p:nvPicPr>
          <p:cNvPr id="4" name="Picture 3" descr="c5_23_mapa_3.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Del error estándar a un rango honesto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De la distribución muestral al intervalo</a:t>
            </a:r>
          </a:p>
        </p:txBody>
      </p:sp>
      <p:pic>
        <p:nvPicPr>
          <p:cNvPr id="4" name="Picture 3" descr="c5_18_puente_ic.png"/>
          <p:cNvPicPr>
            <a:picLocks noChangeAspect="1"/>
          </p:cNvPicPr>
          <p:nvPr/>
        </p:nvPicPr>
        <p:blipFill>
          <a:blip r:embed="rId2"/>
          <a:stretch>
            <a:fillRect/>
          </a:stretch>
        </p:blipFill>
        <p:spPr>
          <a:xfrm>
            <a:off x="699515" y="1338397"/>
            <a:ext cx="7744968" cy="2452988"/>
          </a:xfrm>
          <a:prstGeom prst="rect">
            <a:avLst/>
          </a:prstGeom>
        </p:spPr>
      </p:pic>
      <p:sp>
        <p:nvSpPr>
          <p:cNvPr id="5" name="TextBox 4"/>
          <p:cNvSpPr txBox="1"/>
          <p:nvPr/>
        </p:nvSpPr>
        <p:spPr>
          <a:xfrm>
            <a:off x="704088" y="3928546"/>
            <a:ext cx="7744968" cy="768096"/>
          </a:xfrm>
          <a:prstGeom prst="rect">
            <a:avLst/>
          </a:prstGeom>
          <a:noFill/>
        </p:spPr>
        <p:txBody>
          <a:bodyPr wrap="square">
            <a:spAutoFit/>
          </a:bodyPr>
          <a:lstStyle/>
          <a:p>
            <a:r>
              <a:rPr sz="1300" b="0">
                <a:solidFill>
                  <a:srgbClr val="333333"/>
                </a:solidFill>
                <a:latin typeface="Fira Sans"/>
              </a:rPr>
              <a:t>Paso 1: por el TCL las medias muestrales son normales, así que el 95% cae a menos de 1,96 EE de μ. Paso 2, la misma frase al revés: μ está a menos de 1,96 EE de la media de mi muestra en el 95% de las muestras. Ese rango es el intervalo.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de confianza del 95%</a:t>
            </a:r>
          </a:p>
        </p:txBody>
      </p:sp>
      <p:pic>
        <p:nvPicPr>
          <p:cNvPr id="4" name="Picture 3" descr="c5_09_formula_ic.png"/>
          <p:cNvPicPr>
            <a:picLocks noChangeAspect="1"/>
          </p:cNvPicPr>
          <p:nvPr/>
        </p:nvPicPr>
        <p:blipFill>
          <a:blip r:embed="rId2"/>
          <a:stretch>
            <a:fillRect/>
          </a:stretch>
        </p:blipFill>
        <p:spPr>
          <a:xfrm>
            <a:off x="699515" y="1375055"/>
            <a:ext cx="7744968" cy="2635704"/>
          </a:xfrm>
          <a:prstGeom prst="rect">
            <a:avLst/>
          </a:prstGeom>
        </p:spPr>
      </p:pic>
      <p:sp>
        <p:nvSpPr>
          <p:cNvPr id="5" name="TextBox 4"/>
          <p:cNvSpPr txBox="1"/>
          <p:nvPr/>
        </p:nvSpPr>
        <p:spPr>
          <a:xfrm>
            <a:off x="704088" y="4147920"/>
            <a:ext cx="7744968" cy="512064"/>
          </a:xfrm>
          <a:prstGeom prst="rect">
            <a:avLst/>
          </a:prstGeom>
          <a:noFill/>
        </p:spPr>
        <p:txBody>
          <a:bodyPr wrap="square">
            <a:spAutoFit/>
          </a:bodyPr>
          <a:lstStyle/>
          <a:p>
            <a:r>
              <a:rPr sz="1300" b="0">
                <a:solidFill>
                  <a:srgbClr val="333333"/>
                </a:solidFill>
                <a:latin typeface="Fira Sans"/>
              </a:rPr>
              <a:t>Se lee sobre el procedimiento: si repitiéramos el muestreo, el 95% de los intervalos atraparía la media real. Este intervalo en particular la atrapa o no; nunca sabremos cuál de los dos.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Comprobado con la población</a:t>
            </a:r>
          </a:p>
        </p:txBody>
      </p:sp>
      <p:pic>
        <p:nvPicPr>
          <p:cNvPr id="4" name="Picture 3" descr="c5_10_cobertura.png"/>
          <p:cNvPicPr>
            <a:picLocks noChangeAspect="1"/>
          </p:cNvPicPr>
          <p:nvPr/>
        </p:nvPicPr>
        <p:blipFill>
          <a:blip r:embed="rId2"/>
          <a:stretch>
            <a:fillRect/>
          </a:stretch>
        </p:blipFill>
        <p:spPr>
          <a:xfrm>
            <a:off x="1121261" y="1143000"/>
            <a:ext cx="6901477"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100 muestras de 100 viajes, 100 intervalos: los rojos no atrapan la media. Cerca del 95% lo hace; con cola larga y n = 100, un poco menos.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4. La pendiente también se mueve</a:t>
            </a:r>
          </a:p>
        </p:txBody>
      </p:sp>
      <p:pic>
        <p:nvPicPr>
          <p:cNvPr id="4" name="Picture 3" descr="c5_23_mapa_4.png"/>
          <p:cNvPicPr>
            <a:picLocks noChangeAspect="1"/>
          </p:cNvPicPr>
          <p:nvPr/>
        </p:nvPicPr>
        <p:blipFill>
          <a:blip r:embed="rId2"/>
          <a:stretch>
            <a:fillRect/>
          </a:stretch>
        </p:blipFill>
        <p:spPr>
          <a:xfrm>
            <a:off x="699515" y="1497543"/>
            <a:ext cx="7744968" cy="2390730"/>
          </a:xfrm>
          <a:prstGeom prst="rect">
            <a:avLst/>
          </a:prstGeom>
        </p:spPr>
      </p:pic>
      <p:sp>
        <p:nvSpPr>
          <p:cNvPr id="5" name="TextBox 4"/>
          <p:cNvSpPr txBox="1"/>
          <p:nvPr/>
        </p:nvSpPr>
        <p:spPr>
          <a:xfrm>
            <a:off x="704088" y="4025432"/>
            <a:ext cx="7744968" cy="512064"/>
          </a:xfrm>
          <a:prstGeom prst="rect">
            <a:avLst/>
          </a:prstGeom>
          <a:noFill/>
        </p:spPr>
        <p:txBody>
          <a:bodyPr wrap="square">
            <a:spAutoFit/>
          </a:bodyPr>
          <a:lstStyle/>
          <a:p>
            <a:r>
              <a:rPr sz="1300" b="0">
                <a:solidFill>
                  <a:srgbClr val="333333"/>
                </a:solidFill>
                <a:latin typeface="Fira Sans"/>
              </a:rPr>
              <a:t>La pregunta pendiente: −4,8 minutos por millón, con 45 comunas. Otra muestra de comunas daría otra pendiente. ¿Cuánto se mueve?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Otra muestra, otra recta</a:t>
            </a:r>
          </a:p>
        </p:txBody>
      </p:sp>
      <p:pic>
        <p:nvPicPr>
          <p:cNvPr id="4" name="Picture 3" descr="c5_24_rectas_bootstrap.png"/>
          <p:cNvPicPr>
            <a:picLocks noChangeAspect="1"/>
          </p:cNvPicPr>
          <p:nvPr/>
        </p:nvPicPr>
        <p:blipFill>
          <a:blip r:embed="rId2"/>
          <a:stretch>
            <a:fillRect/>
          </a:stretch>
        </p:blipFill>
        <p:spPr>
          <a:xfrm>
            <a:off x="1531122" y="1143000"/>
            <a:ext cx="6081755"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No hay una población de comunas de donde sacar otra muestra. El bootstrap la imita con la muestra que hay: saca 45 comunas con reemplazo (algunas se repiten, otras quedan fuera), ajusta la recta y repite.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Remuestrear los datos</a:t>
            </a:r>
          </a:p>
        </p:txBody>
      </p:sp>
      <p:sp>
        <p:nvSpPr>
          <p:cNvPr id="4" name="Rectangle 3"/>
          <p:cNvSpPr/>
          <p:nvPr/>
        </p:nvSpPr>
        <p:spPr>
          <a:xfrm>
            <a:off x="704088" y="1280160"/>
            <a:ext cx="7744968" cy="2880360"/>
          </a:xfrm>
          <a:prstGeom prst="rect">
            <a:avLst/>
          </a:prstGeom>
          <a:solidFill>
            <a:srgbClr val="F0F2F5"/>
          </a:solidFill>
          <a:ln>
            <a:solidFill>
              <a:srgbClr val="D8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r>
              <a:rPr sz="1500" b="0">
                <a:solidFill>
                  <a:srgbClr val="1D3557"/>
                </a:solidFill>
                <a:latin typeface="Menlo"/>
              </a:rPr>
              <a:t>pendientes = []</a:t>
            </a:r>
          </a:p>
          <a:p>
            <a:pPr/>
            <a:r>
              <a:rPr sz="1500" b="0">
                <a:solidFill>
                  <a:srgbClr val="1D3557"/>
                </a:solidFill>
                <a:latin typeface="Menlo"/>
              </a:rPr>
              <a:t>for _ in range(2000):</a:t>
            </a:r>
          </a:p>
          <a:p>
            <a:pPr/>
            <a:r>
              <a:rPr sz="1500" b="0">
                <a:solidFill>
                  <a:srgbClr val="1D3557"/>
                </a:solidFill>
                <a:latin typeface="Menlo"/>
              </a:rPr>
              <a:t>    idx = rng.integers(0, 45, 45)     # 45 comunas, con reemplazo</a:t>
            </a:r>
          </a:p>
          <a:p>
            <a:pPr/>
            <a:r>
              <a:rPr sz="1500" b="0">
                <a:solidFill>
                  <a:srgbClr val="1D3557"/>
                </a:solidFill>
                <a:latin typeface="Menlo"/>
              </a:rPr>
              <a:t>    pendientes.append(np.polyfit(x[idx], y[idx], 1)[0])</a:t>
            </a:r>
          </a:p>
          <a:p>
            <a:pPr/>
            <a:r>
              <a:rPr sz="1500" b="0">
                <a:solidFill>
                  <a:srgbClr val="1D3557"/>
                </a:solidFill>
                <a:latin typeface="Menlo"/>
              </a:rPr>
              <a:t>np.percentile(pendientes, [2.5, 97.5])</a:t>
            </a:r>
          </a:p>
        </p:txBody>
      </p:sp>
      <p:sp>
        <p:nvSpPr>
          <p:cNvPr id="5" name="TextBox 4"/>
          <p:cNvSpPr txBox="1"/>
          <p:nvPr/>
        </p:nvSpPr>
        <p:spPr>
          <a:xfrm>
            <a:off x="704088" y="4389120"/>
            <a:ext cx="7744968" cy="1097280"/>
          </a:xfrm>
          <a:prstGeom prst="rect">
            <a:avLst/>
          </a:prstGeom>
          <a:noFill/>
        </p:spPr>
        <p:txBody>
          <a:bodyPr wrap="square">
            <a:spAutoFit/>
          </a:bodyPr>
          <a:lstStyle/>
          <a:p>
            <a:pPr>
              <a:lnSpc>
                <a:spcPct val="112000"/>
              </a:lnSpc>
              <a:spcAft>
                <a:spcPts val="900"/>
              </a:spcAft>
            </a:pPr>
            <a:r>
              <a:rPr sz="1600" b="1">
                <a:solidFill>
                  <a:srgbClr val="E0A437"/>
                </a:solidFill>
                <a:latin typeface="Fira Sans"/>
              </a:rPr>
              <a:t>▸ </a:t>
            </a:r>
            <a:r>
              <a:rPr sz="1600" b="0">
                <a:solidFill>
                  <a:srgbClr val="000000"/>
                </a:solidFill>
                <a:latin typeface="Fira Sans"/>
              </a:rPr>
              <a:t>Cada remuestra da una pendiente. La distribución de las 2.000 pendientes es la distribución muestral de la pendiente, estimada sin fórmulas ni supuestos.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muestral de la pendiente</a:t>
            </a:r>
          </a:p>
        </p:txBody>
      </p:sp>
      <p:pic>
        <p:nvPicPr>
          <p:cNvPr id="4" name="Picture 3" descr="c5_13_bootstrap.png"/>
          <p:cNvPicPr>
            <a:picLocks noChangeAspect="1"/>
          </p:cNvPicPr>
          <p:nvPr/>
        </p:nvPicPr>
        <p:blipFill>
          <a:blip r:embed="rId2"/>
          <a:stretch>
            <a:fillRect/>
          </a:stretch>
        </p:blipFill>
        <p:spPr>
          <a:xfrm>
            <a:off x="1372743" y="1143000"/>
            <a:ext cx="6398513"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Una campana alrededor de la pendiente observada (el TCL otra vez: un coeficiente es un promedio ponderado de los y). Su desviación es el error estándar de la pendiente, el mismo concepto que el de la media. Casi ninguna remuestra llega al 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statsmodels lo calcula con una fórmula: std err</a:t>
            </a:r>
          </a:p>
        </p:txBody>
      </p:sp>
      <p:pic>
        <p:nvPicPr>
          <p:cNvPr id="4" name="Picture 3" descr="c5_11b_summary_coef_ee.png"/>
          <p:cNvPicPr>
            <a:picLocks noChangeAspect="1"/>
          </p:cNvPicPr>
          <p:nvPr/>
        </p:nvPicPr>
        <p:blipFill>
          <a:blip r:embed="rId2"/>
          <a:stretch>
            <a:fillRect/>
          </a:stretch>
        </p:blipFill>
        <p:spPr>
          <a:xfrm>
            <a:off x="699515" y="1644161"/>
            <a:ext cx="7744968" cy="1841461"/>
          </a:xfrm>
          <a:prstGeom prst="rect">
            <a:avLst/>
          </a:prstGeom>
        </p:spPr>
      </p:pic>
      <p:sp>
        <p:nvSpPr>
          <p:cNvPr id="5" name="TextBox 4"/>
          <p:cNvSpPr txBox="1"/>
          <p:nvPr/>
        </p:nvSpPr>
        <p:spPr>
          <a:xfrm>
            <a:off x="704088" y="3622782"/>
            <a:ext cx="7744968" cy="768096"/>
          </a:xfrm>
          <a:prstGeom prst="rect">
            <a:avLst/>
          </a:prstGeom>
          <a:noFill/>
        </p:spPr>
        <p:txBody>
          <a:bodyPr wrap="square">
            <a:spAutoFit/>
          </a:bodyPr>
          <a:lstStyle/>
          <a:p>
            <a:r>
              <a:rPr sz="1300" b="0">
                <a:solidFill>
                  <a:srgbClr val="333333"/>
                </a:solidFill>
                <a:latin typeface="Fira Sans"/>
              </a:rPr>
              <a:t>Sin remuestrear, a partir de los residuos: la columna std err. El error estándar de la pendiente es 2,02, cerca del 1,8 del bootstrap. Las demás columnas se van a ir pintando a medida que lleguen sus conceptos.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de la pendiente, en el summary</a:t>
            </a:r>
          </a:p>
        </p:txBody>
      </p:sp>
      <p:pic>
        <p:nvPicPr>
          <p:cNvPr id="4" name="Picture 3" descr="c5_11a_summary_ee.png"/>
          <p:cNvPicPr>
            <a:picLocks noChangeAspect="1"/>
          </p:cNvPicPr>
          <p:nvPr/>
        </p:nvPicPr>
        <p:blipFill>
          <a:blip r:embed="rId2"/>
          <a:stretch>
            <a:fillRect/>
          </a:stretch>
        </p:blipFill>
        <p:spPr>
          <a:xfrm>
            <a:off x="699515" y="1772177"/>
            <a:ext cx="7744968" cy="1841461"/>
          </a:xfrm>
          <a:prstGeom prst="rect">
            <a:avLst/>
          </a:prstGeom>
        </p:spPr>
      </p:pic>
      <p:sp>
        <p:nvSpPr>
          <p:cNvPr id="5" name="TextBox 4"/>
          <p:cNvSpPr txBox="1"/>
          <p:nvPr/>
        </p:nvSpPr>
        <p:spPr>
          <a:xfrm>
            <a:off x="704088" y="3750798"/>
            <a:ext cx="7744968" cy="512064"/>
          </a:xfrm>
          <a:prstGeom prst="rect">
            <a:avLst/>
          </a:prstGeom>
          <a:noFill/>
        </p:spPr>
        <p:txBody>
          <a:bodyPr wrap="square">
            <a:spAutoFit/>
          </a:bodyPr>
          <a:lstStyle/>
          <a:p>
            <a:r>
              <a:rPr sz="1300" b="0">
                <a:solidFill>
                  <a:srgbClr val="333333"/>
                </a:solidFill>
                <a:latin typeface="Fira Sans"/>
              </a:rPr>
              <a:t>Las columnas [0.025 0.975]: b ± 2,02 · EE = [−8,9; −0,75]. El primer uso del error estándar, ahora para la pendiente.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intervalo de la pendiente, por dos caminos</a:t>
            </a:r>
          </a:p>
        </p:txBody>
      </p:sp>
      <p:pic>
        <p:nvPicPr>
          <p:cNvPr id="4" name="Picture 3" descr="c5_25_dos_intervalos.png"/>
          <p:cNvPicPr>
            <a:picLocks noChangeAspect="1"/>
          </p:cNvPicPr>
          <p:nvPr/>
        </p:nvPicPr>
        <p:blipFill>
          <a:blip r:embed="rId2"/>
          <a:stretch>
            <a:fillRect/>
          </a:stretch>
        </p:blipFill>
        <p:spPr>
          <a:xfrm>
            <a:off x="699515" y="1317820"/>
            <a:ext cx="7744968" cy="2494142"/>
          </a:xfrm>
          <a:prstGeom prst="rect">
            <a:avLst/>
          </a:prstGeom>
        </p:spPr>
      </p:pic>
      <p:sp>
        <p:nvSpPr>
          <p:cNvPr id="5" name="TextBox 4"/>
          <p:cNvSpPr txBox="1"/>
          <p:nvPr/>
        </p:nvSpPr>
        <p:spPr>
          <a:xfrm>
            <a:off x="704088" y="3949123"/>
            <a:ext cx="7744968" cy="768096"/>
          </a:xfrm>
          <a:prstGeom prst="rect">
            <a:avLst/>
          </a:prstGeom>
          <a:noFill/>
        </p:spPr>
        <p:txBody>
          <a:bodyPr wrap="square">
            <a:spAutoFit/>
          </a:bodyPr>
          <a:lstStyle/>
          <a:p>
            <a:r>
              <a:rPr sz="1300" b="0">
                <a:solidFill>
                  <a:srgbClr val="333333"/>
                </a:solidFill>
                <a:latin typeface="Fira Sans"/>
              </a:rPr>
              <a:t>Se parecen, y ninguno incluye el 0. El bootstrap sirve para cualquier estadístico y no necesita supuestos; la fórmula es instantánea, pero supone cosas sobre los residuos que veremos al cerrar la sección 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5. Segundo uso del error estándar: el contraste</a:t>
            </a:r>
          </a:p>
        </p:txBody>
      </p:sp>
      <p:pic>
        <p:nvPicPr>
          <p:cNvPr id="4" name="Picture 3" descr="c5_23_mapa_5.png"/>
          <p:cNvPicPr>
            <a:picLocks noChangeAspect="1"/>
          </p:cNvPicPr>
          <p:nvPr/>
        </p:nvPicPr>
        <p:blipFill>
          <a:blip r:embed="rId2"/>
          <a:stretch>
            <a:fillRect/>
          </a:stretch>
        </p:blipFill>
        <p:spPr>
          <a:xfrm>
            <a:off x="699515" y="1625559"/>
            <a:ext cx="7744968" cy="2390730"/>
          </a:xfrm>
          <a:prstGeom prst="rect">
            <a:avLst/>
          </a:prstGeom>
        </p:spPr>
      </p:pic>
      <p:sp>
        <p:nvSpPr>
          <p:cNvPr id="5" name="TextBox 4"/>
          <p:cNvSpPr txBox="1"/>
          <p:nvPr/>
        </p:nvSpPr>
        <p:spPr>
          <a:xfrm>
            <a:off x="704088" y="4153448"/>
            <a:ext cx="7744968" cy="256032"/>
          </a:xfrm>
          <a:prstGeom prst="rect">
            <a:avLst/>
          </a:prstGeom>
          <a:noFill/>
        </p:spPr>
        <p:txBody>
          <a:bodyPr wrap="square">
            <a:spAutoFit/>
          </a:bodyPr>
          <a:lstStyle/>
          <a:p>
            <a:r>
              <a:rPr sz="1300" b="0">
                <a:solidFill>
                  <a:srgbClr val="333333"/>
                </a:solidFill>
                <a:latin typeface="Fira Sans"/>
              </a:rPr>
              <a:t>Prueba de hipótesis y valor p: ¿la pendiente es real o azar?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lógica de la prueba</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Hipótesis nula H0: la pendiente real es 0, el ingreso no tiene efecto sobre la duración. Alternativa H1: no es 0.</a:t>
            </a:r>
          </a:p>
          <a:p>
            <a:pPr>
              <a:lnSpc>
                <a:spcPct val="112000"/>
              </a:lnSpc>
              <a:spcAft>
                <a:spcPts val="900"/>
              </a:spcAft>
            </a:pPr>
            <a:r>
              <a:rPr sz="1800" b="1">
                <a:solidFill>
                  <a:srgbClr val="E0A437"/>
                </a:solidFill>
                <a:latin typeface="Fira Sans"/>
              </a:rPr>
              <a:t>▸ </a:t>
            </a:r>
            <a:r>
              <a:rPr sz="1800" b="0">
                <a:solidFill>
                  <a:srgbClr val="000000"/>
                </a:solidFill>
                <a:latin typeface="Fira Sans"/>
              </a:rPr>
              <a:t>Si H0 fuera cierta, ¿qué tan raro sería obtener una pendiente como la nuestra solo por azar de qué comunas cayeron en la muestra?</a:t>
            </a:r>
          </a:p>
          <a:p>
            <a:pPr>
              <a:lnSpc>
                <a:spcPct val="112000"/>
              </a:lnSpc>
              <a:spcAft>
                <a:spcPts val="900"/>
              </a:spcAft>
            </a:pPr>
            <a:r>
              <a:rPr sz="1800" b="1">
                <a:solidFill>
                  <a:srgbClr val="E0A437"/>
                </a:solidFill>
                <a:latin typeface="Fira Sans"/>
              </a:rPr>
              <a:t>▸ </a:t>
            </a:r>
            <a:r>
              <a:rPr sz="1800" b="0">
                <a:solidFill>
                  <a:srgbClr val="000000"/>
                </a:solidFill>
                <a:latin typeface="Fira Sans"/>
              </a:rPr>
              <a:t>Es la regla del 1,96 al revés: si la real fuera 0, el 95% de las pendientes caería a menos de unos 2 errores estándar de 0. El estadístico: t = b / EE, a cuántos errores estándar del cero está b.</a:t>
            </a:r>
          </a:p>
          <a:p>
            <a:pPr>
              <a:lnSpc>
                <a:spcPct val="112000"/>
              </a:lnSpc>
              <a:spcAft>
                <a:spcPts val="900"/>
              </a:spcAft>
            </a:pPr>
            <a:r>
              <a:rPr sz="1800" b="1">
                <a:solidFill>
                  <a:srgbClr val="E0A437"/>
                </a:solidFill>
                <a:latin typeface="Fira Sans"/>
              </a:rPr>
              <a:t>▸ </a:t>
            </a:r>
            <a:r>
              <a:rPr sz="1800" b="0">
                <a:solidFill>
                  <a:srgbClr val="000000"/>
                </a:solidFill>
                <a:latin typeface="Fira Sans"/>
              </a:rPr>
              <a:t>El valor p: la probabilidad, si H0 fuera cierta, de un t así de lejos. Convención: si p &lt; 0,05, se rechaza H0 y el efecto se declara significativo.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t, en el summary</a:t>
            </a:r>
          </a:p>
        </p:txBody>
      </p:sp>
      <p:pic>
        <p:nvPicPr>
          <p:cNvPr id="4" name="Picture 3" descr="c5_11d_summary_t.png"/>
          <p:cNvPicPr>
            <a:picLocks noChangeAspect="1"/>
          </p:cNvPicPr>
          <p:nvPr/>
        </p:nvPicPr>
        <p:blipFill>
          <a:blip r:embed="rId2"/>
          <a:stretch>
            <a:fillRect/>
          </a:stretch>
        </p:blipFill>
        <p:spPr>
          <a:xfrm>
            <a:off x="699515" y="1772177"/>
            <a:ext cx="7744968" cy="1841461"/>
          </a:xfrm>
          <a:prstGeom prst="rect">
            <a:avLst/>
          </a:prstGeom>
        </p:spPr>
      </p:pic>
      <p:sp>
        <p:nvSpPr>
          <p:cNvPr id="5" name="TextBox 4"/>
          <p:cNvSpPr txBox="1"/>
          <p:nvPr/>
        </p:nvSpPr>
        <p:spPr>
          <a:xfrm>
            <a:off x="704088" y="3750798"/>
            <a:ext cx="7744968" cy="512064"/>
          </a:xfrm>
          <a:prstGeom prst="rect">
            <a:avLst/>
          </a:prstGeom>
          <a:noFill/>
        </p:spPr>
        <p:txBody>
          <a:bodyPr wrap="square">
            <a:spAutoFit/>
          </a:bodyPr>
          <a:lstStyle/>
          <a:p>
            <a:r>
              <a:rPr sz="1300" b="0">
                <a:solidFill>
                  <a:srgbClr val="333333"/>
                </a:solidFill>
                <a:latin typeface="Fira Sans"/>
              </a:rPr>
              <a:t>t = −4,81 / 2,02 = −2,39: la pendiente está a 2,4 errores estándar del cero. Falta saber qué tan raro es eso, y con qué distribución se mide.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t de Student</a:t>
            </a:r>
          </a:p>
        </p:txBody>
      </p:sp>
      <p:pic>
        <p:nvPicPr>
          <p:cNvPr id="4" name="Picture 3" descr="c5_26_t_student.png"/>
          <p:cNvPicPr>
            <a:picLocks noChangeAspect="1"/>
          </p:cNvPicPr>
          <p:nvPr/>
        </p:nvPicPr>
        <p:blipFill>
          <a:blip r:embed="rId2"/>
          <a:stretch>
            <a:fillRect/>
          </a:stretch>
        </p:blipFill>
        <p:spPr>
          <a:xfrm>
            <a:off x="1224629" y="1143000"/>
            <a:ext cx="6694741"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El error estándar se calculó con s, no con σ, y con pocos puntos esa estimación agrega incertidumbre: la distribución de t es una normal algo más ancha, con n − 2 grados de libertad. Con 45 comunas el 1,96 se vuelve 2,02; con n grande es la normal.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valor p, dibujado</a:t>
            </a:r>
          </a:p>
        </p:txBody>
      </p:sp>
      <p:pic>
        <p:nvPicPr>
          <p:cNvPr id="4" name="Picture 3" descr="c5_12_valor_p.png"/>
          <p:cNvPicPr>
            <a:picLocks noChangeAspect="1"/>
          </p:cNvPicPr>
          <p:nvPr/>
        </p:nvPicPr>
        <p:blipFill>
          <a:blip r:embed="rId2"/>
          <a:stretch>
            <a:fillRect/>
          </a:stretch>
        </p:blipFill>
        <p:spPr>
          <a:xfrm>
            <a:off x="923258" y="1143000"/>
            <a:ext cx="7297483"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La t con 43 grados de libertad, centrada en 0: lo que produciría el azar si la pendiente real fuera 0. El área dorada de las dos colas más allá del t observado es el valor 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t y p, a mano</a:t>
            </a:r>
          </a:p>
        </p:txBody>
      </p:sp>
      <p:sp>
        <p:nvSpPr>
          <p:cNvPr id="4" name="Rectangle 3"/>
          <p:cNvSpPr/>
          <p:nvPr/>
        </p:nvSpPr>
        <p:spPr>
          <a:xfrm>
            <a:off x="704088" y="1280160"/>
            <a:ext cx="7744968" cy="2880360"/>
          </a:xfrm>
          <a:prstGeom prst="rect">
            <a:avLst/>
          </a:prstGeom>
          <a:solidFill>
            <a:srgbClr val="F0F2F5"/>
          </a:solidFill>
          <a:ln>
            <a:solidFill>
              <a:srgbClr val="D8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r>
              <a:rPr sz="1500" b="0">
                <a:solidFill>
                  <a:srgbClr val="1D3557"/>
                </a:solidFill>
                <a:latin typeface="Menlo"/>
              </a:rPr>
              <a:t>b, ee = modelo.params["ingreso"], modelo.bse["ingreso"]</a:t>
            </a:r>
          </a:p>
          <a:p>
            <a:pPr/>
            <a:r>
              <a:rPr sz="1500" b="0">
                <a:solidFill>
                  <a:srgbClr val="1D3557"/>
                </a:solidFill>
                <a:latin typeface="Menlo"/>
              </a:rPr>
              <a:t>t = b / ee                                 # -2.39</a:t>
            </a:r>
          </a:p>
          <a:p>
            <a:pPr/>
            <a:r>
              <a:rPr sz="1500" b="0">
                <a:solidFill>
                  <a:srgbClr val="1D3557"/>
                </a:solidFill>
                <a:latin typeface="Menlo"/>
              </a:rPr>
              <a:t/>
            </a:r>
          </a:p>
          <a:p>
            <a:pPr/>
            <a:r>
              <a:rPr sz="1500" b="0">
                <a:solidFill>
                  <a:srgbClr val="1D3557"/>
                </a:solidFill>
                <a:latin typeface="Menlo"/>
              </a:rPr>
              <a:t># Dos colas de la t con n - 2 grados de libertad</a:t>
            </a:r>
          </a:p>
          <a:p>
            <a:pPr/>
            <a:r>
              <a:rPr sz="1500" b="0">
                <a:solidFill>
                  <a:srgbClr val="1D3557"/>
                </a:solidFill>
                <a:latin typeface="Menlo"/>
              </a:rPr>
              <a:t>p = 2 * (1 - stats.t.cdf(abs(t), df=43))   # 0.021</a:t>
            </a:r>
          </a:p>
        </p:txBody>
      </p:sp>
      <p:sp>
        <p:nvSpPr>
          <p:cNvPr id="5" name="TextBox 4"/>
          <p:cNvSpPr txBox="1"/>
          <p:nvPr/>
        </p:nvSpPr>
        <p:spPr>
          <a:xfrm>
            <a:off x="704088" y="4389120"/>
            <a:ext cx="7744968" cy="1097280"/>
          </a:xfrm>
          <a:prstGeom prst="rect">
            <a:avLst/>
          </a:prstGeom>
          <a:noFill/>
        </p:spPr>
        <p:txBody>
          <a:bodyPr wrap="square">
            <a:spAutoFit/>
          </a:bodyPr>
          <a:lstStyle/>
          <a:p>
            <a:pPr>
              <a:lnSpc>
                <a:spcPct val="112000"/>
              </a:lnSpc>
              <a:spcAft>
                <a:spcPts val="900"/>
              </a:spcAft>
            </a:pPr>
            <a:r>
              <a:rPr sz="1600" b="1">
                <a:solidFill>
                  <a:srgbClr val="E0A437"/>
                </a:solidFill>
                <a:latin typeface="Fira Sans"/>
              </a:rPr>
              <a:t>▸ </a:t>
            </a:r>
            <a:r>
              <a:rPr sz="1600" b="0">
                <a:solidFill>
                  <a:srgbClr val="000000"/>
                </a:solidFill>
                <a:latin typeface="Fira Sans"/>
              </a:rPr>
              <a:t>Lo que statsmodels imprime sale de esta cuenta: el coeficiente en unidades de su error estándar, y el área que deja en las colas.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summary completo, por fin</a:t>
            </a:r>
          </a:p>
        </p:txBody>
      </p:sp>
      <p:pic>
        <p:nvPicPr>
          <p:cNvPr id="4" name="Picture 3" descr="c5_11_summary_completo.png"/>
          <p:cNvPicPr>
            <a:picLocks noChangeAspect="1"/>
          </p:cNvPicPr>
          <p:nvPr/>
        </p:nvPicPr>
        <p:blipFill>
          <a:blip r:embed="rId2"/>
          <a:stretch>
            <a:fillRect/>
          </a:stretch>
        </p:blipFill>
        <p:spPr>
          <a:xfrm>
            <a:off x="699515" y="1772177"/>
            <a:ext cx="7744968" cy="1841461"/>
          </a:xfrm>
          <a:prstGeom prst="rect">
            <a:avLst/>
          </a:prstGeom>
        </p:spPr>
      </p:pic>
      <p:sp>
        <p:nvSpPr>
          <p:cNvPr id="5" name="TextBox 4"/>
          <p:cNvSpPr txBox="1"/>
          <p:nvPr/>
        </p:nvSpPr>
        <p:spPr>
          <a:xfrm>
            <a:off x="704088" y="3750798"/>
            <a:ext cx="7744968" cy="512064"/>
          </a:xfrm>
          <a:prstGeom prst="rect">
            <a:avLst/>
          </a:prstGeom>
          <a:noFill/>
        </p:spPr>
        <p:txBody>
          <a:bodyPr wrap="square">
            <a:spAutoFit/>
          </a:bodyPr>
          <a:lstStyle/>
          <a:p>
            <a:r>
              <a:rPr sz="1300" b="0">
                <a:solidFill>
                  <a:srgbClr val="333333"/>
                </a:solidFill>
                <a:latin typeface="Fira Sans"/>
              </a:rPr>
              <a:t>La última columna, P&gt;|t| = 0,021: si la pendiente real fuera 0, un t así de lejos ocurre el 2,1% de las veces. Las cinco columnas, pintadas: coeficiente, error estándar, intervalo, t y valor 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respuesta, y su letra chica</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La pendiente de −4,8 no parece azar: p = 0,021 y el intervalo [−8,9; −0,75] no incluye el 0. Rechazamos H0.</a:t>
            </a:r>
          </a:p>
          <a:p>
            <a:pPr>
              <a:lnSpc>
                <a:spcPct val="112000"/>
              </a:lnSpc>
              <a:spcAft>
                <a:spcPts val="900"/>
              </a:spcAft>
            </a:pPr>
            <a:r>
              <a:rPr sz="1800" b="1">
                <a:solidFill>
                  <a:srgbClr val="E0A437"/>
                </a:solidFill>
                <a:latin typeface="Fira Sans"/>
              </a:rPr>
              <a:t>▸ </a:t>
            </a:r>
            <a:r>
              <a:rPr sz="1800" b="0">
                <a:solidFill>
                  <a:srgbClr val="000000"/>
                </a:solidFill>
                <a:latin typeface="Fira Sans"/>
              </a:rPr>
              <a:t>Pero el valor p depende del efecto y del tamaño de la muestra: la motorización (18 mil hogares) tiene t = 80 y p prácticamente 0; las comunas, con 45 puntos, apenas cruzan el umbral.</a:t>
            </a:r>
          </a:p>
          <a:p>
            <a:pPr>
              <a:lnSpc>
                <a:spcPct val="112000"/>
              </a:lnSpc>
              <a:spcAft>
                <a:spcPts val="900"/>
              </a:spcAft>
            </a:pPr>
            <a:r>
              <a:rPr sz="1800" b="1">
                <a:solidFill>
                  <a:srgbClr val="E0A437"/>
                </a:solidFill>
                <a:latin typeface="Fira Sans"/>
              </a:rPr>
              <a:t>▸ </a:t>
            </a:r>
            <a:r>
              <a:rPr sz="1800" b="0">
                <a:solidFill>
                  <a:srgbClr val="000000"/>
                </a:solidFill>
                <a:latin typeface="Fira Sans"/>
              </a:rPr>
              <a:t>Significativo no es importante: el tamaño del efecto lo dice el coeficiente; su precisión, el intervalo.</a:t>
            </a:r>
          </a:p>
          <a:p>
            <a:pPr>
              <a:lnSpc>
                <a:spcPct val="112000"/>
              </a:lnSpc>
              <a:spcAft>
                <a:spcPts val="900"/>
              </a:spcAft>
            </a:pPr>
            <a:r>
              <a:rPr sz="1800" b="1">
                <a:solidFill>
                  <a:srgbClr val="E0A437"/>
                </a:solidFill>
                <a:latin typeface="Fira Sans"/>
              </a:rPr>
              <a:t>▸ </a:t>
            </a:r>
            <a:r>
              <a:rPr sz="1800" b="0">
                <a:solidFill>
                  <a:srgbClr val="000000"/>
                </a:solidFill>
                <a:latin typeface="Fira Sans"/>
              </a:rPr>
              <a:t>Correlación no es causalidad, tampoco con p pequeño: seguimos reportando asociación.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Intervalo y valor p dicen lo mismo</a:t>
            </a:r>
          </a:p>
        </p:txBody>
      </p:sp>
      <p:pic>
        <p:nvPicPr>
          <p:cNvPr id="4" name="Picture 3" descr="c5_27_ic_y_p.png"/>
          <p:cNvPicPr>
            <a:picLocks noChangeAspect="1"/>
          </p:cNvPicPr>
          <p:nvPr/>
        </p:nvPicPr>
        <p:blipFill>
          <a:blip r:embed="rId2"/>
          <a:stretch>
            <a:fillRect/>
          </a:stretch>
        </p:blipFill>
        <p:spPr>
          <a:xfrm>
            <a:off x="728204" y="1143000"/>
            <a:ext cx="7687591"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Que el intervalo no incluya el 0 y que p sea menor que 0,05 es la misma afirmación: b está a más de 2,02 errores estándar del 0. El intervalo además muestra el tamaño y la precisión del efecto; por eso se prefiere.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1: residuos independientes</a:t>
            </a:r>
          </a:p>
        </p:txBody>
      </p:sp>
      <p:pic>
        <p:nvPicPr>
          <p:cNvPr id="4" name="Picture 3" descr="c5_20_independencia.png"/>
          <p:cNvPicPr>
            <a:picLocks noChangeAspect="1"/>
          </p:cNvPicPr>
          <p:nvPr/>
        </p:nvPicPr>
        <p:blipFill>
          <a:blip r:embed="rId2"/>
          <a:stretch>
            <a:fillRect/>
          </a:stretch>
        </p:blipFill>
        <p:spPr>
          <a:xfrm>
            <a:off x="699515" y="1172212"/>
            <a:ext cx="7744968" cy="2785358"/>
          </a:xfrm>
          <a:prstGeom prst="rect">
            <a:avLst/>
          </a:prstGeom>
        </p:spPr>
      </p:pic>
      <p:sp>
        <p:nvSpPr>
          <p:cNvPr id="5" name="TextBox 4"/>
          <p:cNvSpPr txBox="1"/>
          <p:nvPr/>
        </p:nvSpPr>
        <p:spPr>
          <a:xfrm>
            <a:off x="704088" y="4094731"/>
            <a:ext cx="7744968" cy="768096"/>
          </a:xfrm>
          <a:prstGeom prst="rect">
            <a:avLst/>
          </a:prstGeom>
          <a:noFill/>
        </p:spPr>
        <p:txBody>
          <a:bodyPr wrap="square">
            <a:spAutoFit/>
          </a:bodyPr>
          <a:lstStyle/>
          <a:p>
            <a:r>
              <a:rPr sz="1300" b="0">
                <a:solidFill>
                  <a:srgbClr val="333333"/>
                </a:solidFill>
                <a:latin typeface="Fira Sans"/>
              </a:rPr>
              <a:t>El residuo de un viaje no debería decir nada del residuo de otro. En la EOD la vuelta se parece a la ida: statsmodels cuenta 102 mil viajes independientes cuando hay menos información, y el error estándar queda demasiado chico.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2: la misma varianza en todo el rango</a:t>
            </a:r>
          </a:p>
        </p:txBody>
      </p:sp>
      <p:pic>
        <p:nvPicPr>
          <p:cNvPr id="4" name="Picture 3" descr="c5_21_varianza.png"/>
          <p:cNvPicPr>
            <a:picLocks noChangeAspect="1"/>
          </p:cNvPicPr>
          <p:nvPr/>
        </p:nvPicPr>
        <p:blipFill>
          <a:blip r:embed="rId2"/>
          <a:stretch>
            <a:fillRect/>
          </a:stretch>
        </p:blipFill>
        <p:spPr>
          <a:xfrm>
            <a:off x="699515" y="1425666"/>
            <a:ext cx="7744968" cy="2534483"/>
          </a:xfrm>
          <a:prstGeom prst="rect">
            <a:avLst/>
          </a:prstGeom>
        </p:spPr>
      </p:pic>
      <p:sp>
        <p:nvSpPr>
          <p:cNvPr id="5" name="TextBox 4"/>
          <p:cNvSpPr txBox="1"/>
          <p:nvPr/>
        </p:nvSpPr>
        <p:spPr>
          <a:xfrm>
            <a:off x="704088" y="4097309"/>
            <a:ext cx="7744968" cy="512064"/>
          </a:xfrm>
          <a:prstGeom prst="rect">
            <a:avLst/>
          </a:prstGeom>
          <a:noFill/>
        </p:spPr>
        <p:txBody>
          <a:bodyPr wrap="square">
            <a:spAutoFit/>
          </a:bodyPr>
          <a:lstStyle/>
          <a:p>
            <a:r>
              <a:rPr sz="1300" b="0">
                <a:solidFill>
                  <a:srgbClr val="333333"/>
                </a:solidFill>
                <a:latin typeface="Fira Sans"/>
              </a:rPr>
              <a:t>Si la dispersión de los residuos crece con x, el error estándar queda mal calculado. Otra razón del log de la clase 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Supuesto 3: la normalidad</a:t>
            </a:r>
          </a:p>
        </p:txBody>
      </p:sp>
      <p:pic>
        <p:nvPicPr>
          <p:cNvPr id="4" name="Picture 3" descr="c5_22_normalidad.png"/>
          <p:cNvPicPr>
            <a:picLocks noChangeAspect="1"/>
          </p:cNvPicPr>
          <p:nvPr/>
        </p:nvPicPr>
        <p:blipFill>
          <a:blip r:embed="rId2"/>
          <a:stretch>
            <a:fillRect/>
          </a:stretch>
        </p:blipFill>
        <p:spPr>
          <a:xfrm>
            <a:off x="699515" y="1288462"/>
            <a:ext cx="7744968" cy="2552859"/>
          </a:xfrm>
          <a:prstGeom prst="rect">
            <a:avLst/>
          </a:prstGeom>
        </p:spPr>
      </p:pic>
      <p:sp>
        <p:nvSpPr>
          <p:cNvPr id="5" name="TextBox 4"/>
          <p:cNvSpPr txBox="1"/>
          <p:nvPr/>
        </p:nvSpPr>
        <p:spPr>
          <a:xfrm>
            <a:off x="704088" y="3978481"/>
            <a:ext cx="7744968" cy="768096"/>
          </a:xfrm>
          <a:prstGeom prst="rect">
            <a:avLst/>
          </a:prstGeom>
          <a:noFill/>
        </p:spPr>
        <p:txBody>
          <a:bodyPr wrap="square">
            <a:spAutoFit/>
          </a:bodyPr>
          <a:lstStyle/>
          <a:p>
            <a:r>
              <a:rPr sz="1300" b="0">
                <a:solidFill>
                  <a:srgbClr val="333333"/>
                </a:solidFill>
                <a:latin typeface="Fira Sans"/>
              </a:rPr>
              <a:t>No se supone que las variables sean normales. Con n chico, como las 45 comunas, se supone que los residuos lo son; con n grande el TCL hace el trabajo, porque un coeficiente es un promedio ponderado de los y. Lo que daña son las colas largas y los atípicos.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6. La trampa de las comparaciones múltiples</a:t>
            </a:r>
          </a:p>
          <a:p>
            <a:r>
              <a:rPr sz="1800" b="0">
                <a:solidFill>
                  <a:srgbClr val="E0A437"/>
                </a:solidFill>
                <a:latin typeface="Fira Sans"/>
              </a:rPr>
              <a:t>Qué pasa con el valor p cuando se prueba de todo</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20 variables de puro ruido</a:t>
            </a:r>
          </a:p>
        </p:txBody>
      </p:sp>
      <p:pic>
        <p:nvPicPr>
          <p:cNvPr id="4" name="Picture 3" descr="c5_14_comparaciones_multiples.png"/>
          <p:cNvPicPr>
            <a:picLocks noChangeAspect="1"/>
          </p:cNvPicPr>
          <p:nvPr/>
        </p:nvPicPr>
        <p:blipFill>
          <a:blip r:embed="rId2"/>
          <a:stretch>
            <a:fillRect/>
          </a:stretch>
        </p:blipFill>
        <p:spPr>
          <a:xfrm>
            <a:off x="1135127" y="1143000"/>
            <a:ext cx="6873745"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Números al azar, sin relación con nada, probados contra la duración por comuna: con 20 intentos y umbral 0,05 se espera una falsa alarma. Es lo que pasa al recorrer una matriz de correlación buscando la que dé.</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Reglas para el EDA del proyecto</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Reportar cuántas pruebas se hicieron; un hallazgo aislado entre muchos intentos merece desconfianza.</a:t>
            </a:r>
          </a:p>
          <a:p>
            <a:pPr>
              <a:lnSpc>
                <a:spcPct val="112000"/>
              </a:lnSpc>
              <a:spcAft>
                <a:spcPts val="900"/>
              </a:spcAft>
            </a:pPr>
            <a:r>
              <a:rPr sz="1800" b="1">
                <a:solidFill>
                  <a:srgbClr val="E0A437"/>
                </a:solidFill>
                <a:latin typeface="Fira Sans"/>
              </a:rPr>
              <a:t>▸ </a:t>
            </a:r>
            <a:r>
              <a:rPr sz="1800" b="0">
                <a:solidFill>
                  <a:srgbClr val="000000"/>
                </a:solidFill>
                <a:latin typeface="Fira Sans"/>
              </a:rPr>
              <a:t>La corrección más simple, Bonferroni: dividir el umbral por el número de pruebas (0,05 / 20 = 0,0025).</a:t>
            </a:r>
          </a:p>
          <a:p>
            <a:pPr>
              <a:lnSpc>
                <a:spcPct val="112000"/>
              </a:lnSpc>
              <a:spcAft>
                <a:spcPts val="900"/>
              </a:spcAft>
            </a:pPr>
            <a:r>
              <a:rPr sz="1800" b="1">
                <a:solidFill>
                  <a:srgbClr val="E0A437"/>
                </a:solidFill>
                <a:latin typeface="Fira Sans"/>
              </a:rPr>
              <a:t>▸ </a:t>
            </a:r>
            <a:r>
              <a:rPr sz="1800" b="0">
                <a:solidFill>
                  <a:srgbClr val="000000"/>
                </a:solidFill>
                <a:latin typeface="Fira Sans"/>
              </a:rPr>
              <a:t>Preferir el intervalo de confianza al valor p: muestra el tamaño del efecto y su precisión.</a:t>
            </a:r>
          </a:p>
          <a:p>
            <a:pPr>
              <a:lnSpc>
                <a:spcPct val="112000"/>
              </a:lnSpc>
              <a:spcAft>
                <a:spcPts val="900"/>
              </a:spcAft>
            </a:pPr>
            <a:r>
              <a:rPr sz="1800" b="1">
                <a:solidFill>
                  <a:srgbClr val="E0A437"/>
                </a:solidFill>
                <a:latin typeface="Fira Sans"/>
              </a:rPr>
              <a:t>▸ </a:t>
            </a:r>
            <a:r>
              <a:rPr sz="1800" b="0">
                <a:solidFill>
                  <a:srgbClr val="000000"/>
                </a:solidFill>
                <a:latin typeface="Fira Sans"/>
              </a:rPr>
              <a:t>Significativo no es importante, y correlación no es causalidad.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7. Otro modelo, el mismo lector</a:t>
            </a:r>
          </a:p>
          <a:p>
            <a:r>
              <a:rPr sz="1800" b="0">
                <a:solidFill>
                  <a:srgbClr val="E0A437"/>
                </a:solidFill>
                <a:latin typeface="Fira Sans"/>
              </a:rPr>
              <a:t>¿Qué hogares tienen auto? Explicar un sí o no con el ingreso del hogar: la regresión logística, y con ella, clasificar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distribución de un sí o no: Bernoulli y binomial</a:t>
            </a:r>
          </a:p>
        </p:txBody>
      </p:sp>
      <p:pic>
        <p:nvPicPr>
          <p:cNvPr id="4" name="Picture 3" descr="c5_04_binomial.png"/>
          <p:cNvPicPr>
            <a:picLocks noChangeAspect="1"/>
          </p:cNvPicPr>
          <p:nvPr/>
        </p:nvPicPr>
        <p:blipFill>
          <a:blip r:embed="rId2"/>
          <a:stretch>
            <a:fillRect/>
          </a:stretch>
        </p:blipFill>
        <p:spPr>
          <a:xfrm>
            <a:off x="991463" y="1143000"/>
            <a:ext cx="7161072"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Tener auto es un sí o no con probabilidad p: una Bernoulli. Contar los síes en n intentos da la binomial, y cada barra sale de su fórmula. La logística modela esa p según el ingreso.</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recta no sirve para un sí o no</a:t>
            </a:r>
          </a:p>
        </p:txBody>
      </p:sp>
      <p:pic>
        <p:nvPicPr>
          <p:cNvPr id="4" name="Picture 3" descr="c5_15_recta_vs_logistica.png"/>
          <p:cNvPicPr>
            <a:picLocks noChangeAspect="1"/>
          </p:cNvPicPr>
          <p:nvPr/>
        </p:nvPicPr>
        <p:blipFill>
          <a:blip r:embed="rId2"/>
          <a:stretch>
            <a:fillRect/>
          </a:stretch>
        </p:blipFill>
        <p:spPr>
          <a:xfrm>
            <a:off x="1267479" y="1143000"/>
            <a:ext cx="6609041" cy="3099816"/>
          </a:xfrm>
          <a:prstGeom prst="rect">
            <a:avLst/>
          </a:prstGeom>
        </p:spPr>
      </p:pic>
      <p:sp>
        <p:nvSpPr>
          <p:cNvPr id="5" name="TextBox 4"/>
          <p:cNvSpPr txBox="1"/>
          <p:nvPr/>
        </p:nvSpPr>
        <p:spPr>
          <a:xfrm>
            <a:off x="704088" y="4379976"/>
            <a:ext cx="7744968" cy="512064"/>
          </a:xfrm>
          <a:prstGeom prst="rect">
            <a:avLst/>
          </a:prstGeom>
          <a:noFill/>
        </p:spPr>
        <p:txBody>
          <a:bodyPr wrap="square">
            <a:spAutoFit/>
          </a:bodyPr>
          <a:lstStyle/>
          <a:p>
            <a:r>
              <a:rPr sz="1300" b="0">
                <a:solidFill>
                  <a:srgbClr val="333333"/>
                </a:solidFill>
                <a:latin typeface="Fira Sans"/>
              </a:rPr>
              <a:t>Sobre un 0/1, la recta predice 1,39 a los 5 millones y valores negativos abajo: no respeta que la respuesta vive entre 0 y 1. La logística pasa la recta por una S y queda siempre en el rango.</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regresión logística</a:t>
            </a:r>
          </a:p>
        </p:txBody>
      </p:sp>
      <p:pic>
        <p:nvPicPr>
          <p:cNvPr id="4" name="Picture 3" descr="c5_16_formula_logistica.png"/>
          <p:cNvPicPr>
            <a:picLocks noChangeAspect="1"/>
          </p:cNvPicPr>
          <p:nvPr/>
        </p:nvPicPr>
        <p:blipFill>
          <a:blip r:embed="rId2"/>
          <a:stretch>
            <a:fillRect/>
          </a:stretch>
        </p:blipFill>
        <p:spPr>
          <a:xfrm>
            <a:off x="699515" y="1234813"/>
            <a:ext cx="7744968" cy="2916190"/>
          </a:xfrm>
          <a:prstGeom prst="rect">
            <a:avLst/>
          </a:prstGeom>
        </p:spPr>
      </p:pic>
      <p:sp>
        <p:nvSpPr>
          <p:cNvPr id="5" name="TextBox 4"/>
          <p:cNvSpPr txBox="1"/>
          <p:nvPr/>
        </p:nvSpPr>
        <p:spPr>
          <a:xfrm>
            <a:off x="704088" y="4288162"/>
            <a:ext cx="7744968" cy="512064"/>
          </a:xfrm>
          <a:prstGeom prst="rect">
            <a:avLst/>
          </a:prstGeom>
          <a:noFill/>
        </p:spPr>
        <p:txBody>
          <a:bodyPr wrap="square">
            <a:spAutoFit/>
          </a:bodyPr>
          <a:lstStyle/>
          <a:p>
            <a:r>
              <a:rPr sz="1300" b="0">
                <a:solidFill>
                  <a:srgbClr val="333333"/>
                </a:solidFill>
                <a:latin typeface="Fira Sans"/>
              </a:rPr>
              <a:t>La misma recta a + b·x, pero dentro de la sigmoide. La respuesta es una Bernoulli (la binomial con n = 1) cuya probabilidad depende de x.</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La logística en statsmodels</a:t>
            </a:r>
          </a:p>
        </p:txBody>
      </p:sp>
      <p:sp>
        <p:nvSpPr>
          <p:cNvPr id="4" name="Rectangle 3"/>
          <p:cNvSpPr/>
          <p:nvPr/>
        </p:nvSpPr>
        <p:spPr>
          <a:xfrm>
            <a:off x="704088" y="1280160"/>
            <a:ext cx="7744968" cy="2880360"/>
          </a:xfrm>
          <a:prstGeom prst="rect">
            <a:avLst/>
          </a:prstGeom>
          <a:solidFill>
            <a:srgbClr val="F0F2F5"/>
          </a:solidFill>
          <a:ln>
            <a:solidFill>
              <a:srgbClr val="D8DDE3"/>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r>
              <a:rPr sz="1500" b="0">
                <a:solidFill>
                  <a:srgbClr val="1D3557"/>
                </a:solidFill>
                <a:latin typeface="Menlo"/>
              </a:rPr>
              <a:t>logistica = sm.GLM(h["tiene_auto"], sm.add_constant(ingreso),</a:t>
            </a:r>
          </a:p>
          <a:p>
            <a:pPr/>
            <a:r>
              <a:rPr sz="1500" b="0">
                <a:solidFill>
                  <a:srgbClr val="1D3557"/>
                </a:solidFill>
                <a:latin typeface="Menlo"/>
              </a:rPr>
              <a:t>                   family=sm.families.Binomial(),</a:t>
            </a:r>
          </a:p>
          <a:p>
            <a:pPr/>
            <a:r>
              <a:rPr sz="1500" b="0">
                <a:solidFill>
                  <a:srgbClr val="1D3557"/>
                </a:solidFill>
                <a:latin typeface="Menlo"/>
              </a:rPr>
              <a:t>                   freq_weights=h["Factor"]).fit()</a:t>
            </a:r>
          </a:p>
          <a:p>
            <a:pPr/>
            <a:r>
              <a:rPr sz="1500" b="0">
                <a:solidFill>
                  <a:srgbClr val="1D3557"/>
                </a:solidFill>
                <a:latin typeface="Menlo"/>
              </a:rPr>
              <a:t/>
            </a:r>
          </a:p>
          <a:p>
            <a:pPr/>
            <a:r>
              <a:rPr sz="1500" b="0">
                <a:solidFill>
                  <a:srgbClr val="1D3557"/>
                </a:solidFill>
                <a:latin typeface="Menlo"/>
              </a:rPr>
              <a:t>np.exp(logistica.params["IngresoHogar"])   # 8.9</a:t>
            </a:r>
          </a:p>
        </p:txBody>
      </p:sp>
      <p:sp>
        <p:nvSpPr>
          <p:cNvPr id="5" name="TextBox 4"/>
          <p:cNvSpPr txBox="1"/>
          <p:nvPr/>
        </p:nvSpPr>
        <p:spPr>
          <a:xfrm>
            <a:off x="704088" y="4389120"/>
            <a:ext cx="7744968" cy="1097280"/>
          </a:xfrm>
          <a:prstGeom prst="rect">
            <a:avLst/>
          </a:prstGeom>
          <a:noFill/>
        </p:spPr>
        <p:txBody>
          <a:bodyPr wrap="square">
            <a:spAutoFit/>
          </a:bodyPr>
          <a:lstStyle/>
          <a:p>
            <a:pPr>
              <a:lnSpc>
                <a:spcPct val="112000"/>
              </a:lnSpc>
              <a:spcAft>
                <a:spcPts val="900"/>
              </a:spcAft>
            </a:pPr>
            <a:r>
              <a:rPr sz="1600" b="1">
                <a:solidFill>
                  <a:srgbClr val="E0A437"/>
                </a:solidFill>
                <a:latin typeface="Fira Sans"/>
              </a:rPr>
              <a:t>▸ </a:t>
            </a:r>
            <a:r>
              <a:rPr sz="1600" b="0">
                <a:solidFill>
                  <a:srgbClr val="000000"/>
                </a:solidFill>
                <a:latin typeface="Fira Sans"/>
              </a:rPr>
              <a:t>GLM con familia binomial, ponderado con el factor. Lectura multiplicativa, como el log de la clase 4: cada millón multiplica las chances de tener auto por 8,9.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El mismo summary, las mismas columnas</a:t>
            </a:r>
          </a:p>
        </p:txBody>
      </p:sp>
      <p:pic>
        <p:nvPicPr>
          <p:cNvPr id="4" name="Picture 3" descr="c5_28_summary_logistica.png"/>
          <p:cNvPicPr>
            <a:picLocks noChangeAspect="1"/>
          </p:cNvPicPr>
          <p:nvPr/>
        </p:nvPicPr>
        <p:blipFill>
          <a:blip r:embed="rId2"/>
          <a:stretch>
            <a:fillRect/>
          </a:stretch>
        </p:blipFill>
        <p:spPr>
          <a:xfrm>
            <a:off x="699515" y="1651674"/>
            <a:ext cx="7744968" cy="1826435"/>
          </a:xfrm>
          <a:prstGeom prst="rect">
            <a:avLst/>
          </a:prstGeom>
        </p:spPr>
      </p:pic>
      <p:sp>
        <p:nvSpPr>
          <p:cNvPr id="5" name="TextBox 4"/>
          <p:cNvSpPr txBox="1"/>
          <p:nvPr/>
        </p:nvSpPr>
        <p:spPr>
          <a:xfrm>
            <a:off x="704088" y="3615269"/>
            <a:ext cx="7744968" cy="768096"/>
          </a:xfrm>
          <a:prstGeom prst="rect">
            <a:avLst/>
          </a:prstGeom>
          <a:noFill/>
        </p:spPr>
        <p:txBody>
          <a:bodyPr wrap="square">
            <a:spAutoFit/>
          </a:bodyPr>
          <a:lstStyle/>
          <a:p>
            <a:r>
              <a:rPr sz="1300" b="0">
                <a:solidFill>
                  <a:srgbClr val="333333"/>
                </a:solidFill>
                <a:latin typeface="Fira Sans"/>
              </a:rPr>
              <a:t>Las mismas columnas y la misma lectura de la sección 5. Letra chica: el error estándar es minúsculo porque freq_weights cuenta cada hogar tantas veces como su factor, como si fueran 2 millones de hogares y no 18 mil; los coeficientes están bien, ese z no.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Clasificar: de la probabilidad a la decisión</a:t>
            </a:r>
          </a:p>
        </p:txBody>
      </p:sp>
      <p:pic>
        <p:nvPicPr>
          <p:cNvPr id="4" name="Picture 3" descr="c5_17_clasificacion.png"/>
          <p:cNvPicPr>
            <a:picLocks noChangeAspect="1"/>
          </p:cNvPicPr>
          <p:nvPr/>
        </p:nvPicPr>
        <p:blipFill>
          <a:blip r:embed="rId2"/>
          <a:stretch>
            <a:fillRect/>
          </a:stretch>
        </p:blipFill>
        <p:spPr>
          <a:xfrm>
            <a:off x="1390340" y="1143000"/>
            <a:ext cx="6363318" cy="2843784"/>
          </a:xfrm>
          <a:prstGeom prst="rect">
            <a:avLst/>
          </a:prstGeom>
        </p:spPr>
      </p:pic>
      <p:sp>
        <p:nvSpPr>
          <p:cNvPr id="5" name="TextBox 4"/>
          <p:cNvSpPr txBox="1"/>
          <p:nvPr/>
        </p:nvSpPr>
        <p:spPr>
          <a:xfrm>
            <a:off x="704088" y="4123944"/>
            <a:ext cx="7744968" cy="768096"/>
          </a:xfrm>
          <a:prstGeom prst="rect">
            <a:avLst/>
          </a:prstGeom>
          <a:noFill/>
        </p:spPr>
        <p:txBody>
          <a:bodyPr wrap="square">
            <a:spAutoFit/>
          </a:bodyPr>
          <a:lstStyle/>
          <a:p>
            <a:r>
              <a:rPr sz="1300" b="0">
                <a:solidFill>
                  <a:srgbClr val="333333"/>
                </a:solidFill>
                <a:latin typeface="Fira Sans"/>
              </a:rPr>
              <a:t>Predecir "tiene auto" cuando P supera 0,5 (desde 0,86 millones). Acierta el 70%, contra el 61% de decir siempre "no": la comparación con la base es obligatoria. Dónde se equivoca lo dice la matriz de confusión (un crosstab).</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Síntesis</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1">
                <a:solidFill>
                  <a:srgbClr val="1D3557"/>
                </a:solidFill>
                <a:latin typeface="Fira Sans"/>
              </a:rPr>
              <a:t>Todo número que sale de una muestra se mueve de muestra en muestra; el error estándar mide cuánto.</a:t>
            </a:r>
          </a:p>
          <a:p>
            <a:pPr>
              <a:lnSpc>
                <a:spcPct val="112000"/>
              </a:lnSpc>
              <a:spcAft>
                <a:spcPts val="900"/>
              </a:spcAft>
            </a:pPr>
            <a:r>
              <a:rPr sz="1800" b="1">
                <a:solidFill>
                  <a:srgbClr val="E0A437"/>
                </a:solidFill>
                <a:latin typeface="Fira Sans"/>
              </a:rPr>
              <a:t>▸ </a:t>
            </a:r>
            <a:r>
              <a:rPr sz="1800" b="0">
                <a:solidFill>
                  <a:srgbClr val="000000"/>
                </a:solidFill>
                <a:latin typeface="Fira Sans"/>
              </a:rPr>
              <a:t>Primer uso: el intervalo, estimación ± 2 EE, atrapa el valor real el 95% de las veces.</a:t>
            </a:r>
          </a:p>
          <a:p>
            <a:pPr>
              <a:lnSpc>
                <a:spcPct val="112000"/>
              </a:lnSpc>
              <a:spcAft>
                <a:spcPts val="900"/>
              </a:spcAft>
            </a:pPr>
            <a:r>
              <a:rPr sz="1800" b="1">
                <a:solidFill>
                  <a:srgbClr val="E0A437"/>
                </a:solidFill>
                <a:latin typeface="Fira Sans"/>
              </a:rPr>
              <a:t>▸ </a:t>
            </a:r>
            <a:r>
              <a:rPr sz="1800" b="0">
                <a:solidFill>
                  <a:srgbClr val="000000"/>
                </a:solidFill>
                <a:latin typeface="Fira Sans"/>
              </a:rPr>
              <a:t>Segundo uso: la prueba, t = b / EE y el valor p. La pendiente de −4,8: p = 0,021, real.</a:t>
            </a:r>
          </a:p>
          <a:p>
            <a:pPr>
              <a:lnSpc>
                <a:spcPct val="112000"/>
              </a:lnSpc>
              <a:spcAft>
                <a:spcPts val="900"/>
              </a:spcAft>
            </a:pPr>
            <a:r>
              <a:rPr sz="1800" b="1">
                <a:solidFill>
                  <a:srgbClr val="E0A437"/>
                </a:solidFill>
                <a:latin typeface="Fira Sans"/>
              </a:rPr>
              <a:t>▸ </a:t>
            </a:r>
            <a:r>
              <a:rPr sz="1800" b="0">
                <a:solidFill>
                  <a:srgbClr val="000000"/>
                </a:solidFill>
                <a:latin typeface="Fira Sans"/>
              </a:rPr>
              <a:t>El bootstrap da lo mismo remuestreando, sin fórmulas; la logística usa el mismo summary para un sí o no.</a:t>
            </a:r>
          </a:p>
          <a:p>
            <a:pPr>
              <a:lnSpc>
                <a:spcPct val="112000"/>
              </a:lnSpc>
              <a:spcAft>
                <a:spcPts val="900"/>
              </a:spcAft>
            </a:pPr>
            <a:r>
              <a:rPr sz="1800" b="1">
                <a:solidFill>
                  <a:srgbClr val="E0A437"/>
                </a:solidFill>
                <a:latin typeface="Fira Sans"/>
              </a:rPr>
              <a:t>▸ </a:t>
            </a:r>
            <a:r>
              <a:rPr sz="1800" b="1">
                <a:solidFill>
                  <a:srgbClr val="1D3557"/>
                </a:solidFill>
                <a:latin typeface="Fira Sans"/>
              </a:rPr>
              <a:t>Para el EDA del lunes 15: intervalos, y cuidado con probar de todo.</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1847088"/>
            <a:ext cx="7946136" cy="1399032"/>
          </a:xfrm>
          <a:prstGeom prst="rect">
            <a:avLst/>
          </a:prstGeom>
          <a:noFill/>
        </p:spPr>
        <p:txBody>
          <a:bodyPr wrap="square">
            <a:spAutoFit/>
          </a:bodyPr>
          <a:lstStyle/>
          <a:p>
            <a:r>
              <a:rPr sz="3400" b="1">
                <a:solidFill>
                  <a:srgbClr val="FFFFFF"/>
                </a:solidFill>
                <a:latin typeface="Fira Sans"/>
              </a:rPr>
              <a:t>Recreo</a:t>
            </a:r>
          </a:p>
          <a:p>
            <a:r>
              <a:rPr sz="1800" b="0">
                <a:solidFill>
                  <a:srgbClr val="E0A437"/>
                </a:solidFill>
                <a:latin typeface="Fira Sans"/>
              </a:rPr>
              <a:t>10 minutos · al volver: manos al teclado, con el notebook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Próxima clase</a:t>
            </a:r>
          </a:p>
        </p:txBody>
      </p:sp>
      <p:sp>
        <p:nvSpPr>
          <p:cNvPr id="4" name="TextBox 3"/>
          <p:cNvSpPr txBox="1"/>
          <p:nvPr/>
        </p:nvSpPr>
        <p:spPr>
          <a:xfrm>
            <a:off x="704088" y="1353312"/>
            <a:ext cx="7744968" cy="3300984"/>
          </a:xfrm>
          <a:prstGeom prst="rect">
            <a:avLst/>
          </a:prstGeom>
          <a:noFill/>
        </p:spPr>
        <p:txBody>
          <a:bodyPr wrap="square">
            <a:spAutoFit/>
          </a:bodyPr>
          <a:lstStyle/>
          <a:p>
            <a:pPr>
              <a:lnSpc>
                <a:spcPct val="112000"/>
              </a:lnSpc>
              <a:spcAft>
                <a:spcPts val="900"/>
              </a:spcAft>
            </a:pPr>
            <a:r>
              <a:rPr sz="1800" b="1">
                <a:solidFill>
                  <a:srgbClr val="E0A437"/>
                </a:solidFill>
                <a:latin typeface="Fira Sans"/>
              </a:rPr>
              <a:t>▸ </a:t>
            </a:r>
            <a:r>
              <a:rPr sz="1800" b="0">
                <a:solidFill>
                  <a:srgbClr val="000000"/>
                </a:solidFill>
                <a:latin typeface="Fira Sans"/>
              </a:rPr>
              <a:t>Jueves 10: regresión lineal en profundidad: supuestos, diagnósticos con los residuos y evaluación fuera de la muestra.</a:t>
            </a:r>
          </a:p>
          <a:p>
            <a:pPr>
              <a:lnSpc>
                <a:spcPct val="112000"/>
              </a:lnSpc>
              <a:spcAft>
                <a:spcPts val="900"/>
              </a:spcAft>
            </a:pPr>
            <a:r>
              <a:rPr sz="1800" b="1">
                <a:solidFill>
                  <a:srgbClr val="E0A437"/>
                </a:solidFill>
                <a:latin typeface="Fira Sans"/>
              </a:rPr>
              <a:t>▸ </a:t>
            </a:r>
            <a:r>
              <a:rPr sz="1800" b="0">
                <a:solidFill>
                  <a:srgbClr val="000000"/>
                </a:solidFill>
                <a:latin typeface="Fira Sans"/>
              </a:rPr>
              <a:t>Con lo de hoy ya se puede leer completo el summary de cualquier modelo.</a:t>
            </a:r>
          </a:p>
          <a:p>
            <a:pPr>
              <a:lnSpc>
                <a:spcPct val="112000"/>
              </a:lnSpc>
              <a:spcAft>
                <a:spcPts val="900"/>
              </a:spcAft>
            </a:pPr>
            <a:r>
              <a:rPr sz="1800" b="1">
                <a:solidFill>
                  <a:srgbClr val="E0A437"/>
                </a:solidFill>
                <a:latin typeface="Fira Sans"/>
              </a:rPr>
              <a:t>▸ </a:t>
            </a:r>
            <a:r>
              <a:rPr sz="1800" b="1">
                <a:solidFill>
                  <a:srgbClr val="1D3557"/>
                </a:solidFill>
                <a:latin typeface="Fira Sans"/>
              </a:rPr>
              <a:t>El primer análisis exploratorio se entrega el lunes 15.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02336" y="301752"/>
            <a:ext cx="8348472" cy="795528"/>
          </a:xfrm>
          <a:prstGeom prst="rect">
            <a:avLst/>
          </a:prstGeom>
          <a:noFill/>
        </p:spPr>
        <p:txBody>
          <a:bodyPr wrap="square">
            <a:spAutoFit/>
          </a:bodyPr>
          <a:lstStyle/>
          <a:p>
            <a:r>
              <a:rPr sz="2800" b="1">
                <a:solidFill>
                  <a:srgbClr val="0F0F0F"/>
                </a:solidFill>
                <a:latin typeface="Fira Sans"/>
              </a:rPr>
              <a:t>Referencias</a:t>
            </a:r>
          </a:p>
        </p:txBody>
      </p:sp>
      <p:sp>
        <p:nvSpPr>
          <p:cNvPr id="4" name="TextBox 3"/>
          <p:cNvSpPr txBox="1"/>
          <p:nvPr/>
        </p:nvSpPr>
        <p:spPr>
          <a:xfrm>
            <a:off x="704088" y="1234440"/>
            <a:ext cx="7744968" cy="3566160"/>
          </a:xfrm>
          <a:prstGeom prst="rect">
            <a:avLst/>
          </a:prstGeom>
          <a:noFill/>
        </p:spPr>
        <p:txBody>
          <a:bodyPr wrap="square">
            <a:spAutoFit/>
          </a:bodyPr>
          <a:lstStyle/>
          <a:p>
            <a:pPr>
              <a:lnSpc>
                <a:spcPct val="115000"/>
              </a:lnSpc>
              <a:spcAft>
                <a:spcPts val="700"/>
              </a:spcAft>
            </a:pPr>
            <a:r>
              <a:rPr sz="1300" b="0">
                <a:solidFill>
                  <a:srgbClr val="333333"/>
                </a:solidFill>
                <a:latin typeface="Fira Sans"/>
              </a:rPr>
              <a:t>Efron, B. y Tibshirani, R. J. (1993). An Introduction to the Bootstrap. Chapman &amp; Hall.</a:t>
            </a:r>
          </a:p>
          <a:p>
            <a:pPr>
              <a:lnSpc>
                <a:spcPct val="115000"/>
              </a:lnSpc>
              <a:spcAft>
                <a:spcPts val="700"/>
              </a:spcAft>
            </a:pPr>
            <a:r>
              <a:rPr sz="1300" b="0">
                <a:solidFill>
                  <a:srgbClr val="333333"/>
                </a:solidFill>
                <a:latin typeface="Fira Sans"/>
              </a:rPr>
              <a:t>Wasserstein, R. L. y Lazar, N. A. (2016). The ASA Statement on p-Values: Context, Process, and Purpose. The American Statistician, 70(2), 129-133.</a:t>
            </a:r>
          </a:p>
          <a:p>
            <a:pPr>
              <a:lnSpc>
                <a:spcPct val="115000"/>
              </a:lnSpc>
              <a:spcAft>
                <a:spcPts val="700"/>
              </a:spcAft>
            </a:pPr>
            <a:r>
              <a:rPr sz="1300" b="0">
                <a:solidFill>
                  <a:srgbClr val="333333"/>
                </a:solidFill>
                <a:latin typeface="Fira Sans"/>
              </a:rPr>
              <a:t>VanderPlas, J. (2016). Python Data Science Handbook. O'Reilly.</a:t>
            </a:r>
          </a:p>
          <a:p>
            <a:pPr>
              <a:lnSpc>
                <a:spcPct val="115000"/>
              </a:lnSpc>
              <a:spcAft>
                <a:spcPts val="700"/>
              </a:spcAft>
            </a:pPr>
            <a:r>
              <a:rPr sz="1300" b="0">
                <a:solidFill>
                  <a:srgbClr val="333333"/>
                </a:solidFill>
                <a:latin typeface="Fira Sans"/>
              </a:rPr>
              <a:t>Datos: Encuesta Origen Destino Santiago 2012 (Sectra).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
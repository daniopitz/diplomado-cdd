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3B4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4088" y="1252728"/>
            <a:ext cx="7744968" cy="1298448"/>
          </a:xfrm>
          <a:prstGeom prst="rect">
            <a:avLst/>
          </a:prstGeom>
          <a:noFill/>
        </p:spPr>
        <p:txBody>
          <a:bodyPr wrap="square">
            <a:spAutoFit/>
          </a:bodyPr>
          <a:lstStyle/>
          <a:p>
            <a:r>
              <a:rPr sz="4200" b="1">
                <a:solidFill>
                  <a:srgbClr val="FFFFFF"/>
                </a:solidFill>
                <a:latin typeface="Fira Sans"/>
              </a:rPr>
              <a:t>Introducción y fundamentos estadísticos</a:t>
            </a:r>
          </a:p>
        </p:txBody>
      </p:sp>
      <p:sp>
        <p:nvSpPr>
          <p:cNvPr id="4" name="Rectangle 3"/>
          <p:cNvSpPr/>
          <p:nvPr/>
        </p:nvSpPr>
        <p:spPr>
          <a:xfrm>
            <a:off x="1975104" y="2651760"/>
            <a:ext cx="5202936" cy="521207"/>
          </a:xfrm>
          <a:prstGeom prst="rect">
            <a:avLst/>
          </a:prstGeom>
          <a:solidFill>
            <a:srgbClr val="E0A4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1D3557"/>
                </a:solidFill>
                <a:latin typeface="Fira Sans"/>
              </a:rPr>
              <a:t>Clase 5 · Probabilidad e inferencia: ¿real o azar?</a:t>
            </a:r>
          </a:p>
        </p:txBody>
      </p:sp>
      <p:sp>
        <p:nvSpPr>
          <p:cNvPr id="5" name="TextBox 4"/>
          <p:cNvSpPr txBox="1"/>
          <p:nvPr/>
        </p:nvSpPr>
        <p:spPr>
          <a:xfrm>
            <a:off x="704088" y="3547872"/>
            <a:ext cx="7744968" cy="896112"/>
          </a:xfrm>
          <a:prstGeom prst="rect">
            <a:avLst/>
          </a:prstGeom>
          <a:noFill/>
        </p:spPr>
        <p:txBody>
          <a:bodyPr wrap="square">
            <a:spAutoFit/>
          </a:bodyPr>
          <a:lstStyle/>
          <a:p>
            <a:r>
              <a:rPr sz="1500" b="0">
                <a:solidFill>
                  <a:srgbClr val="FFFFFF"/>
                </a:solidFill>
                <a:latin typeface="Fira Sans"/>
              </a:rPr>
              <a:t>Daniela Opitz</a:t>
            </a:r>
          </a:p>
          <a:p>
            <a:r>
              <a:rPr sz="1300" b="0">
                <a:solidFill>
                  <a:srgbClr val="B8C4D4"/>
                </a:solidFill>
                <a:latin typeface="Fira Sans"/>
              </a:rPr>
              <a:t>Diplomado en Ciencia de Datos Aplicada · Departamento de Informática · UTFSM · martes 8 de septiembre, 2026</a:t>
            </a:r>
          </a:p>
        </p:txBody>
      </p:sp>
      <p:sp>
        <p:nvSpPr>
          <p:cNvPr id="6" name="Rectangle 5"/>
          <p:cNvSpPr/>
          <p:nvPr/>
        </p:nvSpPr>
        <p:spPr>
          <a:xfrm>
            <a:off x="5806440" y="4480560"/>
            <a:ext cx="30175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_logo_recortado.png"/>
          <p:cNvPicPr>
            <a:picLocks noChangeAspect="1"/>
          </p:cNvPicPr>
          <p:nvPr/>
        </p:nvPicPr>
        <p:blipFill>
          <a:blip r:embed="rId2"/>
          <a:stretch>
            <a:fillRect/>
          </a:stretch>
        </p:blipFill>
        <p:spPr>
          <a:xfrm>
            <a:off x="5943600" y="4562856"/>
            <a:ext cx="2743200" cy="3931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Avisos del proyecto Capstone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 el enunciado y la rúbrica están publicados en el repositorio.</a:t>
            </a:r>
          </a:p>
          <a:p>
            <a:pPr>
              <a:lnSpc>
                <a:spcPct val="112000"/>
              </a:lnSpc>
              <a:spcAft>
                <a:spcPts val="900"/>
              </a:spcAft>
            </a:pPr>
            <a:r>
              <a:rPr sz="1800" b="1">
                <a:solidFill>
                  <a:srgbClr val="E0A437"/>
                </a:solidFill>
                <a:latin typeface="Fira Sans"/>
              </a:rPr>
              <a:t>▸ </a:t>
            </a:r>
            <a:r>
              <a:rPr sz="1800" b="0">
                <a:solidFill>
                  <a:srgbClr val="000000"/>
                </a:solidFill>
                <a:latin typeface="Fira Sans"/>
              </a:rPr>
              <a:t>La formulación entregada el lunes 7 se devuelve con comentarios durante la semana.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Contenidos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1. El azar tiene forma: variables aleatorias y la normal.</a:t>
            </a:r>
          </a:p>
          <a:p>
            <a:pPr>
              <a:lnSpc>
                <a:spcPct val="112000"/>
              </a:lnSpc>
              <a:spcAft>
                <a:spcPts val="900"/>
              </a:spcAft>
            </a:pPr>
            <a:r>
              <a:rPr sz="1800" b="1">
                <a:solidFill>
                  <a:srgbClr val="E0A437"/>
                </a:solidFill>
                <a:latin typeface="Fira Sans"/>
              </a:rPr>
              <a:t>▸ </a:t>
            </a:r>
            <a:r>
              <a:rPr sz="1800" b="0">
                <a:solidFill>
                  <a:srgbClr val="000000"/>
                </a:solidFill>
                <a:latin typeface="Fira Sans"/>
              </a:rPr>
              <a:t>2. Un número se mueve: distribución muestral y error estándar.</a:t>
            </a:r>
          </a:p>
          <a:p>
            <a:pPr>
              <a:lnSpc>
                <a:spcPct val="112000"/>
              </a:lnSpc>
              <a:spcAft>
                <a:spcPts val="900"/>
              </a:spcAft>
            </a:pPr>
            <a:r>
              <a:rPr sz="1800" b="1">
                <a:solidFill>
                  <a:srgbClr val="E0A437"/>
                </a:solidFill>
                <a:latin typeface="Fira Sans"/>
              </a:rPr>
              <a:t>▸ </a:t>
            </a:r>
            <a:r>
              <a:rPr sz="1800" b="0">
                <a:solidFill>
                  <a:srgbClr val="000000"/>
                </a:solidFill>
                <a:latin typeface="Fira Sans"/>
              </a:rPr>
              <a:t>3. Primer uso del error estándar: el intervalo de 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4. La pendiente también se mueve: bootstrap.</a:t>
            </a:r>
          </a:p>
          <a:p>
            <a:pPr>
              <a:lnSpc>
                <a:spcPct val="112000"/>
              </a:lnSpc>
              <a:spcAft>
                <a:spcPts val="900"/>
              </a:spcAft>
            </a:pPr>
            <a:r>
              <a:rPr sz="1800" b="1">
                <a:solidFill>
                  <a:srgbClr val="E0A437"/>
                </a:solidFill>
                <a:latin typeface="Fira Sans"/>
              </a:rPr>
              <a:t>▸ </a:t>
            </a:r>
            <a:r>
              <a:rPr sz="1800" b="0">
                <a:solidFill>
                  <a:srgbClr val="000000"/>
                </a:solidFill>
                <a:latin typeface="Fira Sans"/>
              </a:rPr>
              <a:t>5. Segundo uso: la prueba de hipótesis, la t y el valor p. Qué supone.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¿Cuánto se movería este número con otra muestra?</a:t>
            </a:r>
          </a:p>
          <a:p>
            <a:r>
              <a:rPr sz="1800" b="0">
                <a:solidFill>
                  <a:srgbClr val="E0A437"/>
                </a:solidFill>
                <a:latin typeface="Fira Sans"/>
              </a:rPr>
              <a:t>La pregunta pendiente desde la clase 3: la pendiente de −4,8 minutos por millón, con 45 comunas y p = 0,021. ¿Real o azar? Hoy se responde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Descriptiva e inferencia</a:t>
            </a:r>
          </a:p>
        </p:txBody>
      </p:sp>
      <p:pic>
        <p:nvPicPr>
          <p:cNvPr id="4" name="Picture 3" descr="c5_29_descriptiva_inferencia.png"/>
          <p:cNvPicPr>
            <a:picLocks noChangeAspect="1"/>
          </p:cNvPicPr>
          <p:nvPr/>
        </p:nvPicPr>
        <p:blipFill>
          <a:blip r:embed="rId2"/>
          <a:stretch>
            <a:fillRect/>
          </a:stretch>
        </p:blipFill>
        <p:spPr>
          <a:xfrm>
            <a:off x="699515" y="1435284"/>
            <a:ext cx="7744968" cy="2515247"/>
          </a:xfrm>
          <a:prstGeom prst="rect">
            <a:avLst/>
          </a:prstGeom>
        </p:spPr>
      </p:pic>
      <p:sp>
        <p:nvSpPr>
          <p:cNvPr id="5" name="TextBox 4"/>
          <p:cNvSpPr txBox="1"/>
          <p:nvPr/>
        </p:nvSpPr>
        <p:spPr>
          <a:xfrm>
            <a:off x="704088" y="4087691"/>
            <a:ext cx="7744968" cy="512064"/>
          </a:xfrm>
          <a:prstGeom prst="rect">
            <a:avLst/>
          </a:prstGeom>
          <a:noFill/>
        </p:spPr>
        <p:txBody>
          <a:bodyPr wrap="square">
            <a:spAutoFit/>
          </a:bodyPr>
          <a:lstStyle/>
          <a:p>
            <a:r>
              <a:rPr sz="1300" b="0">
                <a:solidFill>
                  <a:srgbClr val="333333"/>
                </a:solidFill>
                <a:latin typeface="Fira Sans"/>
              </a:rPr>
              <a:t>La descriptiva habla de la tabla que tenemos; la inferencia, de la población de la que salió, con su incertidumbre. Dos preguntas: cuánto vale, y si es real o azar.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1. El azar tiene forma</a:t>
            </a:r>
          </a:p>
        </p:txBody>
      </p:sp>
      <p:pic>
        <p:nvPicPr>
          <p:cNvPr id="4" name="Picture 3" descr="c5_23_mapa_1.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Probabilidad, el lenguaje de la incertidumbre: variables aleatorias y distribuciones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variable aleatoria y su distribución</a:t>
            </a:r>
          </a:p>
        </p:txBody>
      </p:sp>
      <p:pic>
        <p:nvPicPr>
          <p:cNvPr id="4" name="Picture 3" descr="c5_01_distribucion_duracion.png"/>
          <p:cNvPicPr>
            <a:picLocks noChangeAspect="1"/>
          </p:cNvPicPr>
          <p:nvPr/>
        </p:nvPicPr>
        <p:blipFill>
          <a:blip r:embed="rId2"/>
          <a:stretch>
            <a:fillRect/>
          </a:stretch>
        </p:blipFill>
        <p:spPr>
          <a:xfrm>
            <a:off x="1257345" y="1143000"/>
            <a:ext cx="6629309"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duración del próximo viaje depende del azar: es una variable aleatoria. Su distribución dice qué valores toma y con qué frecuencia: en la población, el histograma. La esperanza es su media.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media también es una variable aleatoria</a:t>
            </a:r>
          </a:p>
        </p:txBody>
      </p:sp>
      <p:pic>
        <p:nvPicPr>
          <p:cNvPr id="4" name="Picture 3" descr="c5_30_media_variable_aleatoria.png"/>
          <p:cNvPicPr>
            <a:picLocks noChangeAspect="1"/>
          </p:cNvPicPr>
          <p:nvPr/>
        </p:nvPicPr>
        <p:blipFill>
          <a:blip r:embed="rId2"/>
          <a:stretch>
            <a:fillRect/>
          </a:stretch>
        </p:blipFill>
        <p:spPr>
          <a:xfrm>
            <a:off x="699515" y="1446373"/>
            <a:ext cx="7744968" cy="2493070"/>
          </a:xfrm>
          <a:prstGeom prst="rect">
            <a:avLst/>
          </a:prstGeom>
        </p:spPr>
      </p:pic>
      <p:sp>
        <p:nvSpPr>
          <p:cNvPr id="5" name="TextBox 4"/>
          <p:cNvSpPr txBox="1"/>
          <p:nvPr/>
        </p:nvSpPr>
        <p:spPr>
          <a:xfrm>
            <a:off x="704088" y="4076602"/>
            <a:ext cx="7744968" cy="512064"/>
          </a:xfrm>
          <a:prstGeom prst="rect">
            <a:avLst/>
          </a:prstGeom>
          <a:noFill/>
        </p:spPr>
        <p:txBody>
          <a:bodyPr wrap="square">
            <a:spAutoFit/>
          </a:bodyPr>
          <a:lstStyle/>
          <a:p>
            <a:r>
              <a:rPr sz="1300" b="0">
                <a:solidFill>
                  <a:srgbClr val="333333"/>
                </a:solidFill>
                <a:latin typeface="Fira Sans"/>
              </a:rPr>
              <a:t>Depende de qué 100 viajes cayeron en la muestra: otra muestra, otra media. Y aunque la duración no tenga forma de campana, la media sí. Esa campana tiene nombre, y es la siguiente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normal</a:t>
            </a:r>
          </a:p>
        </p:txBody>
      </p:sp>
      <p:pic>
        <p:nvPicPr>
          <p:cNvPr id="4" name="Picture 3" descr="c5_03_normal_regla.png"/>
          <p:cNvPicPr>
            <a:picLocks noChangeAspect="1"/>
          </p:cNvPicPr>
          <p:nvPr/>
        </p:nvPicPr>
        <p:blipFill>
          <a:blip r:embed="rId2"/>
          <a:stretch>
            <a:fillRect/>
          </a:stretch>
        </p:blipFill>
        <p:spPr>
          <a:xfrm>
            <a:off x="699515" y="1281327"/>
            <a:ext cx="7744968" cy="2567129"/>
          </a:xfrm>
          <a:prstGeom prst="rect">
            <a:avLst/>
          </a:prstGeom>
        </p:spPr>
      </p:pic>
      <p:sp>
        <p:nvSpPr>
          <p:cNvPr id="5" name="TextBox 4"/>
          <p:cNvSpPr txBox="1"/>
          <p:nvPr/>
        </p:nvSpPr>
        <p:spPr>
          <a:xfrm>
            <a:off x="704088" y="3985616"/>
            <a:ext cx="7744968" cy="768096"/>
          </a:xfrm>
          <a:prstGeom prst="rect">
            <a:avLst/>
          </a:prstGeom>
          <a:noFill/>
        </p:spPr>
        <p:txBody>
          <a:bodyPr wrap="square">
            <a:spAutoFit/>
          </a:bodyPr>
          <a:lstStyle/>
          <a:p>
            <a:r>
              <a:rPr sz="1300" b="0">
                <a:solidFill>
                  <a:srgbClr val="333333"/>
                </a:solidFill>
                <a:latin typeface="Fira Sans"/>
              </a:rPr>
              <a:t>La campana tiene dos parámetros: μ, la media, y σ, la desviación estándar. El 95% de los valores cae a menos de 1,96 σ de la media. Es la distribución de la inferencia porque los promedios la siguen; ese 1,96 vuelve en los intervalos de confianza.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duración no es normal; en log, casi</a:t>
            </a:r>
          </a:p>
        </p:txBody>
      </p:sp>
      <p:pic>
        <p:nvPicPr>
          <p:cNvPr id="4" name="Picture 3" descr="c5_02_normal_log.png"/>
          <p:cNvPicPr>
            <a:picLocks noChangeAspect="1"/>
          </p:cNvPicPr>
          <p:nvPr/>
        </p:nvPicPr>
        <p:blipFill>
          <a:blip r:embed="rId2"/>
          <a:stretch>
            <a:fillRect/>
          </a:stretch>
        </p:blipFill>
        <p:spPr>
          <a:xfrm>
            <a:off x="699515" y="1415739"/>
            <a:ext cx="7744968" cy="2554337"/>
          </a:xfrm>
          <a:prstGeom prst="rect">
            <a:avLst/>
          </a:prstGeom>
        </p:spPr>
      </p:pic>
      <p:sp>
        <p:nvSpPr>
          <p:cNvPr id="5" name="TextBox 4"/>
          <p:cNvSpPr txBox="1"/>
          <p:nvPr/>
        </p:nvSpPr>
        <p:spPr>
          <a:xfrm>
            <a:off x="704088" y="4107236"/>
            <a:ext cx="7744968" cy="512064"/>
          </a:xfrm>
          <a:prstGeom prst="rect">
            <a:avLst/>
          </a:prstGeom>
          <a:noFill/>
        </p:spPr>
        <p:txBody>
          <a:bodyPr wrap="square">
            <a:spAutoFit/>
          </a:bodyPr>
          <a:lstStyle/>
          <a:p>
            <a:r>
              <a:rPr sz="1300" b="0">
                <a:solidFill>
                  <a:srgbClr val="333333"/>
                </a:solidFill>
                <a:latin typeface="Fira Sans"/>
              </a:rPr>
              <a:t>La cola larga (asimetría 5,3) se aleja de la normal; en log la variable se acomoda a la campana. Es la razón de fondo del log de la clase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 Un número se mueve</a:t>
            </a:r>
          </a:p>
        </p:txBody>
      </p:sp>
      <p:pic>
        <p:nvPicPr>
          <p:cNvPr id="4" name="Picture 3" descr="c5_23_mapa_2.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Muestra y población: una muestra es una de muchas posibles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Dos muestras, dos medias</a:t>
            </a:r>
          </a:p>
        </p:txBody>
      </p:sp>
      <p:pic>
        <p:nvPicPr>
          <p:cNvPr id="4" name="Picture 3" descr="c5_05_dos_muestras.png"/>
          <p:cNvPicPr>
            <a:picLocks noChangeAspect="1"/>
          </p:cNvPicPr>
          <p:nvPr/>
        </p:nvPicPr>
        <p:blipFill>
          <a:blip r:embed="rId2"/>
          <a:stretch>
            <a:fillRect/>
          </a:stretch>
        </p:blipFill>
        <p:spPr>
          <a:xfrm>
            <a:off x="699515" y="1413849"/>
            <a:ext cx="7744968" cy="2558117"/>
          </a:xfrm>
          <a:prstGeom prst="rect">
            <a:avLst/>
          </a:prstGeom>
        </p:spPr>
      </p:pic>
      <p:sp>
        <p:nvSpPr>
          <p:cNvPr id="5" name="TextBox 4"/>
          <p:cNvSpPr txBox="1"/>
          <p:nvPr/>
        </p:nvSpPr>
        <p:spPr>
          <a:xfrm>
            <a:off x="704088" y="4109126"/>
            <a:ext cx="7744968" cy="512064"/>
          </a:xfrm>
          <a:prstGeom prst="rect">
            <a:avLst/>
          </a:prstGeom>
          <a:noFill/>
        </p:spPr>
        <p:txBody>
          <a:bodyPr wrap="square">
            <a:spAutoFit/>
          </a:bodyPr>
          <a:lstStyle/>
          <a:p>
            <a:r>
              <a:rPr sz="1300" b="0">
                <a:solidFill>
                  <a:srgbClr val="333333"/>
                </a:solidFill>
                <a:latin typeface="Fira Sans"/>
              </a:rPr>
              <a:t>Hoy tratamos los 113 mil viajes de la EOD como si fueran la población, para poder muestrear muchas veces. Cada muestra de 100 viajes da otra media; ninguna es la poblacional.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media</a:t>
            </a:r>
          </a:p>
        </p:txBody>
      </p:sp>
      <p:pic>
        <p:nvPicPr>
          <p:cNvPr id="4" name="Picture 3" descr="c5_06_distribucion_muestral.png"/>
          <p:cNvPicPr>
            <a:picLocks noChangeAspect="1"/>
          </p:cNvPicPr>
          <p:nvPr/>
        </p:nvPicPr>
        <p:blipFill>
          <a:blip r:embed="rId2"/>
          <a:stretch>
            <a:fillRect/>
          </a:stretch>
        </p:blipFill>
        <p:spPr>
          <a:xfrm>
            <a:off x="1372743" y="1143000"/>
            <a:ext cx="6398513"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2.000 muestras, 2.000 medias: su histograma es la distribución muestral, centrada en la media real. Su desviación es el error estándar: cuánto se mueve la media de una muestra a otra. Se pudo hacer porque aquí tenemos la población.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Desviación estándar y error estándar</a:t>
            </a:r>
          </a:p>
        </p:txBody>
      </p:sp>
      <p:pic>
        <p:nvPicPr>
          <p:cNvPr id="4" name="Picture 3" descr="c5_33_desviacion_vs_ee.png"/>
          <p:cNvPicPr>
            <a:picLocks noChangeAspect="1"/>
          </p:cNvPicPr>
          <p:nvPr/>
        </p:nvPicPr>
        <p:blipFill>
          <a:blip r:embed="rId2"/>
          <a:stretch>
            <a:fillRect/>
          </a:stretch>
        </p:blipFill>
        <p:spPr>
          <a:xfrm>
            <a:off x="855815" y="1143000"/>
            <a:ext cx="7432368"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 desviación estándar σ describe los datos: cuánto varía la duración de un viaje a otro. El error estándar EE(x̄) = σ/√n describe el estimador: cuánto varía la media de una muestra a otra. Es la desviación estándar de la distribución muestral; por eso es más chico, y baja con 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error estándar, desde una sola muestra</a:t>
            </a:r>
          </a:p>
        </p:txBody>
      </p:sp>
      <p:pic>
        <p:nvPicPr>
          <p:cNvPr id="4" name="Picture 3" descr="c5_08_formula_ee.png"/>
          <p:cNvPicPr>
            <a:picLocks noChangeAspect="1"/>
          </p:cNvPicPr>
          <p:nvPr/>
        </p:nvPicPr>
        <p:blipFill>
          <a:blip r:embed="rId2"/>
          <a:stretch>
            <a:fillRect/>
          </a:stretch>
        </p:blipFill>
        <p:spPr>
          <a:xfrm>
            <a:off x="1555181" y="1143000"/>
            <a:ext cx="6033636"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Las 2.000 muestras fueron posibles porque aquí tenemos la población. En la vida real hay una sola muestra y ninguna población a la vista: la fórmula da casi el mismo número desde esa muestra, con s en lugar de σ.</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teorema central del límite</a:t>
            </a:r>
          </a:p>
        </p:txBody>
      </p:sp>
      <p:pic>
        <p:nvPicPr>
          <p:cNvPr id="4" name="Picture 3" descr="c5_07_tcl.png"/>
          <p:cNvPicPr>
            <a:picLocks noChangeAspect="1"/>
          </p:cNvPicPr>
          <p:nvPr/>
        </p:nvPicPr>
        <p:blipFill>
          <a:blip r:embed="rId2"/>
          <a:stretch>
            <a:fillRect/>
          </a:stretch>
        </p:blipFill>
        <p:spPr>
          <a:xfrm>
            <a:off x="699515" y="1458765"/>
            <a:ext cx="7744968" cy="2212254"/>
          </a:xfrm>
          <a:prstGeom prst="rect">
            <a:avLst/>
          </a:prstGeom>
        </p:spPr>
      </p:pic>
      <p:sp>
        <p:nvSpPr>
          <p:cNvPr id="5" name="TextBox 4"/>
          <p:cNvSpPr txBox="1"/>
          <p:nvPr/>
        </p:nvSpPr>
        <p:spPr>
          <a:xfrm>
            <a:off x="704088" y="3808178"/>
            <a:ext cx="7744968" cy="768096"/>
          </a:xfrm>
          <a:prstGeom prst="rect">
            <a:avLst/>
          </a:prstGeom>
          <a:noFill/>
        </p:spPr>
        <p:txBody>
          <a:bodyPr wrap="square">
            <a:spAutoFit/>
          </a:bodyPr>
          <a:lstStyle/>
          <a:p>
            <a:r>
              <a:rPr sz="1300" b="0">
                <a:solidFill>
                  <a:srgbClr val="333333"/>
                </a:solidFill>
                <a:latin typeface="Fira Sans"/>
              </a:rPr>
              <a:t>La media de una muestra se distribuye normal alrededor de la media real, con desviación σ/√n, aunque la variable no sea normal. Por eso la normal es la distribución de la inferencia: los promedios lo son, y la regla del 1,96 σ se les puede aplicar.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3. Primer uso del error estándar: el intervalo</a:t>
            </a:r>
          </a:p>
        </p:txBody>
      </p:sp>
      <p:pic>
        <p:nvPicPr>
          <p:cNvPr id="4" name="Picture 3" descr="c5_23_mapa_3.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Del error estándar a un rango honesto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la distribución muestral al intervalo</a:t>
            </a:r>
          </a:p>
        </p:txBody>
      </p:sp>
      <p:pic>
        <p:nvPicPr>
          <p:cNvPr id="4" name="Picture 3" descr="c5_18_puente_ic.png"/>
          <p:cNvPicPr>
            <a:picLocks noChangeAspect="1"/>
          </p:cNvPicPr>
          <p:nvPr/>
        </p:nvPicPr>
        <p:blipFill>
          <a:blip r:embed="rId2"/>
          <a:stretch>
            <a:fillRect/>
          </a:stretch>
        </p:blipFill>
        <p:spPr>
          <a:xfrm>
            <a:off x="699515" y="1338397"/>
            <a:ext cx="7744968" cy="2452988"/>
          </a:xfrm>
          <a:prstGeom prst="rect">
            <a:avLst/>
          </a:prstGeom>
        </p:spPr>
      </p:pic>
      <p:sp>
        <p:nvSpPr>
          <p:cNvPr id="5" name="TextBox 4"/>
          <p:cNvSpPr txBox="1"/>
          <p:nvPr/>
        </p:nvSpPr>
        <p:spPr>
          <a:xfrm>
            <a:off x="704088" y="3928546"/>
            <a:ext cx="7744968" cy="768096"/>
          </a:xfrm>
          <a:prstGeom prst="rect">
            <a:avLst/>
          </a:prstGeom>
          <a:noFill/>
        </p:spPr>
        <p:txBody>
          <a:bodyPr wrap="square">
            <a:spAutoFit/>
          </a:bodyPr>
          <a:lstStyle/>
          <a:p>
            <a:r>
              <a:rPr sz="1300" b="0">
                <a:solidFill>
                  <a:srgbClr val="333333"/>
                </a:solidFill>
                <a:latin typeface="Fira Sans"/>
              </a:rPr>
              <a:t>Paso 1: por el TCL las medias muestrales son normales, así que el 95% cae a menos de 1,96 EE de μ. Paso 2, la misma frase al revés: μ está a menos de 1,96 EE de la media de mi muestra en el 95% de las muestras. Ese rango es el intervalo.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confianza del 95%</a:t>
            </a:r>
          </a:p>
        </p:txBody>
      </p:sp>
      <p:pic>
        <p:nvPicPr>
          <p:cNvPr id="4" name="Picture 3" descr="c5_09_formula_ic.png"/>
          <p:cNvPicPr>
            <a:picLocks noChangeAspect="1"/>
          </p:cNvPicPr>
          <p:nvPr/>
        </p:nvPicPr>
        <p:blipFill>
          <a:blip r:embed="rId2"/>
          <a:stretch>
            <a:fillRect/>
          </a:stretch>
        </p:blipFill>
        <p:spPr>
          <a:xfrm>
            <a:off x="699515" y="1476204"/>
            <a:ext cx="7744968" cy="2433407"/>
          </a:xfrm>
          <a:prstGeom prst="rect">
            <a:avLst/>
          </a:prstGeom>
        </p:spPr>
      </p:pic>
      <p:sp>
        <p:nvSpPr>
          <p:cNvPr id="5" name="TextBox 4"/>
          <p:cNvSpPr txBox="1"/>
          <p:nvPr/>
        </p:nvSpPr>
        <p:spPr>
          <a:xfrm>
            <a:off x="704088" y="4046771"/>
            <a:ext cx="7744968" cy="512064"/>
          </a:xfrm>
          <a:prstGeom prst="rect">
            <a:avLst/>
          </a:prstGeom>
          <a:noFill/>
        </p:spPr>
        <p:txBody>
          <a:bodyPr wrap="square">
            <a:spAutoFit/>
          </a:bodyPr>
          <a:lstStyle/>
          <a:p>
            <a:r>
              <a:rPr sz="1300" b="0">
                <a:solidFill>
                  <a:srgbClr val="333333"/>
                </a:solidFill>
                <a:latin typeface="Fira Sans"/>
              </a:rPr>
              <a:t>Se lee sobre el procedimiento: si repitiéramos el muestreo, el 95% de los intervalos atraparía la media real. Este intervalo en particular la atrapa o no; nunca sabremos cuál de los dos.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Comprobado con la población</a:t>
            </a:r>
          </a:p>
        </p:txBody>
      </p:sp>
      <p:pic>
        <p:nvPicPr>
          <p:cNvPr id="4" name="Picture 3" descr="c5_10_cobertura.png"/>
          <p:cNvPicPr>
            <a:picLocks noChangeAspect="1"/>
          </p:cNvPicPr>
          <p:nvPr/>
        </p:nvPicPr>
        <p:blipFill>
          <a:blip r:embed="rId2"/>
          <a:stretch>
            <a:fillRect/>
          </a:stretch>
        </p:blipFill>
        <p:spPr>
          <a:xfrm>
            <a:off x="1121261" y="1143000"/>
            <a:ext cx="6901477"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100 muestras de 100 viajes, 100 intervalos: los rojos no atrapan la media. Cerca del 95% lo hace; con cola larga y n = 100, un poco menos.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4. La pendiente también se mueve</a:t>
            </a:r>
          </a:p>
        </p:txBody>
      </p:sp>
      <p:pic>
        <p:nvPicPr>
          <p:cNvPr id="4" name="Picture 3" descr="c5_23_mapa_4.png"/>
          <p:cNvPicPr>
            <a:picLocks noChangeAspect="1"/>
          </p:cNvPicPr>
          <p:nvPr/>
        </p:nvPicPr>
        <p:blipFill>
          <a:blip r:embed="rId2"/>
          <a:stretch>
            <a:fillRect/>
          </a:stretch>
        </p:blipFill>
        <p:spPr>
          <a:xfrm>
            <a:off x="699515" y="1369527"/>
            <a:ext cx="7744968" cy="2390730"/>
          </a:xfrm>
          <a:prstGeom prst="rect">
            <a:avLst/>
          </a:prstGeom>
        </p:spPr>
      </p:pic>
      <p:sp>
        <p:nvSpPr>
          <p:cNvPr id="5" name="TextBox 4"/>
          <p:cNvSpPr txBox="1"/>
          <p:nvPr/>
        </p:nvSpPr>
        <p:spPr>
          <a:xfrm>
            <a:off x="704088" y="3897416"/>
            <a:ext cx="7744968" cy="768096"/>
          </a:xfrm>
          <a:prstGeom prst="rect">
            <a:avLst/>
          </a:prstGeom>
          <a:noFill/>
        </p:spPr>
        <p:txBody>
          <a:bodyPr wrap="square">
            <a:spAutoFit/>
          </a:bodyPr>
          <a:lstStyle/>
          <a:p>
            <a:r>
              <a:rPr sz="1300" b="0">
                <a:solidFill>
                  <a:srgbClr val="333333"/>
                </a:solidFill>
                <a:latin typeface="Fira Sans"/>
              </a:rPr>
              <a:t>La pregunta pendiente: la pendiente de la recta duración = a + b · ingreso, b = −4,8 minutos por millón, con 45 comunas (el coef del ingreso en el summary). Otra muestra de comunas daría otra b. ¿Cuánto se mueve?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Qué es el bootstrap</a:t>
            </a:r>
          </a:p>
        </p:txBody>
      </p:sp>
      <p:pic>
        <p:nvPicPr>
          <p:cNvPr id="4" name="Picture 3" descr="c5_39_que_es_bootstrap.png"/>
          <p:cNvPicPr>
            <a:picLocks noChangeAspect="1"/>
          </p:cNvPicPr>
          <p:nvPr/>
        </p:nvPicPr>
        <p:blipFill>
          <a:blip r:embed="rId2"/>
          <a:stretch>
            <a:fillRect/>
          </a:stretch>
        </p:blipFill>
        <p:spPr>
          <a:xfrm>
            <a:off x="699515" y="1216993"/>
            <a:ext cx="7744968" cy="2695797"/>
          </a:xfrm>
          <a:prstGeom prst="rect">
            <a:avLst/>
          </a:prstGeom>
        </p:spPr>
      </p:pic>
      <p:sp>
        <p:nvSpPr>
          <p:cNvPr id="5" name="TextBox 4"/>
          <p:cNvSpPr txBox="1"/>
          <p:nvPr/>
        </p:nvSpPr>
        <p:spPr>
          <a:xfrm>
            <a:off x="704088" y="4049950"/>
            <a:ext cx="7744968" cy="768096"/>
          </a:xfrm>
          <a:prstGeom prst="rect">
            <a:avLst/>
          </a:prstGeom>
          <a:noFill/>
        </p:spPr>
        <p:txBody>
          <a:bodyPr wrap="square">
            <a:spAutoFit/>
          </a:bodyPr>
          <a:lstStyle/>
          <a:p>
            <a:r>
              <a:rPr sz="1300" b="0">
                <a:solidFill>
                  <a:srgbClr val="333333"/>
                </a:solidFill>
                <a:latin typeface="Fira Sans"/>
              </a:rPr>
              <a:t>No hay una población de comunas de donde sacar otra muestra, así que la muestra hace de población: se sacan de ella muestras nuevas de 45, con reemplazo, y se mira cuánto cambia la pendiente entre ellas. Sin reemplazo no serviría: 45 de 45 son siempre las mismas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remuestra: los mismos 45 puntos</a:t>
            </a:r>
          </a:p>
        </p:txBody>
      </p:sp>
      <p:pic>
        <p:nvPicPr>
          <p:cNvPr id="4" name="Picture 3" descr="c5_35_una_remuestra.png"/>
          <p:cNvPicPr>
            <a:picLocks noChangeAspect="1"/>
          </p:cNvPicPr>
          <p:nvPr/>
        </p:nvPicPr>
        <p:blipFill>
          <a:blip r:embed="rId2"/>
          <a:stretch>
            <a:fillRect/>
          </a:stretch>
        </p:blipFill>
        <p:spPr>
          <a:xfrm>
            <a:off x="1206884" y="1143000"/>
            <a:ext cx="6730231"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remuestra anterior, sobre el gráfico: las comunas que no salieron quedan vacías, las que salieron varias veces pesan más, y la recta de esta remuestra tiene otra pendiente que la observada.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Otra muestra, otra recta, otra pendiente</a:t>
            </a:r>
          </a:p>
        </p:txBody>
      </p:sp>
      <p:pic>
        <p:nvPicPr>
          <p:cNvPr id="4" name="Picture 3" descr="c5_24_rectas_bootstrap.png"/>
          <p:cNvPicPr>
            <a:picLocks noChangeAspect="1"/>
          </p:cNvPicPr>
          <p:nvPr/>
        </p:nvPicPr>
        <p:blipFill>
          <a:blip r:embed="rId2"/>
          <a:stretch>
            <a:fillRect/>
          </a:stretch>
        </p:blipFill>
        <p:spPr>
          <a:xfrm>
            <a:off x="699515" y="1276139"/>
            <a:ext cx="7744968" cy="2577505"/>
          </a:xfrm>
          <a:prstGeom prst="rect">
            <a:avLst/>
          </a:prstGeom>
        </p:spPr>
      </p:pic>
      <p:sp>
        <p:nvSpPr>
          <p:cNvPr id="5" name="TextBox 4"/>
          <p:cNvSpPr txBox="1"/>
          <p:nvPr/>
        </p:nvSpPr>
        <p:spPr>
          <a:xfrm>
            <a:off x="704088" y="3990804"/>
            <a:ext cx="7744968" cy="768096"/>
          </a:xfrm>
          <a:prstGeom prst="rect">
            <a:avLst/>
          </a:prstGeom>
          <a:noFill/>
        </p:spPr>
        <p:txBody>
          <a:bodyPr wrap="square">
            <a:spAutoFit/>
          </a:bodyPr>
          <a:lstStyle/>
          <a:p>
            <a:r>
              <a:rPr sz="1300" b="0">
                <a:solidFill>
                  <a:srgbClr val="333333"/>
                </a:solidFill>
                <a:latin typeface="Fira Sans"/>
              </a:rPr>
              <a:t>Cada remuestra da una recta y cada recta una pendiente: 30 rectas, 30 pendientes. Las 30 son solo para ver la idea; para ver la forma completa hacen falta más, y la siguiente slide dice cuántas y por qué.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 3 comunas, 10 remuestras posibles; con 45, 5 × 10²⁵</a:t>
            </a:r>
          </a:p>
        </p:txBody>
      </p:sp>
      <p:pic>
        <p:nvPicPr>
          <p:cNvPr id="4" name="Picture 3" descr="c5_37_tres_comunas.png"/>
          <p:cNvPicPr>
            <a:picLocks noChangeAspect="1"/>
          </p:cNvPicPr>
          <p:nvPr/>
        </p:nvPicPr>
        <p:blipFill>
          <a:blip r:embed="rId2"/>
          <a:stretch>
            <a:fillRect/>
          </a:stretch>
        </p:blipFill>
        <p:spPr>
          <a:xfrm>
            <a:off x="699515" y="1223443"/>
            <a:ext cx="7744968" cy="2682897"/>
          </a:xfrm>
          <a:prstGeom prst="rect">
            <a:avLst/>
          </a:prstGeom>
        </p:spPr>
      </p:pic>
      <p:sp>
        <p:nvSpPr>
          <p:cNvPr id="5" name="TextBox 4"/>
          <p:cNvSpPr txBox="1"/>
          <p:nvPr/>
        </p:nvSpPr>
        <p:spPr>
          <a:xfrm>
            <a:off x="704088" y="4043500"/>
            <a:ext cx="7744968" cy="768096"/>
          </a:xfrm>
          <a:prstGeom prst="rect">
            <a:avLst/>
          </a:prstGeom>
          <a:noFill/>
        </p:spPr>
        <p:txBody>
          <a:bodyPr wrap="square">
            <a:spAutoFit/>
          </a:bodyPr>
          <a:lstStyle/>
          <a:p>
            <a:r>
              <a:rPr sz="1300" b="0">
                <a:solidFill>
                  <a:srgbClr val="333333"/>
                </a:solidFill>
                <a:latin typeface="Fira Sans"/>
              </a:rPr>
              <a:t>Cada remuestra es un conjunto distinto de puntos, con repeticiones, y cada conjunto da su recta. Con 45 comunas las combinaciones son 5 × 10²⁵: las 30 rectas y las 2.000 son combinaciones distintas elegidas al azar. Lo que se repite es el procedimiento, no el ajuste.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¿Por qué 2.000 remuestras, y no 30?</a:t>
            </a:r>
          </a:p>
        </p:txBody>
      </p:sp>
      <p:pic>
        <p:nvPicPr>
          <p:cNvPr id="4" name="Picture 3" descr="c5_36_por_que_2000.png"/>
          <p:cNvPicPr>
            <a:picLocks noChangeAspect="1"/>
          </p:cNvPicPr>
          <p:nvPr/>
        </p:nvPicPr>
        <p:blipFill>
          <a:blip r:embed="rId2"/>
          <a:stretch>
            <a:fillRect/>
          </a:stretch>
        </p:blipFill>
        <p:spPr>
          <a:xfrm>
            <a:off x="699515" y="1286719"/>
            <a:ext cx="7744968" cy="2556346"/>
          </a:xfrm>
          <a:prstGeom prst="rect">
            <a:avLst/>
          </a:prstGeom>
        </p:spPr>
      </p:pic>
      <p:sp>
        <p:nvSpPr>
          <p:cNvPr id="5" name="TextBox 4"/>
          <p:cNvSpPr txBox="1"/>
          <p:nvPr/>
        </p:nvSpPr>
        <p:spPr>
          <a:xfrm>
            <a:off x="704088" y="3980224"/>
            <a:ext cx="7744968" cy="768096"/>
          </a:xfrm>
          <a:prstGeom prst="rect">
            <a:avLst/>
          </a:prstGeom>
          <a:noFill/>
        </p:spPr>
        <p:txBody>
          <a:bodyPr wrap="square">
            <a:spAutoFit/>
          </a:bodyPr>
          <a:lstStyle/>
          <a:p>
            <a:r>
              <a:rPr sz="1300" b="0">
                <a:solidFill>
                  <a:srgbClr val="333333"/>
                </a:solidFill>
                <a:latin typeface="Fira Sans"/>
              </a:rPr>
              <a:t>Con 30 el histograma es tosco y el error estándar todavía se mueve; desde unas 2.000 deja de cambiar. Y no se repite ningún ajuste: de 5 × 10²⁵ remuestras posibles, las 2.000 sacadas son todas distintas.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Remuestrear los datos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pendientes = []</a:t>
            </a:r>
          </a:p>
          <a:p>
            <a:pPr/>
            <a:r>
              <a:rPr sz="1500" b="0">
                <a:solidFill>
                  <a:srgbClr val="1D3557"/>
                </a:solidFill>
                <a:latin typeface="Menlo"/>
              </a:rPr>
              <a:t>for _ in range(2000):</a:t>
            </a:r>
          </a:p>
          <a:p>
            <a:pPr/>
            <a:r>
              <a:rPr sz="1500" b="0">
                <a:solidFill>
                  <a:srgbClr val="1D3557"/>
                </a:solidFill>
                <a:latin typeface="Menlo"/>
              </a:rPr>
              <a:t>    idx = rng.integers(0, 45, 45)   # con reemplazo</a:t>
            </a:r>
          </a:p>
          <a:p>
            <a:pPr/>
            <a:r>
              <a:rPr sz="1500" b="0">
                <a:solidFill>
                  <a:srgbClr val="1D3557"/>
                </a:solidFill>
                <a:latin typeface="Menlo"/>
              </a:rPr>
              <a:t>    pendientes.append(np.polyfit(x[idx], y[idx], 1)[0])</a:t>
            </a:r>
          </a:p>
          <a:p>
            <a:pPr/>
            <a:r>
              <a:rPr sz="1500" b="0">
                <a:solidFill>
                  <a:srgbClr val="1D3557"/>
                </a:solidFill>
                <a:latin typeface="Menlo"/>
              </a:rPr>
              <a:t>np.percentile(pendientes, [2.5, 97.5])</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Cada remuestra da una pendiente. La distribución de las 2.000 pendientes es la distribución muestral de la pendiente, estimada sin fórmulas ni supuestos.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pendiente</a:t>
            </a:r>
          </a:p>
        </p:txBody>
      </p:sp>
      <p:pic>
        <p:nvPicPr>
          <p:cNvPr id="4" name="Picture 3" descr="c5_13_bootstrap.png"/>
          <p:cNvPicPr>
            <a:picLocks noChangeAspect="1"/>
          </p:cNvPicPr>
          <p:nvPr/>
        </p:nvPicPr>
        <p:blipFill>
          <a:blip r:embed="rId2"/>
          <a:stretch>
            <a:fillRect/>
          </a:stretch>
        </p:blipFill>
        <p:spPr>
          <a:xfrm>
            <a:off x="1266594" y="1143000"/>
            <a:ext cx="6610810"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Con bootstrap, el histograma: una campana alrededor de la pendiente observada, cuya desviación es el error estándar de la pendiente. Sin bootstrap, la campana punteada: la fórmula de statsmodels, que viene en la siguiente slide. Casi ninguna remuestra llega al 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bootstrap: los percentiles 2,5 y 97,5</a:t>
            </a:r>
          </a:p>
        </p:txBody>
      </p:sp>
      <p:pic>
        <p:nvPicPr>
          <p:cNvPr id="4" name="Picture 3" descr="c5_40_percentiles.png"/>
          <p:cNvPicPr>
            <a:picLocks noChangeAspect="1"/>
          </p:cNvPicPr>
          <p:nvPr/>
        </p:nvPicPr>
        <p:blipFill>
          <a:blip r:embed="rId2"/>
          <a:stretch>
            <a:fillRect/>
          </a:stretch>
        </p:blipFill>
        <p:spPr>
          <a:xfrm>
            <a:off x="1339207" y="1143000"/>
            <a:ext cx="6465584"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Ordenar las 2.000 pendientes: la número 50 desde abajo es el percentil 2,5 y la número 50 desde arriba, el 97,5. Entre ambas queda el 95% central de las remuestras, y ese es el intervalo. No supone forma de campana: lo lee directo del histograma.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statsmodels lo calcula con una fórmula: std err</a:t>
            </a:r>
          </a:p>
        </p:txBody>
      </p:sp>
      <p:pic>
        <p:nvPicPr>
          <p:cNvPr id="4" name="Picture 3" descr="c5_11b_summary_coef_ee.png"/>
          <p:cNvPicPr>
            <a:picLocks noChangeAspect="1"/>
          </p:cNvPicPr>
          <p:nvPr/>
        </p:nvPicPr>
        <p:blipFill>
          <a:blip r:embed="rId2"/>
          <a:stretch>
            <a:fillRect/>
          </a:stretch>
        </p:blipFill>
        <p:spPr>
          <a:xfrm>
            <a:off x="699515" y="1580443"/>
            <a:ext cx="7744968" cy="1968898"/>
          </a:xfrm>
          <a:prstGeom prst="rect">
            <a:avLst/>
          </a:prstGeom>
        </p:spPr>
      </p:pic>
      <p:sp>
        <p:nvSpPr>
          <p:cNvPr id="5" name="TextBox 4"/>
          <p:cNvSpPr txBox="1"/>
          <p:nvPr/>
        </p:nvSpPr>
        <p:spPr>
          <a:xfrm>
            <a:off x="704088" y="3686500"/>
            <a:ext cx="7744968" cy="768096"/>
          </a:xfrm>
          <a:prstGeom prst="rect">
            <a:avLst/>
          </a:prstGeom>
          <a:noFill/>
        </p:spPr>
        <p:txBody>
          <a:bodyPr wrap="square">
            <a:spAutoFit/>
          </a:bodyPr>
          <a:lstStyle/>
          <a:p>
            <a:r>
              <a:rPr sz="1300" b="0">
                <a:solidFill>
                  <a:srgbClr val="333333"/>
                </a:solidFill>
                <a:latin typeface="Fira Sans"/>
              </a:rPr>
              <a:t>Sin remuestrear, a partir de los residuos: la columna std err. El error estándar de la pendiente es 2,02, cerca del 1,8 del bootstrap. Las demás columnas se van a ir pintando a medida que lleguen sus conceptos.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dónde sale el std err: la fórmula</a:t>
            </a:r>
          </a:p>
        </p:txBody>
      </p:sp>
      <p:pic>
        <p:nvPicPr>
          <p:cNvPr id="4" name="Picture 3" descr="c5_32_formula_ee_pendiente.png"/>
          <p:cNvPicPr>
            <a:picLocks noChangeAspect="1"/>
          </p:cNvPicPr>
          <p:nvPr/>
        </p:nvPicPr>
        <p:blipFill>
          <a:blip r:embed="rId2"/>
          <a:stretch>
            <a:fillRect/>
          </a:stretch>
        </p:blipFill>
        <p:spPr>
          <a:xfrm>
            <a:off x="1188919" y="1143000"/>
            <a:ext cx="6766160"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La misma decisión de la etapa 2, ahora para la recta: s reemplaza a σ. La pendiente se mueve menos si las comunas están cerca de la recta (s chico) y si los ingresos están bien desplegados (la suma grande).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la pendiente, en el summary</a:t>
            </a:r>
          </a:p>
        </p:txBody>
      </p:sp>
      <p:pic>
        <p:nvPicPr>
          <p:cNvPr id="4" name="Picture 3" descr="c5_11a_summary_ee.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Las columnas [0.025 0.975]: b ± 2,02 · EE = [−8,9; −0,75]. El primer uso del error estándar, ahora para la pendiente.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pendiente de las comunas, con y sin bootstrap</a:t>
            </a:r>
          </a:p>
        </p:txBody>
      </p:sp>
      <p:pic>
        <p:nvPicPr>
          <p:cNvPr id="4" name="Picture 3" descr="c5_34_tabla_bootstrap.png"/>
          <p:cNvPicPr>
            <a:picLocks noChangeAspect="1"/>
          </p:cNvPicPr>
          <p:nvPr/>
        </p:nvPicPr>
        <p:blipFill>
          <a:blip r:embed="rId2"/>
          <a:stretch>
            <a:fillRect/>
          </a:stretch>
        </p:blipFill>
        <p:spPr>
          <a:xfrm>
            <a:off x="699515" y="1287723"/>
            <a:ext cx="7744968" cy="2554337"/>
          </a:xfrm>
          <a:prstGeom prst="rect">
            <a:avLst/>
          </a:prstGeom>
        </p:spPr>
      </p:pic>
      <p:sp>
        <p:nvSpPr>
          <p:cNvPr id="5" name="TextBox 4"/>
          <p:cNvSpPr txBox="1"/>
          <p:nvPr/>
        </p:nvSpPr>
        <p:spPr>
          <a:xfrm>
            <a:off x="704088" y="3979220"/>
            <a:ext cx="7744968" cy="768096"/>
          </a:xfrm>
          <a:prstGeom prst="rect">
            <a:avLst/>
          </a:prstGeom>
          <a:noFill/>
        </p:spPr>
        <p:txBody>
          <a:bodyPr wrap="square">
            <a:spAutoFit/>
          </a:bodyPr>
          <a:lstStyle/>
          <a:p>
            <a:r>
              <a:rPr sz="1300" b="0">
                <a:solidFill>
                  <a:srgbClr val="333333"/>
                </a:solidFill>
                <a:latin typeface="Fira Sans"/>
              </a:rPr>
              <a:t>Dos caminos al mismo número, con la misma muestra de 45 comunas: se parecen, y ningún intervalo incluye el 0. La fórmula es instantánea, pero existe solo para algunos estadísticos y supone cosas sobre los residuos.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5. Segundo uso del error estándar: el contraste</a:t>
            </a:r>
          </a:p>
        </p:txBody>
      </p:sp>
      <p:pic>
        <p:nvPicPr>
          <p:cNvPr id="4" name="Picture 3" descr="c5_23_mapa_5.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Prueba de hipótesis y valor p: ¿la pendiente es real o azar?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Qué tiene que ver p con la regresión</a:t>
            </a:r>
          </a:p>
        </p:txBody>
      </p:sp>
      <p:pic>
        <p:nvPicPr>
          <p:cNvPr id="4" name="Picture 3" descr="c5_45_p_y_regresion.png"/>
          <p:cNvPicPr>
            <a:picLocks noChangeAspect="1"/>
          </p:cNvPicPr>
          <p:nvPr/>
        </p:nvPicPr>
        <p:blipFill>
          <a:blip r:embed="rId2"/>
          <a:stretch>
            <a:fillRect/>
          </a:stretch>
        </p:blipFill>
        <p:spPr>
          <a:xfrm>
            <a:off x="786707" y="1143000"/>
            <a:ext cx="7570585"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Con p = 0,021 concluimos que la relación entre ingreso y duración probablemente es real; con p = 0,40 no podríamos distinguir la recta del ruido. Lo que p no dice: si el efecto es grande, ni si es causal.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misma campana, en dos posiciones</a:t>
            </a:r>
          </a:p>
        </p:txBody>
      </p:sp>
      <p:pic>
        <p:nvPicPr>
          <p:cNvPr id="4" name="Picture 3" descr="c5_46_campana_azar.png"/>
          <p:cNvPicPr>
            <a:picLocks noChangeAspect="1"/>
          </p:cNvPicPr>
          <p:nvPr/>
        </p:nvPicPr>
        <p:blipFill>
          <a:blip r:embed="rId2"/>
          <a:stretch>
            <a:fillRect/>
          </a:stretch>
        </p:blipFill>
        <p:spPr>
          <a:xfrm>
            <a:off x="1755749" y="1143000"/>
            <a:ext cx="5632501"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Arriba, centrada en lo observado: cuánto se mueve nuestra pendiente, y de ahí el intervalo. Abajo, centrada en 0: qué haría el azar sin relación, y de ahí la prueba. Que el intervalo no toque el 0 y que b caiga en la zona de rechazo es la misma afirmación.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lógica de la prueba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Hipótesis nula H0: la pendiente real es 0, el ingreso no tiene efecto sobre la duración. Alternativa H1: no es 0.</a:t>
            </a:r>
          </a:p>
          <a:p>
            <a:pPr>
              <a:lnSpc>
                <a:spcPct val="112000"/>
              </a:lnSpc>
              <a:spcAft>
                <a:spcPts val="900"/>
              </a:spcAft>
            </a:pPr>
            <a:r>
              <a:rPr sz="1800" b="1">
                <a:solidFill>
                  <a:srgbClr val="E0A437"/>
                </a:solidFill>
                <a:latin typeface="Fira Sans"/>
              </a:rPr>
              <a:t>▸ </a:t>
            </a:r>
            <a:r>
              <a:rPr sz="1800" b="0">
                <a:solidFill>
                  <a:srgbClr val="000000"/>
                </a:solidFill>
                <a:latin typeface="Fira Sans"/>
              </a:rPr>
              <a:t>Si H0 fuera cierta, ¿qué tan raro sería obtener una pendiente como la nuestra solo por azar de qué comunas cayeron en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Es la regla del 1,96 al revés: si la real fuera 0, el 95% de las pendientes caería a menos de unos 2 errores estándar de 0. El estadístico: t = b / EE(b), a cuántos errores estándar del cero está la pendiente b.</a:t>
            </a:r>
          </a:p>
          <a:p>
            <a:pPr>
              <a:lnSpc>
                <a:spcPct val="112000"/>
              </a:lnSpc>
              <a:spcAft>
                <a:spcPts val="900"/>
              </a:spcAft>
            </a:pPr>
            <a:r>
              <a:rPr sz="1800" b="1">
                <a:solidFill>
                  <a:srgbClr val="E0A437"/>
                </a:solidFill>
                <a:latin typeface="Fira Sans"/>
              </a:rPr>
              <a:t>▸ </a:t>
            </a:r>
            <a:r>
              <a:rPr sz="1800" b="0">
                <a:solidFill>
                  <a:srgbClr val="000000"/>
                </a:solidFill>
                <a:latin typeface="Fira Sans"/>
              </a:rPr>
              <a:t>El valor p: la probabilidad, si H0 fuera cierta, de un t así de lejos. Convención: si p &lt; 0,05, se rechaza H0 y el efecto se declara significativo.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en el summary</a:t>
            </a:r>
          </a:p>
        </p:txBody>
      </p:sp>
      <p:pic>
        <p:nvPicPr>
          <p:cNvPr id="4" name="Picture 3" descr="c5_11d_summary_t.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t = −4,81 / 2,02 = −2,39: la pendiente está a 2,4 errores estándar del cero. Falta saber qué tan raro es eso, y con qué distribución se mide.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y p: la fórmula y el código</a:t>
            </a:r>
          </a:p>
        </p:txBody>
      </p:sp>
      <p:pic>
        <p:nvPicPr>
          <p:cNvPr id="4" name="Picture 3" descr="c5_44_t_p_formula_codigo.png"/>
          <p:cNvPicPr>
            <a:picLocks noChangeAspect="1"/>
          </p:cNvPicPr>
          <p:nvPr/>
        </p:nvPicPr>
        <p:blipFill>
          <a:blip r:embed="rId2"/>
          <a:stretch>
            <a:fillRect/>
          </a:stretch>
        </p:blipFill>
        <p:spPr>
          <a:xfrm>
            <a:off x="1065436" y="1143000"/>
            <a:ext cx="7013126"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F es la acumulada de la t de Student con n − 2 = 43 grados de libertad: la normal con un margen extra, porque σ se estimó con 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summary completo, por fin</a:t>
            </a:r>
          </a:p>
        </p:txBody>
      </p:sp>
      <p:pic>
        <p:nvPicPr>
          <p:cNvPr id="4" name="Picture 3" descr="c5_11_summary_completo.png"/>
          <p:cNvPicPr>
            <a:picLocks noChangeAspect="1"/>
          </p:cNvPicPr>
          <p:nvPr/>
        </p:nvPicPr>
        <p:blipFill>
          <a:blip r:embed="rId2"/>
          <a:stretch>
            <a:fillRect/>
          </a:stretch>
        </p:blipFill>
        <p:spPr>
          <a:xfrm>
            <a:off x="699515" y="1708459"/>
            <a:ext cx="7744968" cy="1968898"/>
          </a:xfrm>
          <a:prstGeom prst="rect">
            <a:avLst/>
          </a:prstGeom>
        </p:spPr>
      </p:pic>
      <p:sp>
        <p:nvSpPr>
          <p:cNvPr id="5" name="TextBox 4"/>
          <p:cNvSpPr txBox="1"/>
          <p:nvPr/>
        </p:nvSpPr>
        <p:spPr>
          <a:xfrm>
            <a:off x="704088" y="3814516"/>
            <a:ext cx="7744968" cy="512064"/>
          </a:xfrm>
          <a:prstGeom prst="rect">
            <a:avLst/>
          </a:prstGeom>
          <a:noFill/>
        </p:spPr>
        <p:txBody>
          <a:bodyPr wrap="square">
            <a:spAutoFit/>
          </a:bodyPr>
          <a:lstStyle/>
          <a:p>
            <a:r>
              <a:rPr sz="1300" b="0">
                <a:solidFill>
                  <a:srgbClr val="333333"/>
                </a:solidFill>
                <a:latin typeface="Fira Sans"/>
              </a:rPr>
              <a:t>La última columna, P&gt;|t| = 0,021: si la pendiente real fuera 0, un t así de lejos ocurre el 2,1% de las veces. Las cinco columnas, pintadas: coeficiente, error estándar, intervalo, t y valor 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respuesta a la pregunta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La pendiente que nos dio el modelo no es azar: en las comunas de mayor ingreso los viajes duran menos, unos 4,8 minutos menos por cada millón de pesos de ingreso medio (entre 0,75 y 8,9).</a:t>
            </a:r>
          </a:p>
          <a:p>
            <a:pPr>
              <a:lnSpc>
                <a:spcPct val="112000"/>
              </a:lnSpc>
              <a:spcAft>
                <a:spcPts val="900"/>
              </a:spcAft>
            </a:pPr>
            <a:r>
              <a:rPr sz="1800" b="1">
                <a:solidFill>
                  <a:srgbClr val="E0A437"/>
                </a:solidFill>
                <a:latin typeface="Fira Sans"/>
              </a:rPr>
              <a:t>▸ </a:t>
            </a:r>
            <a:r>
              <a:rPr sz="1800" b="0">
                <a:solidFill>
                  <a:srgbClr val="000000"/>
                </a:solidFill>
                <a:latin typeface="Fira Sans"/>
              </a:rPr>
              <a:t>Lo que la sostiene: p = 0,021 y el intervalo [−8,9; −0,75] no incluye el 0. Con 45 comunas apenas cruza el umbral, porque p depende del efecto y del tamaño de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Que un efecto sea estadísticamente significativo no dice que sea grande: el tamaño lo da el coeficiente, y su precisión, el intervalo.</a:t>
            </a:r>
          </a:p>
          <a:p>
            <a:pPr>
              <a:lnSpc>
                <a:spcPct val="112000"/>
              </a:lnSpc>
              <a:spcAft>
                <a:spcPts val="900"/>
              </a:spcAft>
            </a:pPr>
            <a:r>
              <a:rPr sz="1800" b="1">
                <a:solidFill>
                  <a:srgbClr val="E0A437"/>
                </a:solidFill>
                <a:latin typeface="Fira Sans"/>
              </a:rPr>
              <a:t>▸ </a:t>
            </a:r>
            <a:r>
              <a:rPr sz="1800" b="0">
                <a:solidFill>
                  <a:srgbClr val="000000"/>
                </a:solidFill>
                <a:latin typeface="Fira Sans"/>
              </a:rPr>
              <a:t>Correlación no es causalidad, tampoco con p pequeño.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1: residuos independientes</a:t>
            </a:r>
          </a:p>
        </p:txBody>
      </p:sp>
      <p:pic>
        <p:nvPicPr>
          <p:cNvPr id="4" name="Picture 3" descr="c5_20_independencia.png"/>
          <p:cNvPicPr>
            <a:picLocks noChangeAspect="1"/>
          </p:cNvPicPr>
          <p:nvPr/>
        </p:nvPicPr>
        <p:blipFill>
          <a:blip r:embed="rId2"/>
          <a:stretch>
            <a:fillRect/>
          </a:stretch>
        </p:blipFill>
        <p:spPr>
          <a:xfrm>
            <a:off x="790060" y="1143000"/>
            <a:ext cx="7563879"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Cada punto es un par de viajes. Si los residuos fueran independientes, saber que la ida salió más larga de lo que predice el modelo no diría nada de la vuelta. En la EOD sí dice: statsmodels cuenta 102 mil viajes independientes cuando hay menos información, y el EE queda muy chico.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2: la misma varianza en todo el rango</a:t>
            </a:r>
          </a:p>
        </p:txBody>
      </p:sp>
      <p:pic>
        <p:nvPicPr>
          <p:cNvPr id="4" name="Picture 3" descr="c5_21_varianza.png"/>
          <p:cNvPicPr>
            <a:picLocks noChangeAspect="1"/>
          </p:cNvPicPr>
          <p:nvPr/>
        </p:nvPicPr>
        <p:blipFill>
          <a:blip r:embed="rId2"/>
          <a:stretch>
            <a:fillRect/>
          </a:stretch>
        </p:blipFill>
        <p:spPr>
          <a:xfrm>
            <a:off x="699515" y="1425666"/>
            <a:ext cx="7744968" cy="2534483"/>
          </a:xfrm>
          <a:prstGeom prst="rect">
            <a:avLst/>
          </a:prstGeom>
        </p:spPr>
      </p:pic>
      <p:sp>
        <p:nvSpPr>
          <p:cNvPr id="5" name="TextBox 4"/>
          <p:cNvSpPr txBox="1"/>
          <p:nvPr/>
        </p:nvSpPr>
        <p:spPr>
          <a:xfrm>
            <a:off x="704088" y="4097309"/>
            <a:ext cx="7744968" cy="512064"/>
          </a:xfrm>
          <a:prstGeom prst="rect">
            <a:avLst/>
          </a:prstGeom>
          <a:noFill/>
        </p:spPr>
        <p:txBody>
          <a:bodyPr wrap="square">
            <a:spAutoFit/>
          </a:bodyPr>
          <a:lstStyle/>
          <a:p>
            <a:r>
              <a:rPr sz="1300" b="0">
                <a:solidFill>
                  <a:srgbClr val="333333"/>
                </a:solidFill>
                <a:latin typeface="Fira Sans"/>
              </a:rPr>
              <a:t>Si la dispersión de los residuos crece con x, el error estándar queda mal calculado. Otra razón del log de la clase 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3: residuos normales</a:t>
            </a:r>
          </a:p>
        </p:txBody>
      </p:sp>
      <p:pic>
        <p:nvPicPr>
          <p:cNvPr id="4" name="Picture 3" descr="c5_22_normalidad.png"/>
          <p:cNvPicPr>
            <a:picLocks noChangeAspect="1"/>
          </p:cNvPicPr>
          <p:nvPr/>
        </p:nvPicPr>
        <p:blipFill>
          <a:blip r:embed="rId2"/>
          <a:stretch>
            <a:fillRect/>
          </a:stretch>
        </p:blipFill>
        <p:spPr>
          <a:xfrm>
            <a:off x="699515" y="1337417"/>
            <a:ext cx="7744968" cy="2454949"/>
          </a:xfrm>
          <a:prstGeom prst="rect">
            <a:avLst/>
          </a:prstGeom>
        </p:spPr>
      </p:pic>
      <p:sp>
        <p:nvSpPr>
          <p:cNvPr id="5" name="TextBox 4"/>
          <p:cNvSpPr txBox="1"/>
          <p:nvPr/>
        </p:nvSpPr>
        <p:spPr>
          <a:xfrm>
            <a:off x="704088" y="3929526"/>
            <a:ext cx="7744968" cy="768096"/>
          </a:xfrm>
          <a:prstGeom prst="rect">
            <a:avLst/>
          </a:prstGeom>
          <a:noFill/>
        </p:spPr>
        <p:txBody>
          <a:bodyPr wrap="square">
            <a:spAutoFit/>
          </a:bodyPr>
          <a:lstStyle/>
          <a:p>
            <a:r>
              <a:rPr sz="1300" b="0">
                <a:solidFill>
                  <a:srgbClr val="333333"/>
                </a:solidFill>
                <a:latin typeface="Fira Sans"/>
              </a:rPr>
              <a:t>El supuesto: los residuos siguen una normal, no las variables. Con 45 comunas hay que mirarlo, en el histograma de residuos y en los atípicos. Con 18 mil hogares deja de importar: los residuos no son normales y la pendiente igual se reparte como una normal, por el teorema central del límite.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Por qué esto importa en ciencia de datos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Toda métrica de un modelo sale de una muestra y se mueve: dos modelos con 70,5% y 71% de exactitud pueden ser el mismo modelo. Sin error estándar no se pueden comparar.</a:t>
            </a:r>
          </a:p>
          <a:p>
            <a:pPr>
              <a:lnSpc>
                <a:spcPct val="112000"/>
              </a:lnSpc>
              <a:spcAft>
                <a:spcPts val="900"/>
              </a:spcAft>
            </a:pPr>
            <a:r>
              <a:rPr sz="1800" b="1">
                <a:solidFill>
                  <a:srgbClr val="E0A437"/>
                </a:solidFill>
                <a:latin typeface="Fira Sans"/>
              </a:rPr>
              <a:t>▸ </a:t>
            </a:r>
            <a:r>
              <a:rPr sz="1800" b="0">
                <a:solidFill>
                  <a:srgbClr val="000000"/>
                </a:solidFill>
                <a:latin typeface="Fira Sans"/>
              </a:rPr>
              <a:t>La validación cruzada es exactamente esto: muchas muestras, y la desviación entre pliegues es el error estándar de la métrica.</a:t>
            </a:r>
          </a:p>
          <a:p>
            <a:pPr>
              <a:lnSpc>
                <a:spcPct val="112000"/>
              </a:lnSpc>
              <a:spcAft>
                <a:spcPts val="900"/>
              </a:spcAft>
            </a:pPr>
            <a:r>
              <a:rPr sz="1800" b="1">
                <a:solidFill>
                  <a:srgbClr val="E0A437"/>
                </a:solidFill>
                <a:latin typeface="Fira Sans"/>
              </a:rPr>
              <a:t>▸ </a:t>
            </a:r>
            <a:r>
              <a:rPr sz="1800" b="0">
                <a:solidFill>
                  <a:srgbClr val="000000"/>
                </a:solidFill>
                <a:latin typeface="Fira Sans"/>
              </a:rPr>
              <a:t>El bootstrap es el corazón de random forest (remuestrear y promediar), y la forma de ponerle un intervalo a cualquier métrica.</a:t>
            </a:r>
          </a:p>
          <a:p>
            <a:pPr>
              <a:lnSpc>
                <a:spcPct val="112000"/>
              </a:lnSpc>
              <a:spcAft>
                <a:spcPts val="900"/>
              </a:spcAft>
            </a:pPr>
            <a:r>
              <a:rPr sz="1800" b="1">
                <a:solidFill>
                  <a:srgbClr val="E0A437"/>
                </a:solidFill>
                <a:latin typeface="Fira Sans"/>
              </a:rPr>
              <a:t>▸ </a:t>
            </a:r>
            <a:r>
              <a:rPr sz="1800" b="0">
                <a:solidFill>
                  <a:srgbClr val="000000"/>
                </a:solidFill>
                <a:latin typeface="Fira Sans"/>
              </a:rPr>
              <a:t>Sobreajustar es ajustar el azar de la muestra: la varianza que medimos hoy es la que Ridge y Lasso controlan en la clase 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Síntesis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Todo número que sale de una muestra se mueve de muestra en muestra; el error estándar mide cuánto.</a:t>
            </a:r>
          </a:p>
          <a:p>
            <a:pPr>
              <a:lnSpc>
                <a:spcPct val="112000"/>
              </a:lnSpc>
              <a:spcAft>
                <a:spcPts val="900"/>
              </a:spcAft>
            </a:pPr>
            <a:r>
              <a:rPr sz="1800" b="1">
                <a:solidFill>
                  <a:srgbClr val="E0A437"/>
                </a:solidFill>
                <a:latin typeface="Fira Sans"/>
              </a:rPr>
              <a:t>▸ </a:t>
            </a:r>
            <a:r>
              <a:rPr sz="1800" b="0">
                <a:solidFill>
                  <a:srgbClr val="000000"/>
                </a:solidFill>
                <a:latin typeface="Fira Sans"/>
              </a:rPr>
              <a:t>Primer uso: el intervalo, estimación ± 2 EE, atrapa el valor real el 95% de las veces.</a:t>
            </a:r>
          </a:p>
          <a:p>
            <a:pPr>
              <a:lnSpc>
                <a:spcPct val="112000"/>
              </a:lnSpc>
              <a:spcAft>
                <a:spcPts val="900"/>
              </a:spcAft>
            </a:pPr>
            <a:r>
              <a:rPr sz="1800" b="1">
                <a:solidFill>
                  <a:srgbClr val="E0A437"/>
                </a:solidFill>
                <a:latin typeface="Fira Sans"/>
              </a:rPr>
              <a:t>▸ </a:t>
            </a:r>
            <a:r>
              <a:rPr sz="1800" b="0">
                <a:solidFill>
                  <a:srgbClr val="000000"/>
                </a:solidFill>
                <a:latin typeface="Fira Sans"/>
              </a:rPr>
              <a:t>Segundo uso: la prueba, t = b / EE y el valor p. La pendiente de −4,8: p = 0,021, real.</a:t>
            </a:r>
          </a:p>
          <a:p>
            <a:pPr>
              <a:lnSpc>
                <a:spcPct val="112000"/>
              </a:lnSpc>
              <a:spcAft>
                <a:spcPts val="900"/>
              </a:spcAft>
            </a:pPr>
            <a:r>
              <a:rPr sz="1800" b="1">
                <a:solidFill>
                  <a:srgbClr val="E0A437"/>
                </a:solidFill>
                <a:latin typeface="Fira Sans"/>
              </a:rPr>
              <a:t>▸ </a:t>
            </a:r>
            <a:r>
              <a:rPr sz="1800" b="0">
                <a:solidFill>
                  <a:srgbClr val="000000"/>
                </a:solidFill>
                <a:latin typeface="Fira Sans"/>
              </a:rPr>
              <a:t>El bootstrap da lo mismo remuestreando, sin fórmulas ni supuestos; sirve para cualquier estadístico.</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Recreo</a:t>
            </a:r>
          </a:p>
          <a:p>
            <a:r>
              <a:rPr sz="1800" b="0">
                <a:solidFill>
                  <a:srgbClr val="E0A437"/>
                </a:solidFill>
                <a:latin typeface="Fira Sans"/>
              </a:rPr>
              <a:t>10 minutos · al volver: manos al teclado, con el notebook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Próxima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Jueves 10: regresión lineal en profundidad, diagnósticos con los residuos y evaluación fuera de la muestra; y regresión logística, para una respuesta que es sí o no.</a:t>
            </a:r>
          </a:p>
          <a:p>
            <a:pPr>
              <a:lnSpc>
                <a:spcPct val="112000"/>
              </a:lnSpc>
              <a:spcAft>
                <a:spcPts val="900"/>
              </a:spcAft>
            </a:pPr>
            <a:r>
              <a:rPr sz="1800" b="1">
                <a:solidFill>
                  <a:srgbClr val="E0A437"/>
                </a:solidFill>
                <a:latin typeface="Fira Sans"/>
              </a:rPr>
              <a:t>▸ </a:t>
            </a:r>
            <a:r>
              <a:rPr sz="1800" b="0">
                <a:solidFill>
                  <a:srgbClr val="000000"/>
                </a:solidFill>
                <a:latin typeface="Fira Sans"/>
              </a:rPr>
              <a:t>Con lo de hoy ya se puede leer completo el summary de cualquier modelo.</a:t>
            </a:r>
          </a:p>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Referencias</a:t>
            </a:r>
          </a:p>
        </p:txBody>
      </p:sp>
      <p:sp>
        <p:nvSpPr>
          <p:cNvPr id="4" name="TextBox 3"/>
          <p:cNvSpPr txBox="1"/>
          <p:nvPr/>
        </p:nvSpPr>
        <p:spPr>
          <a:xfrm>
            <a:off x="704088" y="1234440"/>
            <a:ext cx="7744968" cy="3566160"/>
          </a:xfrm>
          <a:prstGeom prst="rect">
            <a:avLst/>
          </a:prstGeom>
          <a:noFill/>
        </p:spPr>
        <p:txBody>
          <a:bodyPr wrap="square">
            <a:spAutoFit/>
          </a:bodyPr>
          <a:lstStyle/>
          <a:p>
            <a:pPr>
              <a:lnSpc>
                <a:spcPct val="115000"/>
              </a:lnSpc>
              <a:spcAft>
                <a:spcPts val="700"/>
              </a:spcAft>
            </a:pPr>
            <a:r>
              <a:rPr sz="1300" b="0">
                <a:solidFill>
                  <a:srgbClr val="333333"/>
                </a:solidFill>
                <a:latin typeface="Fira Sans"/>
              </a:rPr>
              <a:t>Efron, B. y Tibshirani, R. J. (1993). An Introduction to the Bootstrap. Chapman &amp; Hall.</a:t>
            </a:r>
          </a:p>
          <a:p>
            <a:pPr>
              <a:lnSpc>
                <a:spcPct val="115000"/>
              </a:lnSpc>
              <a:spcAft>
                <a:spcPts val="700"/>
              </a:spcAft>
            </a:pPr>
            <a:r>
              <a:rPr sz="1300" b="0">
                <a:solidFill>
                  <a:srgbClr val="333333"/>
                </a:solidFill>
                <a:latin typeface="Fira Sans"/>
              </a:rPr>
              <a:t>Wasserstein, R. L. y Lazar, N. A. (2016). The ASA Statement on p-Values: Context, Process, and Purpose. The American Statistician, 70(2), 129-133.</a:t>
            </a:r>
          </a:p>
          <a:p>
            <a:pPr>
              <a:lnSpc>
                <a:spcPct val="115000"/>
              </a:lnSpc>
              <a:spcAft>
                <a:spcPts val="700"/>
              </a:spcAft>
            </a:pPr>
            <a:r>
              <a:rPr sz="1300" b="0">
                <a:solidFill>
                  <a:srgbClr val="333333"/>
                </a:solidFill>
                <a:latin typeface="Fira Sans"/>
              </a:rPr>
              <a:t>VanderPlas, J. (2016). Python Data Science Handbook. O'Reilly.</a:t>
            </a:r>
          </a:p>
          <a:p>
            <a:pPr>
              <a:lnSpc>
                <a:spcPct val="115000"/>
              </a:lnSpc>
              <a:spcAft>
                <a:spcPts val="700"/>
              </a:spcAft>
            </a:pPr>
            <a:r>
              <a:rPr sz="1300" b="0">
                <a:solidFill>
                  <a:srgbClr val="333333"/>
                </a:solidFill>
                <a:latin typeface="Fira Sans"/>
              </a:rPr>
              <a:t>Datos: Encuesta Origen Destino Santiago 2012 (Sectra).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
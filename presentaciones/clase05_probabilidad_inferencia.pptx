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35284"/>
            <a:ext cx="7744968" cy="2515247"/>
          </a:xfrm>
          <a:prstGeom prst="rect">
            <a:avLst/>
          </a:prstGeom>
        </p:spPr>
      </p:pic>
      <p:sp>
        <p:nvSpPr>
          <p:cNvPr id="5" name="TextBox 4"/>
          <p:cNvSpPr txBox="1"/>
          <p:nvPr/>
        </p:nvSpPr>
        <p:spPr>
          <a:xfrm>
            <a:off x="704088" y="4087691"/>
            <a:ext cx="7744968" cy="512064"/>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257345" y="1143000"/>
            <a:ext cx="6629309"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46373"/>
            <a:ext cx="7744968" cy="2493070"/>
          </a:xfrm>
          <a:prstGeom prst="rect">
            <a:avLst/>
          </a:prstGeom>
        </p:spPr>
      </p:pic>
      <p:sp>
        <p:nvSpPr>
          <p:cNvPr id="5" name="TextBox 4"/>
          <p:cNvSpPr txBox="1"/>
          <p:nvPr/>
        </p:nvSpPr>
        <p:spPr>
          <a:xfrm>
            <a:off x="704088" y="4076602"/>
            <a:ext cx="7744968" cy="512064"/>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281327"/>
            <a:ext cx="7744968" cy="2567129"/>
          </a:xfrm>
          <a:prstGeom prst="rect">
            <a:avLst/>
          </a:prstGeom>
        </p:spPr>
      </p:pic>
      <p:sp>
        <p:nvSpPr>
          <p:cNvPr id="5" name="TextBox 4"/>
          <p:cNvSpPr txBox="1"/>
          <p:nvPr/>
        </p:nvSpPr>
        <p:spPr>
          <a:xfrm>
            <a:off x="704088" y="3985616"/>
            <a:ext cx="7744968" cy="768096"/>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15739"/>
            <a:ext cx="7744968" cy="2554337"/>
          </a:xfrm>
          <a:prstGeom prst="rect">
            <a:avLst/>
          </a:prstGeom>
        </p:spPr>
      </p:pic>
      <p:sp>
        <p:nvSpPr>
          <p:cNvPr id="5" name="TextBox 4"/>
          <p:cNvSpPr txBox="1"/>
          <p:nvPr/>
        </p:nvSpPr>
        <p:spPr>
          <a:xfrm>
            <a:off x="704088" y="4107236"/>
            <a:ext cx="7744968" cy="512064"/>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13849"/>
            <a:ext cx="7744968" cy="2558117"/>
          </a:xfrm>
          <a:prstGeom prst="rect">
            <a:avLst/>
          </a:prstGeom>
        </p:spPr>
      </p:pic>
      <p:sp>
        <p:nvSpPr>
          <p:cNvPr id="5" name="TextBox 4"/>
          <p:cNvSpPr txBox="1"/>
          <p:nvPr/>
        </p:nvSpPr>
        <p:spPr>
          <a:xfrm>
            <a:off x="704088" y="4109126"/>
            <a:ext cx="7744968" cy="512064"/>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372743" y="1143000"/>
            <a:ext cx="6398513"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 el error estándar: cuánto se mueve la media de una muestra a otra. Se pudo hacer porque aquí tenemos la población.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Desviación estándar y error estándar</a:t>
            </a:r>
          </a:p>
        </p:txBody>
      </p:sp>
      <p:pic>
        <p:nvPicPr>
          <p:cNvPr id="4" name="Picture 3" descr="c5_33_desviacion_vs_ee.png"/>
          <p:cNvPicPr>
            <a:picLocks noChangeAspect="1"/>
          </p:cNvPicPr>
          <p:nvPr/>
        </p:nvPicPr>
        <p:blipFill>
          <a:blip r:embed="rId2"/>
          <a:stretch>
            <a:fillRect/>
          </a:stretch>
        </p:blipFill>
        <p:spPr>
          <a:xfrm>
            <a:off x="855815" y="1143000"/>
            <a:ext cx="743236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desviación estándar σ describe los datos: cuánto varía la duración de un viaje a otro. El error estándar EE(x̄) = σ/√n describe el estimador: cuánto varía la media de una muestra a otra. Es la desviación estándar de la distribución muestral; por eso es más chico, y baja con 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desde una sola muestra</a:t>
            </a:r>
          </a:p>
        </p:txBody>
      </p:sp>
      <p:pic>
        <p:nvPicPr>
          <p:cNvPr id="4" name="Picture 3" descr="c5_08_formula_ee.png"/>
          <p:cNvPicPr>
            <a:picLocks noChangeAspect="1"/>
          </p:cNvPicPr>
          <p:nvPr/>
        </p:nvPicPr>
        <p:blipFill>
          <a:blip r:embed="rId2"/>
          <a:stretch>
            <a:fillRect/>
          </a:stretch>
        </p:blipFill>
        <p:spPr>
          <a:xfrm>
            <a:off x="1555181" y="1143000"/>
            <a:ext cx="6033636"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Las 2.000 muestras fueron posibles porque aquí tenemos la población. En la vida real hay una sola muestra y ninguna población a la vista: la fórmula da casi el mismo número desde esa muestra, con s en lugar de 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458765"/>
            <a:ext cx="7744968" cy="2212254"/>
          </a:xfrm>
          <a:prstGeom prst="rect">
            <a:avLst/>
          </a:prstGeom>
        </p:spPr>
      </p:pic>
      <p:sp>
        <p:nvSpPr>
          <p:cNvPr id="5" name="TextBox 4"/>
          <p:cNvSpPr txBox="1"/>
          <p:nvPr/>
        </p:nvSpPr>
        <p:spPr>
          <a:xfrm>
            <a:off x="704088" y="3808178"/>
            <a:ext cx="7744968" cy="768096"/>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338397"/>
            <a:ext cx="7744968" cy="2452988"/>
          </a:xfrm>
          <a:prstGeom prst="rect">
            <a:avLst/>
          </a:prstGeom>
        </p:spPr>
      </p:pic>
      <p:sp>
        <p:nvSpPr>
          <p:cNvPr id="5" name="TextBox 4"/>
          <p:cNvSpPr txBox="1"/>
          <p:nvPr/>
        </p:nvSpPr>
        <p:spPr>
          <a:xfrm>
            <a:off x="704088" y="3928546"/>
            <a:ext cx="7744968" cy="768096"/>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76204"/>
            <a:ext cx="7744968" cy="2433407"/>
          </a:xfrm>
          <a:prstGeom prst="rect">
            <a:avLst/>
          </a:prstGeom>
        </p:spPr>
      </p:pic>
      <p:sp>
        <p:nvSpPr>
          <p:cNvPr id="5" name="TextBox 4"/>
          <p:cNvSpPr txBox="1"/>
          <p:nvPr/>
        </p:nvSpPr>
        <p:spPr>
          <a:xfrm>
            <a:off x="704088" y="4046771"/>
            <a:ext cx="7744968" cy="512064"/>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121261" y="1143000"/>
            <a:ext cx="6901477"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369527"/>
            <a:ext cx="7744968" cy="2390730"/>
          </a:xfrm>
          <a:prstGeom prst="rect">
            <a:avLst/>
          </a:prstGeom>
        </p:spPr>
      </p:pic>
      <p:sp>
        <p:nvSpPr>
          <p:cNvPr id="5" name="TextBox 4"/>
          <p:cNvSpPr txBox="1"/>
          <p:nvPr/>
        </p:nvSpPr>
        <p:spPr>
          <a:xfrm>
            <a:off x="704088" y="3897416"/>
            <a:ext cx="7744968" cy="768096"/>
          </a:xfrm>
          <a:prstGeom prst="rect">
            <a:avLst/>
          </a:prstGeom>
          <a:noFill/>
        </p:spPr>
        <p:txBody>
          <a:bodyPr wrap="square">
            <a:spAutoFit/>
          </a:bodyPr>
          <a:lstStyle/>
          <a:p>
            <a:r>
              <a:rPr sz="1300" b="0">
                <a:solidFill>
                  <a:srgbClr val="333333"/>
                </a:solidFill>
                <a:latin typeface="Fira Sans"/>
              </a:rPr>
              <a:t>La pregunta pendiente: la pendiente de la recta duración = a + b · ingreso, b = −4,8 minutos por millón, con 45 comunas (el coef del ingreso en el summary). Otra muestra de comunas daría otra b. ¿Cuánto se mueve?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es el bootstrap</a:t>
            </a:r>
          </a:p>
        </p:txBody>
      </p:sp>
      <p:pic>
        <p:nvPicPr>
          <p:cNvPr id="4" name="Picture 3" descr="c5_39_que_es_bootstrap.png"/>
          <p:cNvPicPr>
            <a:picLocks noChangeAspect="1"/>
          </p:cNvPicPr>
          <p:nvPr/>
        </p:nvPicPr>
        <p:blipFill>
          <a:blip r:embed="rId2"/>
          <a:stretch>
            <a:fillRect/>
          </a:stretch>
        </p:blipFill>
        <p:spPr>
          <a:xfrm>
            <a:off x="699515" y="1216993"/>
            <a:ext cx="7744968" cy="2695797"/>
          </a:xfrm>
          <a:prstGeom prst="rect">
            <a:avLst/>
          </a:prstGeom>
        </p:spPr>
      </p:pic>
      <p:sp>
        <p:nvSpPr>
          <p:cNvPr id="5" name="TextBox 4"/>
          <p:cNvSpPr txBox="1"/>
          <p:nvPr/>
        </p:nvSpPr>
        <p:spPr>
          <a:xfrm>
            <a:off x="704088" y="4049950"/>
            <a:ext cx="7744968" cy="768096"/>
          </a:xfrm>
          <a:prstGeom prst="rect">
            <a:avLst/>
          </a:prstGeom>
          <a:noFill/>
        </p:spPr>
        <p:txBody>
          <a:bodyPr wrap="square">
            <a:spAutoFit/>
          </a:bodyPr>
          <a:lstStyle/>
          <a:p>
            <a:r>
              <a:rPr sz="1300" b="0">
                <a:solidFill>
                  <a:srgbClr val="333333"/>
                </a:solidFill>
                <a:latin typeface="Fira Sans"/>
              </a:rPr>
              <a:t>No hay una población de comunas de donde sacar otra muestra, así que la muestra hace de población: se sacan de ella muestras nuevas de 45, con reemplazo, y se mira cuánto cambia la pendiente entre ellas. Sin reemplazo no serviría: 45 de 45 son siempre las mismas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remuestra: los mismos 45 puntos</a:t>
            </a:r>
          </a:p>
        </p:txBody>
      </p:sp>
      <p:pic>
        <p:nvPicPr>
          <p:cNvPr id="4" name="Picture 3" descr="c5_35_una_remuestra.png"/>
          <p:cNvPicPr>
            <a:picLocks noChangeAspect="1"/>
          </p:cNvPicPr>
          <p:nvPr/>
        </p:nvPicPr>
        <p:blipFill>
          <a:blip r:embed="rId2"/>
          <a:stretch>
            <a:fillRect/>
          </a:stretch>
        </p:blipFill>
        <p:spPr>
          <a:xfrm>
            <a:off x="1206884" y="1143000"/>
            <a:ext cx="673023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remuestra anterior, sobre el gráfico: las comunas que no salieron quedan vacías, las que salieron varias veces pesan más, y la recta de esta remuestra tiene otra pendiente que la observada.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 otra pendiente</a:t>
            </a:r>
          </a:p>
        </p:txBody>
      </p:sp>
      <p:pic>
        <p:nvPicPr>
          <p:cNvPr id="4" name="Picture 3" descr="c5_24_rectas_bootstrap.png"/>
          <p:cNvPicPr>
            <a:picLocks noChangeAspect="1"/>
          </p:cNvPicPr>
          <p:nvPr/>
        </p:nvPicPr>
        <p:blipFill>
          <a:blip r:embed="rId2"/>
          <a:stretch>
            <a:fillRect/>
          </a:stretch>
        </p:blipFill>
        <p:spPr>
          <a:xfrm>
            <a:off x="699515" y="1276139"/>
            <a:ext cx="7744968" cy="2577505"/>
          </a:xfrm>
          <a:prstGeom prst="rect">
            <a:avLst/>
          </a:prstGeom>
        </p:spPr>
      </p:pic>
      <p:sp>
        <p:nvSpPr>
          <p:cNvPr id="5" name="TextBox 4"/>
          <p:cNvSpPr txBox="1"/>
          <p:nvPr/>
        </p:nvSpPr>
        <p:spPr>
          <a:xfrm>
            <a:off x="704088" y="3990804"/>
            <a:ext cx="7744968" cy="768096"/>
          </a:xfrm>
          <a:prstGeom prst="rect">
            <a:avLst/>
          </a:prstGeom>
          <a:noFill/>
        </p:spPr>
        <p:txBody>
          <a:bodyPr wrap="square">
            <a:spAutoFit/>
          </a:bodyPr>
          <a:lstStyle/>
          <a:p>
            <a:r>
              <a:rPr sz="1300" b="0">
                <a:solidFill>
                  <a:srgbClr val="333333"/>
                </a:solidFill>
                <a:latin typeface="Fira Sans"/>
              </a:rPr>
              <a:t>Cada remuestra da una recta y cada recta una pendiente: 30 rectas, 30 pendientes. Las 30 son solo para ver la idea; para ver la forma completa hacen falta más, y la siguiente slide dice cuántas y por qué.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 3 comunas, 10 remuestras posibles; con 45, 5 × 10²⁵</a:t>
            </a:r>
          </a:p>
        </p:txBody>
      </p:sp>
      <p:pic>
        <p:nvPicPr>
          <p:cNvPr id="4" name="Picture 3" descr="c5_37_tres_comunas.png"/>
          <p:cNvPicPr>
            <a:picLocks noChangeAspect="1"/>
          </p:cNvPicPr>
          <p:nvPr/>
        </p:nvPicPr>
        <p:blipFill>
          <a:blip r:embed="rId2"/>
          <a:stretch>
            <a:fillRect/>
          </a:stretch>
        </p:blipFill>
        <p:spPr>
          <a:xfrm>
            <a:off x="699515" y="1223443"/>
            <a:ext cx="7744968" cy="2682897"/>
          </a:xfrm>
          <a:prstGeom prst="rect">
            <a:avLst/>
          </a:prstGeom>
        </p:spPr>
      </p:pic>
      <p:sp>
        <p:nvSpPr>
          <p:cNvPr id="5" name="TextBox 4"/>
          <p:cNvSpPr txBox="1"/>
          <p:nvPr/>
        </p:nvSpPr>
        <p:spPr>
          <a:xfrm>
            <a:off x="704088" y="4043500"/>
            <a:ext cx="7744968" cy="768096"/>
          </a:xfrm>
          <a:prstGeom prst="rect">
            <a:avLst/>
          </a:prstGeom>
          <a:noFill/>
        </p:spPr>
        <p:txBody>
          <a:bodyPr wrap="square">
            <a:spAutoFit/>
          </a:bodyPr>
          <a:lstStyle/>
          <a:p>
            <a:r>
              <a:rPr sz="1300" b="0">
                <a:solidFill>
                  <a:srgbClr val="333333"/>
                </a:solidFill>
                <a:latin typeface="Fira Sans"/>
              </a:rPr>
              <a:t>Cada remuestra es un conjunto distinto de puntos, con repeticiones, y cada conjunto da su recta. Con 45 comunas las combinaciones son 5 × 10²⁵: las 30 rectas y las 2.000 son combinaciones distintas elegidas al azar. Lo que se repite es el procedimiento, no el ajuste.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2.000 remuestras, y no 30?</a:t>
            </a:r>
          </a:p>
        </p:txBody>
      </p:sp>
      <p:pic>
        <p:nvPicPr>
          <p:cNvPr id="4" name="Picture 3" descr="c5_36_por_que_2000.png"/>
          <p:cNvPicPr>
            <a:picLocks noChangeAspect="1"/>
          </p:cNvPicPr>
          <p:nvPr/>
        </p:nvPicPr>
        <p:blipFill>
          <a:blip r:embed="rId2"/>
          <a:stretch>
            <a:fillRect/>
          </a:stretch>
        </p:blipFill>
        <p:spPr>
          <a:xfrm>
            <a:off x="699515" y="1286719"/>
            <a:ext cx="7744968" cy="2556346"/>
          </a:xfrm>
          <a:prstGeom prst="rect">
            <a:avLst/>
          </a:prstGeom>
        </p:spPr>
      </p:pic>
      <p:sp>
        <p:nvSpPr>
          <p:cNvPr id="5" name="TextBox 4"/>
          <p:cNvSpPr txBox="1"/>
          <p:nvPr/>
        </p:nvSpPr>
        <p:spPr>
          <a:xfrm>
            <a:off x="704088" y="3980224"/>
            <a:ext cx="7744968" cy="768096"/>
          </a:xfrm>
          <a:prstGeom prst="rect">
            <a:avLst/>
          </a:prstGeom>
          <a:noFill/>
        </p:spPr>
        <p:txBody>
          <a:bodyPr wrap="square">
            <a:spAutoFit/>
          </a:bodyPr>
          <a:lstStyle/>
          <a:p>
            <a:r>
              <a:rPr sz="1300" b="0">
                <a:solidFill>
                  <a:srgbClr val="333333"/>
                </a:solidFill>
                <a:latin typeface="Fira Sans"/>
              </a:rPr>
              <a:t>Con 30 el histograma es tosco y el error estándar todavía se mueve; desde unas 2.000 deja de cambiar. Y no se repite ningún ajuste: de 5 × 10²⁵ remuestras posibles, las 2.000 sacadas son todas distintas.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266594" y="1143000"/>
            <a:ext cx="661081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bootstrap, el histograma: una campana alrededor de la pendiente observada, cuya desviación es el error estándar de la pendiente. Sin bootstrap, la campana punteada: la fórmula de statsmodels, que viene en la siguiente slide. Casi ninguna remuestra llega al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bootstrap: los percentiles 2,5 y 97,5</a:t>
            </a:r>
          </a:p>
        </p:txBody>
      </p:sp>
      <p:pic>
        <p:nvPicPr>
          <p:cNvPr id="4" name="Picture 3" descr="c5_40_percentiles.png"/>
          <p:cNvPicPr>
            <a:picLocks noChangeAspect="1"/>
          </p:cNvPicPr>
          <p:nvPr/>
        </p:nvPicPr>
        <p:blipFill>
          <a:blip r:embed="rId2"/>
          <a:stretch>
            <a:fillRect/>
          </a:stretch>
        </p:blipFill>
        <p:spPr>
          <a:xfrm>
            <a:off x="1339207" y="1143000"/>
            <a:ext cx="6465584"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Ordenar las 2.000 pendientes: la número 50 desde abajo es el percentil 2,5 y la número 50 desde arriba, el 97,5. Entre ambas queda el 95% central de las remuestras, y ese es el intervalo. No supone forma de campana: lo lee directo del histograma.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b_summary_coef_ee.png"/>
          <p:cNvPicPr>
            <a:picLocks noChangeAspect="1"/>
          </p:cNvPicPr>
          <p:nvPr/>
        </p:nvPicPr>
        <p:blipFill>
          <a:blip r:embed="rId2"/>
          <a:stretch>
            <a:fillRect/>
          </a:stretch>
        </p:blipFill>
        <p:spPr>
          <a:xfrm>
            <a:off x="699515" y="1580443"/>
            <a:ext cx="7744968" cy="1968898"/>
          </a:xfrm>
          <a:prstGeom prst="rect">
            <a:avLst/>
          </a:prstGeom>
        </p:spPr>
      </p:pic>
      <p:sp>
        <p:nvSpPr>
          <p:cNvPr id="5" name="TextBox 4"/>
          <p:cNvSpPr txBox="1"/>
          <p:nvPr/>
        </p:nvSpPr>
        <p:spPr>
          <a:xfrm>
            <a:off x="704088" y="3686500"/>
            <a:ext cx="7744968" cy="768096"/>
          </a:xfrm>
          <a:prstGeom prst="rect">
            <a:avLst/>
          </a:prstGeom>
          <a:noFill/>
        </p:spPr>
        <p:txBody>
          <a:bodyPr wrap="square">
            <a:spAutoFit/>
          </a:bodyPr>
          <a:lstStyle/>
          <a:p>
            <a:r>
              <a:rPr sz="1300" b="0">
                <a:solidFill>
                  <a:srgbClr val="333333"/>
                </a:solidFill>
                <a:latin typeface="Fira Sans"/>
              </a:rPr>
              <a:t>Sin remuestrear, a partir de los residuos: la columna std err. El error estándar de la pendiente es 2,02, cerca del 1,8 del bootstrap. Las demás columnas se van a ir pintando a medida que lleguen sus conceptos.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dónde sale el std err: la fórmula</a:t>
            </a:r>
          </a:p>
        </p:txBody>
      </p:sp>
      <p:pic>
        <p:nvPicPr>
          <p:cNvPr id="4" name="Picture 3" descr="c5_32_formula_ee_pendiente.png"/>
          <p:cNvPicPr>
            <a:picLocks noChangeAspect="1"/>
          </p:cNvPicPr>
          <p:nvPr/>
        </p:nvPicPr>
        <p:blipFill>
          <a:blip r:embed="rId2"/>
          <a:stretch>
            <a:fillRect/>
          </a:stretch>
        </p:blipFill>
        <p:spPr>
          <a:xfrm>
            <a:off x="1188919" y="1143000"/>
            <a:ext cx="676616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misma decisión de la etapa 2, ahora para la recta: s reemplaza a σ. La pendiente se mueve menos si las comunas están cerca de la recta (s chico) y si los ingresos están bien desplegados (la suma grande).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en el summary</a:t>
            </a:r>
          </a:p>
        </p:txBody>
      </p:sp>
      <p:pic>
        <p:nvPicPr>
          <p:cNvPr id="4" name="Picture 3" descr="c5_11a_summary_ee.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Las columnas [0.025 0.975]: b ± 2,02 · EE = [−8,9; −0,75]. El primer uso del error estándar, ahora para la pendiente.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pendiente de las comunas, con y sin bootstrap</a:t>
            </a:r>
          </a:p>
        </p:txBody>
      </p:sp>
      <p:pic>
        <p:nvPicPr>
          <p:cNvPr id="4" name="Picture 3" descr="c5_34_tabla_bootstrap.png"/>
          <p:cNvPicPr>
            <a:picLocks noChangeAspect="1"/>
          </p:cNvPicPr>
          <p:nvPr/>
        </p:nvPicPr>
        <p:blipFill>
          <a:blip r:embed="rId2"/>
          <a:stretch>
            <a:fillRect/>
          </a:stretch>
        </p:blipFill>
        <p:spPr>
          <a:xfrm>
            <a:off x="699515" y="1287723"/>
            <a:ext cx="7744968" cy="2554337"/>
          </a:xfrm>
          <a:prstGeom prst="rect">
            <a:avLst/>
          </a:prstGeom>
        </p:spPr>
      </p:pic>
      <p:sp>
        <p:nvSpPr>
          <p:cNvPr id="5" name="TextBox 4"/>
          <p:cNvSpPr txBox="1"/>
          <p:nvPr/>
        </p:nvSpPr>
        <p:spPr>
          <a:xfrm>
            <a:off x="704088" y="3979220"/>
            <a:ext cx="7744968" cy="768096"/>
          </a:xfrm>
          <a:prstGeom prst="rect">
            <a:avLst/>
          </a:prstGeom>
          <a:noFill/>
        </p:spPr>
        <p:txBody>
          <a:bodyPr wrap="square">
            <a:spAutoFit/>
          </a:bodyPr>
          <a:lstStyle/>
          <a:p>
            <a:r>
              <a:rPr sz="1300" b="0">
                <a:solidFill>
                  <a:srgbClr val="333333"/>
                </a:solidFill>
                <a:latin typeface="Fira Sans"/>
              </a:rPr>
              <a:t>Dos caminos al mismo número, con la misma muestra de 45 comunas: se parecen, y ningún intervalo incluye el 0. La fórmula es instantánea, pero existe solo para algunos estadísticos y supone cosas sobre los residuos.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tiene que ver p con la regresión</a:t>
            </a:r>
          </a:p>
        </p:txBody>
      </p:sp>
      <p:pic>
        <p:nvPicPr>
          <p:cNvPr id="4" name="Picture 3" descr="c5_45_p_y_regresion.png"/>
          <p:cNvPicPr>
            <a:picLocks noChangeAspect="1"/>
          </p:cNvPicPr>
          <p:nvPr/>
        </p:nvPicPr>
        <p:blipFill>
          <a:blip r:embed="rId2"/>
          <a:stretch>
            <a:fillRect/>
          </a:stretch>
        </p:blipFill>
        <p:spPr>
          <a:xfrm>
            <a:off x="786707" y="1143000"/>
            <a:ext cx="757058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p = 0,021 concluimos que la relación entre ingreso y duración probablemente es real; con p = 0,40 no podríamos distinguir la recta del ruido. Lo que p no dice: si el efecto es grande, ni si es causal.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misma campana, en dos posiciones</a:t>
            </a:r>
          </a:p>
        </p:txBody>
      </p:sp>
      <p:pic>
        <p:nvPicPr>
          <p:cNvPr id="4" name="Picture 3" descr="c5_46_campana_azar.png"/>
          <p:cNvPicPr>
            <a:picLocks noChangeAspect="1"/>
          </p:cNvPicPr>
          <p:nvPr/>
        </p:nvPicPr>
        <p:blipFill>
          <a:blip r:embed="rId2"/>
          <a:stretch>
            <a:fillRect/>
          </a:stretch>
        </p:blipFill>
        <p:spPr>
          <a:xfrm>
            <a:off x="1755749" y="1143000"/>
            <a:ext cx="563250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Arriba, centrada en lo observado: cuánto se mueve nuestra pendiente, y de ahí el intervalo. Abajo, centrada en 0: qué haría el azar sin relación, y de ahí la prueba. Que el intervalo no toque el 0 y que b caiga en la zona de rechazo es la misma afirmación.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EE(b), a cuántos errores estándar del cero está la pendiente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en el summary</a:t>
            </a:r>
          </a:p>
        </p:txBody>
      </p:sp>
      <p:pic>
        <p:nvPicPr>
          <p:cNvPr id="4" name="Picture 3" descr="c5_11d_summary_t.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t = −4,81 / 2,02 = −2,39: la pendiente está a 2,4 errores estándar del cero. Falta saber qué tan raro es eso, y con qué distribución se mide.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la fórmula y el código</a:t>
            </a:r>
          </a:p>
        </p:txBody>
      </p:sp>
      <p:pic>
        <p:nvPicPr>
          <p:cNvPr id="4" name="Picture 3" descr="c5_44_t_p_formula_codigo.png"/>
          <p:cNvPicPr>
            <a:picLocks noChangeAspect="1"/>
          </p:cNvPicPr>
          <p:nvPr/>
        </p:nvPicPr>
        <p:blipFill>
          <a:blip r:embed="rId2"/>
          <a:stretch>
            <a:fillRect/>
          </a:stretch>
        </p:blipFill>
        <p:spPr>
          <a:xfrm>
            <a:off x="1065436" y="1143000"/>
            <a:ext cx="7013126"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F es la acumulada de la t de Student con n − 2 = 43 grados de libertad: la normal con un margen extra, porque σ se estimó con 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 última columna, P&gt;|t| = 0,021: si la pendiente real fuera 0, un t así de lejos ocurre el 2,1% de las veces. Las cinco columnas, pintadas: coeficiente, error estándar, intervalo, t y valor 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a la pregunta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que nos dio el modelo no es azar: en las comunas de mayor ingreso los viajes duran menos, unos 4,8 minutos menos por cada millón de pesos de ingreso medio (entre 0,75 y 8,9).</a:t>
            </a:r>
          </a:p>
          <a:p>
            <a:pPr>
              <a:lnSpc>
                <a:spcPct val="112000"/>
              </a:lnSpc>
              <a:spcAft>
                <a:spcPts val="900"/>
              </a:spcAft>
            </a:pPr>
            <a:r>
              <a:rPr sz="1800" b="1">
                <a:solidFill>
                  <a:srgbClr val="E0A437"/>
                </a:solidFill>
                <a:latin typeface="Fira Sans"/>
              </a:rPr>
              <a:t>▸ </a:t>
            </a:r>
            <a:r>
              <a:rPr sz="1800" b="0">
                <a:solidFill>
                  <a:srgbClr val="000000"/>
                </a:solidFill>
                <a:latin typeface="Fira Sans"/>
              </a:rPr>
              <a:t>Lo que la sostiene: p = 0,021 y el intervalo [−8,9; −0,75] no incluye el 0. Con 45 comunas apenas cruza el umbral, porque p depende del efecto y del tamaño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Que un efecto sea estadísticamente significativo no dice que sea grande: el tamaño lo da el coeficiente, y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790060" y="1143000"/>
            <a:ext cx="7563879"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Cada punto es un par de viajes. Si los residuos fueran independientes, saber que la ida salió más larga de lo que predice el modelo no diría nada de la vuelta. En la EOD sí dice: statsmodels cuenta 102 mil viajes independientes cuando hay menos información, y el EE queda muy chico.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25666"/>
            <a:ext cx="7744968" cy="2534483"/>
          </a:xfrm>
          <a:prstGeom prst="rect">
            <a:avLst/>
          </a:prstGeom>
        </p:spPr>
      </p:pic>
      <p:sp>
        <p:nvSpPr>
          <p:cNvPr id="5" name="TextBox 4"/>
          <p:cNvSpPr txBox="1"/>
          <p:nvPr/>
        </p:nvSpPr>
        <p:spPr>
          <a:xfrm>
            <a:off x="704088" y="4097309"/>
            <a:ext cx="7744968" cy="512064"/>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residuos normales</a:t>
            </a:r>
          </a:p>
        </p:txBody>
      </p:sp>
      <p:pic>
        <p:nvPicPr>
          <p:cNvPr id="4" name="Picture 3" descr="c5_22_normalidad.png"/>
          <p:cNvPicPr>
            <a:picLocks noChangeAspect="1"/>
          </p:cNvPicPr>
          <p:nvPr/>
        </p:nvPicPr>
        <p:blipFill>
          <a:blip r:embed="rId2"/>
          <a:stretch>
            <a:fillRect/>
          </a:stretch>
        </p:blipFill>
        <p:spPr>
          <a:xfrm>
            <a:off x="699515" y="1337417"/>
            <a:ext cx="7744968" cy="2454949"/>
          </a:xfrm>
          <a:prstGeom prst="rect">
            <a:avLst/>
          </a:prstGeom>
        </p:spPr>
      </p:pic>
      <p:sp>
        <p:nvSpPr>
          <p:cNvPr id="5" name="TextBox 4"/>
          <p:cNvSpPr txBox="1"/>
          <p:nvPr/>
        </p:nvSpPr>
        <p:spPr>
          <a:xfrm>
            <a:off x="704088" y="3929526"/>
            <a:ext cx="7744968" cy="768096"/>
          </a:xfrm>
          <a:prstGeom prst="rect">
            <a:avLst/>
          </a:prstGeom>
          <a:noFill/>
        </p:spPr>
        <p:txBody>
          <a:bodyPr wrap="square">
            <a:spAutoFit/>
          </a:bodyPr>
          <a:lstStyle/>
          <a:p>
            <a:r>
              <a:rPr sz="1300" b="0">
                <a:solidFill>
                  <a:srgbClr val="333333"/>
                </a:solidFill>
                <a:latin typeface="Fira Sans"/>
              </a:rPr>
              <a:t>El supuesto: los residuos siguen una normal, no las variables. Con 45 comunas hay que mirarlo, en el histograma de residuos y en los atípicos. Con 18 mil hogares deja de importar: los residuos no son normales y la pendiente igual se reparte como una normal, por el teorema central del límite.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ni supuestos; sirve para cualquier estadístico.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diagnósticos con los residuos y evaluación fuera de la muestra; y regresión logística, para una respuesta que es sí o no.</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
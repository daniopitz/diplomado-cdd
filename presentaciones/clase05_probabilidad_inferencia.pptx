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5 · Probabilidad e inferencia: ¿real o azar?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8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lunes 15; el enunciado y la rúbrica están publicados en el repositorio.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formulación entregada el lunes 7 se devuelve con comentarios durante la semana.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 de hoy entra directo en el EDA: intervalos de confianza y la trampa de probar muchas variables.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El azar tiene forma: variables aleatorias y la normal.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Un número se mueve: distribución muestral y error estándar.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Primer uso del error estándar: el intervalo de confianza.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La pendiente también se mueve: bootstrap.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Segundo uso: la prueba de hipótesis, la t y el valor p. Qué supone.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6. La trampa de las comparaciones múltiples.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7. Otro modelo, el mismo lector: regresión logística para un sí o no.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¿Cuánto se movería este número con otra muestra?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La pregunta pendiente desde la clase 3: la pendiente de −4,8 minutos por millón, con 45 comunas y p = 0,021. ¿Real o azar? Hoy se responde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Descriptiva e inferencia</a:t>
            </a:r>
          </a:p>
        </p:txBody>
      </p:sp>
      <p:pic>
        <p:nvPicPr>
          <p:cNvPr id="4" name="Picture 3" descr="c5_29_descriptiva_infer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35284"/>
            <a:ext cx="7744968" cy="251524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87691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descriptiva habla de la tabla que tenemos; la inferencia, de la población de la que salió, con su incertidumbre. Dos preguntas: cuánto vale, y si es real o azar.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1. El azar tiene forma</a:t>
            </a:r>
          </a:p>
        </p:txBody>
      </p:sp>
      <p:pic>
        <p:nvPicPr>
          <p:cNvPr id="4" name="Picture 3" descr="c5_23_mapa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Probabilidad, el lenguaje de la incertidumbre: variables aleatorias y distribuciones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variable aleatoria y su distribución</a:t>
            </a:r>
          </a:p>
        </p:txBody>
      </p:sp>
      <p:pic>
        <p:nvPicPr>
          <p:cNvPr id="4" name="Picture 3" descr="c5_01_distribucion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7345" y="1143000"/>
            <a:ext cx="6629309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duración del próximo viaje depende del azar: es una variable aleatoria. Su distribución dice qué valores toma y con qué frecuencia: en la población, el histograma. La esperanza es su media.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media también es una variable aleatoria</a:t>
            </a:r>
          </a:p>
        </p:txBody>
      </p:sp>
      <p:pic>
        <p:nvPicPr>
          <p:cNvPr id="4" name="Picture 3" descr="c5_30_media_variable_aleato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91838"/>
            <a:ext cx="7744968" cy="24021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31137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Depende de qué 100 viajes cayeron en la muestra: otra muestra, otra media. Y aunque la duración no tenga forma de campana, la media sí. Esa campana tiene nombre, y es la siguiente slide.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normal</a:t>
            </a:r>
          </a:p>
        </p:txBody>
      </p:sp>
      <p:pic>
        <p:nvPicPr>
          <p:cNvPr id="4" name="Picture 3" descr="c5_03_normal_reg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3402"/>
            <a:ext cx="7744968" cy="256297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83541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campana tiene dos parámetros: μ, la media, y σ, la desviación estándar. El 95% de los valores cae a menos de 1,96 σ de la media. Es la distribución de la inferencia porque los promedios la siguen; ese 1,96 vuelve en los intervalos de confianza.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duración no es normal; en log, casi</a:t>
            </a:r>
          </a:p>
        </p:txBody>
      </p:sp>
      <p:pic>
        <p:nvPicPr>
          <p:cNvPr id="4" name="Picture 3" descr="c5_02_normal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15739"/>
            <a:ext cx="7744968" cy="255433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0723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cola larga (asimetría 5,3) se aleja de la normal; en log la variable se acomoda a la campana. Es la razón de fondo del log de la clase 4.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2. Un número se mueve</a:t>
            </a:r>
          </a:p>
        </p:txBody>
      </p:sp>
      <p:pic>
        <p:nvPicPr>
          <p:cNvPr id="4" name="Picture 3" descr="c5_23_mapa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Muestra y población: una muestra es una de muchas posibles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muestras, dos medias</a:t>
            </a:r>
          </a:p>
        </p:txBody>
      </p:sp>
      <p:pic>
        <p:nvPicPr>
          <p:cNvPr id="4" name="Picture 3" descr="c5_05_dos_muestr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13849"/>
            <a:ext cx="7744968" cy="25581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0912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Hoy tratamos los 113 mil viajes de la EOD como si fueran la población, para poder muestrear muchas veces. Cada muestra de 100 viajes da otra media; ninguna es la poblacional.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muestral de la media</a:t>
            </a:r>
          </a:p>
        </p:txBody>
      </p:sp>
      <p:pic>
        <p:nvPicPr>
          <p:cNvPr id="4" name="Picture 3" descr="c5_06_distribucion_muest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4707" y="1143000"/>
            <a:ext cx="6974586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2.000 muestras, 2.000 medias: su histograma es la distribución muestral, centrada en la media real. Su desviación estándar es el error estándar: cuánto se mueve la media de una muestra a otra.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error estándar de la media</a:t>
            </a:r>
          </a:p>
        </p:txBody>
      </p:sp>
      <p:pic>
        <p:nvPicPr>
          <p:cNvPr id="4" name="Picture 3" descr="c5_08_formula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48628"/>
            <a:ext cx="7744968" cy="28885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274347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calcula desde una sola muestra, sin ver la población, reemplazando σ por s. Para reducirlo a la mitad hay que cuadruplicar la muestra.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teorema central del límite</a:t>
            </a:r>
          </a:p>
        </p:txBody>
      </p:sp>
      <p:pic>
        <p:nvPicPr>
          <p:cNvPr id="4" name="Picture 3" descr="c5_07_t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58765"/>
            <a:ext cx="7744968" cy="22122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08178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media de una muestra se distribuye normal alrededor de la media real, con desviación σ/√n, aunque la variable no sea normal. Por eso la normal es la distribución de la inferencia: los promedios lo son, y la regla del 1,96 σ se les puede aplicar.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3. Primer uso del error estándar: el intervalo</a:t>
            </a:r>
          </a:p>
        </p:txBody>
      </p:sp>
      <p:pic>
        <p:nvPicPr>
          <p:cNvPr id="4" name="Picture 3" descr="c5_23_mapa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Del error estándar a un rango honesto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la distribución muestral al intervalo</a:t>
            </a:r>
          </a:p>
        </p:txBody>
      </p:sp>
      <p:pic>
        <p:nvPicPr>
          <p:cNvPr id="4" name="Picture 3" descr="c5_18_puente_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38397"/>
            <a:ext cx="7744968" cy="24529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28546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Paso 1: por el TCL las medias muestrales son normales, así que el 95% cae a menos de 1,96 EE de μ. Paso 2, la misma frase al revés: μ está a menos de 1,96 EE de la media de mi muestra en el 95% de las muestras. Ese rango es el intervalo.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de confianza del 95%</a:t>
            </a:r>
          </a:p>
        </p:txBody>
      </p:sp>
      <p:pic>
        <p:nvPicPr>
          <p:cNvPr id="4" name="Picture 3" descr="c5_09_formula_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75055"/>
            <a:ext cx="7744968" cy="26357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47920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lee sobre el procedimiento: si repitiéramos el muestreo, el 95% de los intervalos atraparía la media real. Este intervalo en particular la atrapa o no; nunca sabremos cuál de los dos.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Comprobado con la población</a:t>
            </a:r>
          </a:p>
        </p:txBody>
      </p:sp>
      <p:pic>
        <p:nvPicPr>
          <p:cNvPr id="4" name="Picture 3" descr="c5_10_cober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1261" y="1143000"/>
            <a:ext cx="6901477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100 muestras de 100 viajes, 100 intervalos: los rojos no atrapan la media. Cerca del 95% lo hace; con cola larga y n = 100, un poco menos.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4. La pendiente también se mueve</a:t>
            </a:r>
          </a:p>
        </p:txBody>
      </p:sp>
      <p:pic>
        <p:nvPicPr>
          <p:cNvPr id="4" name="Picture 3" descr="c5_23_mapa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97543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25432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pregunta pendiente: −4,8 minutos por millón, con 45 comunas. Otra muestra de comunas daría otra pendiente. ¿Cuánto se mueve?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Otra muestra, otra recta</a:t>
            </a:r>
          </a:p>
        </p:txBody>
      </p:sp>
      <p:pic>
        <p:nvPicPr>
          <p:cNvPr id="4" name="Picture 3" descr="c5_24_rectas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1122" y="1143000"/>
            <a:ext cx="6081755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No hay una población de comunas de donde sacar otra muestra. El bootstrap la imita con la muestra que hay: saca 45 comunas con reemplazo (algunas se repiten, otras quedan fuera), ajusta la recta y repite.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Remuestrear los 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pendientes = []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for _ in range(2000):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idx = rng.integers(0, 45, 45)     # 45 comunas, con reemplazo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pendientes.append(np.polyfit(x[idx], y[idx], 1)[0])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np.percentile(pendientes, [2.5, 97.5])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Cada remuestra da una pendiente. La distribución de las 2.000 pendientes es la distribución muestral de la pendiente, estimada sin fórmulas ni supuestos.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Comprobado con la media: una sola muestra basta</a:t>
            </a:r>
          </a:p>
        </p:txBody>
      </p:sp>
      <p:pic>
        <p:nvPicPr>
          <p:cNvPr id="4" name="Picture 3" descr="c5_31_bootstrap_vs_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18357"/>
            <a:ext cx="7744968" cy="249307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48586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Sin bootstrap: 2.000 muestras distintas de la población, como en la etapa 2. Con bootstrap: una sola muestra, remuestreada. El ancho se parece, y depende de la muestra que toque; el centro es el de esa muestra, no el real, porque el real no se conoce.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muestral de la pendiente</a:t>
            </a:r>
          </a:p>
        </p:txBody>
      </p:sp>
      <p:pic>
        <p:nvPicPr>
          <p:cNvPr id="4" name="Picture 3" descr="c5_13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2743" y="1143000"/>
            <a:ext cx="6398513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bootstrap, el histograma: una campana alrededor de la pendiente observada, cuya desviación es el error estándar de la pendiente. Sin bootstrap, la campana punteada: la fórmula de statsmodels, que viene en la siguiente slide. Casi ninguna remuestra llega al 0.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statsmodels lo calcula con una fórmula: std err</a:t>
            </a:r>
          </a:p>
        </p:txBody>
      </p:sp>
      <p:pic>
        <p:nvPicPr>
          <p:cNvPr id="4" name="Picture 3" descr="c5_11b_summary_coef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44161"/>
            <a:ext cx="7744968" cy="184146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22782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Sin remuestrear, a partir de los residuos: la columna std err. El error estándar de la pendiente es 2,02, cerca del 1,8 del bootstrap. Las demás columnas se van a ir pintando a medida que lleguen sus conceptos.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de la pendiente, en el summary</a:t>
            </a:r>
          </a:p>
        </p:txBody>
      </p:sp>
      <p:pic>
        <p:nvPicPr>
          <p:cNvPr id="4" name="Picture 3" descr="c5_11a_summary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72177"/>
            <a:ext cx="7744968" cy="184146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750798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columnas [0.025 0.975]: b ± 2,02 · EE = [−8,9; −0,75]. El primer uso del error estándar, ahora para la pendiente.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de la pendiente, por dos caminos</a:t>
            </a:r>
          </a:p>
        </p:txBody>
      </p:sp>
      <p:pic>
        <p:nvPicPr>
          <p:cNvPr id="4" name="Picture 3" descr="c5_25_dos_interva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17820"/>
            <a:ext cx="7744968" cy="249414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49123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parecen, y ninguno incluye el 0. El bootstrap sirve para cualquier estadístico y no necesita supuestos; la fórmula es instantánea, pero supone cosas sobre los residuos que veremos al cerrar la sección 5.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5. Segundo uso del error estándar: el contraste</a:t>
            </a:r>
          </a:p>
        </p:txBody>
      </p:sp>
      <p:pic>
        <p:nvPicPr>
          <p:cNvPr id="4" name="Picture 3" descr="c5_23_mapa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Prueba de hipótesis y valor p: ¿la pendiente es real o azar?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lógica de la prueba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Hipótesis nula H0: la pendiente real es 0, el ingreso no tiene efecto sobre la duración. Alternativa H1: no es 0.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 H0 fuera cierta, ¿qué tan raro sería obtener una pendiente como la nuestra solo por azar de qué comunas cayeron en la muestra?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 la regla del 1,96 al revés: si la real fuera 0, el 95% de las pendientes caería a menos de unos 2 errores estándar de 0. El estadístico: t = b / EE, a cuántos errores estándar del cero está b.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valor p: la probabilidad, si H0 fuera cierta, de un t así de lejos. Convención: si p &lt; 0,05, se rechaza H0 y el efecto se declara significativo.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t, en el summary</a:t>
            </a:r>
          </a:p>
        </p:txBody>
      </p:sp>
      <p:pic>
        <p:nvPicPr>
          <p:cNvPr id="4" name="Picture 3" descr="c5_11d_summary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72177"/>
            <a:ext cx="7744968" cy="184146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750798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 = −4,81 / 2,02 = −2,39: la pendiente está a 2,4 errores estándar del cero. Falta saber qué tan raro es eso, y con qué distribución se mide.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t de Student</a:t>
            </a:r>
          </a:p>
        </p:txBody>
      </p:sp>
      <p:pic>
        <p:nvPicPr>
          <p:cNvPr id="4" name="Picture 3" descr="c5_26_t_stud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4629" y="1143000"/>
            <a:ext cx="6694741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error estándar se calculó con s, no con σ, y con pocos puntos esa estimación agrega incertidumbre: la distribución de t es una normal algo más ancha, con n − 2 grados de libertad. Con 45 comunas el 1,96 se vuelve 2,02; con n grande es la normal.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valor p, dibujado</a:t>
            </a:r>
          </a:p>
        </p:txBody>
      </p:sp>
      <p:pic>
        <p:nvPicPr>
          <p:cNvPr id="4" name="Picture 3" descr="c5_12_valor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258" y="1143000"/>
            <a:ext cx="7297483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t con 43 grados de libertad, centrada en 0: lo que produciría el azar si la pendiente real fuera 0. El área dorada de las dos colas más allá del t observado es el valor p.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 y p, a mano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b, ee = modelo.params["ingreso"], modelo.bse["ingreso"]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t = b / ee                                 # -2.39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Dos colas de la t con n - 2 grados de libertad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 = 2 * (1 - stats.t.cdf(abs(t), df=43))   # 0.021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Lo que statsmodels imprime sale de esta cuenta: el coeficiente en unidades de su error estándar, y el área que deja en las colas.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 completo, por fin</a:t>
            </a:r>
          </a:p>
        </p:txBody>
      </p:sp>
      <p:pic>
        <p:nvPicPr>
          <p:cNvPr id="4" name="Picture 3" descr="c5_11_summary_compl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72177"/>
            <a:ext cx="7744968" cy="184146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750798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última columna, P&gt;|t| = 0,021: si la pendiente real fuera 0, un t así de lejos ocurre el 2,1% de las veces. Las cinco columnas, pintadas: coeficiente, error estándar, intervalo, t y valor p.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respuesta, y su letra chica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pendiente de −4,8 no parece azar: p = 0,021 y el intervalo [−8,9; −0,75] no incluye el 0. Rechazamos H0.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Pero el valor p depende del efecto y del tamaño de la muestra: la motorización (18 mil hogares) tiene t = 80 y p prácticamente 0; las comunas, con 45 puntos, apenas cruzan el umbral.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Significativo no es importante: el tamaño del efecto lo dice el coeficiente; su precisión, el intervalo.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Correlación no es causalidad, tampoco con p pequeño: seguimos reportando asociación.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Intervalo y valor p dicen lo mismo</a:t>
            </a:r>
          </a:p>
        </p:txBody>
      </p:sp>
      <p:pic>
        <p:nvPicPr>
          <p:cNvPr id="4" name="Picture 3" descr="c5_27_ic_y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204" y="1143000"/>
            <a:ext cx="7687591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Que el intervalo no incluya el 0 y que p sea menor que 0,05 es la misma afirmación: b está a más de 2,02 errores estándar del 0. El intervalo además muestra el tamaño y la precisión del efecto; por eso se prefiere.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Supuesto 1: residuos independientes</a:t>
            </a:r>
          </a:p>
        </p:txBody>
      </p:sp>
      <p:pic>
        <p:nvPicPr>
          <p:cNvPr id="4" name="Picture 3" descr="c5_20_independ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72212"/>
            <a:ext cx="7744968" cy="278535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94731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residuo de un viaje no debería decir nada del residuo de otro. En la EOD la vuelta se parece a la ida: statsmodels cuenta 102 mil viajes independientes cuando hay menos información, y el error estándar queda demasiado chico.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Supuesto 2: la misma varianza en todo el rango</a:t>
            </a:r>
          </a:p>
        </p:txBody>
      </p:sp>
      <p:pic>
        <p:nvPicPr>
          <p:cNvPr id="4" name="Picture 3" descr="c5_21_varianz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25666"/>
            <a:ext cx="7744968" cy="253448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97309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 la dispersión de los residuos crece con x, el error estándar queda mal calculado. Otra razón del log de la clase 4.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Supuesto 3: la normalidad</a:t>
            </a:r>
          </a:p>
        </p:txBody>
      </p:sp>
      <p:pic>
        <p:nvPicPr>
          <p:cNvPr id="4" name="Picture 3" descr="c5_22_normal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8462"/>
            <a:ext cx="7744968" cy="25528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78481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No se supone que las variables sean normales. Con n chico, como las 45 comunas, se supone que los residuos lo son; con n grande el TCL hace el trabajo, porque un coeficiente es un promedio ponderado de los y. Lo que daña son las colas largas y los atípicos.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6. La trampa de las comparaciones múltiples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Qué pasa con el valor p cuando se prueba de todo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20 variables de puro ruido</a:t>
            </a:r>
          </a:p>
        </p:txBody>
      </p:sp>
      <p:pic>
        <p:nvPicPr>
          <p:cNvPr id="4" name="Picture 3" descr="c5_14_comparaciones_multi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127" y="1143000"/>
            <a:ext cx="6873745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Números al azar, sin relación con nada, probados contra la duración por comuna: con 20 intentos y umbral 0,05 se espera una falsa alarma. Es lo que pasa al recorrer una matriz de correlación buscando la que dé.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Reglas para el EDA del proyecto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Reportar cuántas pruebas se hicieron; un hallazgo aislado entre muchos intentos merece desconfianza.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corrección más simple, Bonferroni: dividir el umbral por el número de pruebas (0,05 / 20 = 0,0025).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Preferir el intervalo de confianza al valor p: muestra el tamaño del efecto y su precisión.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Significativo no es importante, y correlación no es causalidad.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7. Otro modelo, el mismo lector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¿Qué hogares tienen auto? Explicar un sí o no con el ingreso del hogar: la regresión logística, y con ella, clasificar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de un sí o no: Bernoulli y binomial</a:t>
            </a:r>
          </a:p>
        </p:txBody>
      </p:sp>
      <p:pic>
        <p:nvPicPr>
          <p:cNvPr id="4" name="Picture 3" descr="c5_04_binom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1463" y="1143000"/>
            <a:ext cx="7161072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Tener auto es un sí o no con probabilidad p: una Bernoulli. Contar los síes en n intentos da la binomial, y cada barra sale de su fórmula. La logística modela esa p según el ingreso.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 no sirve para un sí o no</a:t>
            </a:r>
          </a:p>
        </p:txBody>
      </p:sp>
      <p:pic>
        <p:nvPicPr>
          <p:cNvPr id="4" name="Picture 3" descr="c5_15_recta_vs_logist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7479" y="1143000"/>
            <a:ext cx="6609041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Sobre un 0/1, la recta predice 1,39 a los 5 millones y valores negativos abajo: no respeta que la respuesta vive entre 0 y 1. La logística pasa la recta por una S y queda siempre en el rango.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regresión logística</a:t>
            </a:r>
          </a:p>
        </p:txBody>
      </p:sp>
      <p:pic>
        <p:nvPicPr>
          <p:cNvPr id="4" name="Picture 3" descr="c5_16_formula_logist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34813"/>
            <a:ext cx="7744968" cy="291619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288162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recta a + b·x, pero dentro de la sigmoide. La respuesta es una Bernoulli (la binomial con n = 1) cuya probabilidad depende de x.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logística en statsmodels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logistica = sm.GLM(h["tiene_auto"], sm.add_constant(ingreso),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family=sm.families.Binomial(),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freq_weights=h["Factor"]).fit()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np.exp(logistica.params["IngresoHogar"])   # 8.9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GLM con familia binomial, ponderado con el factor. Lectura multiplicativa, como el log de la clase 4: cada millón multiplica las chances de tener auto por 8,9.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mismo summary, las mismas columnas</a:t>
            </a:r>
          </a:p>
        </p:txBody>
      </p:sp>
      <p:pic>
        <p:nvPicPr>
          <p:cNvPr id="4" name="Picture 3" descr="c5_28_summary_logist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51674"/>
            <a:ext cx="7744968" cy="182643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15269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mismas columnas y la misma lectura de la sección 5. Letra chica: el error estándar es minúsculo porque freq_weights cuenta cada hogar tantas veces como su factor, como si fueran 2 millones de hogares y no 18 mil; los coeficientes están bien, ese z no.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Clasificar: de la probabilidad a la decisión</a:t>
            </a:r>
          </a:p>
        </p:txBody>
      </p:sp>
      <p:pic>
        <p:nvPicPr>
          <p:cNvPr id="4" name="Picture 3" descr="c5_17_clasific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0340" y="1143000"/>
            <a:ext cx="636331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Predecir "tiene auto" cuando P supera 0,5 (desde 0,86 millones). Acierta el 70%, contra el 61% de decir siempre "no": la comparación con la base es obligatoria. Dónde se equivoca lo dice la matriz de confusión (un crosstab).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Todo número que sale de una muestra se mueve de muestra en muestra; el error estándar mide cuánto.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Primer uso: el intervalo, estimación ± 2 EE, atrapa el valor real el 95% de las veces.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Segundo uso: la prueba, t = b / EE y el valor p. La pendiente de −4,8: p = 0,021, real.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bootstrap da lo mismo remuestreando, sin fórmulas; la logística usa el mismo summary para un sí o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Para el EDA del lunes 15: intervalos, y cuidado con probar de todo.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manos al teclado, con el notebook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Jueves 10: regresión lineal en profundidad: supuestos, diagnósticos con los residuos y evaluación fuera de la muestra.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lo de hoy ya se puede leer completo el summary de cualquier modelo.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lunes 15.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Efron, B. y Tibshirani, R. J. (1993). An Introduction to the Bootstrap. Chapman &amp; Hall.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Wasserstein, R. L. y Lazar, N. A. (2016). The ASA Statement on p-Values: Context, Process, and Purpose. The American Statistician, 70(2), 129-133.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
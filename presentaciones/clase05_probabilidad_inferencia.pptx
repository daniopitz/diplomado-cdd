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azar tiene forma: variables aleatorias y la normal.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Un número se mueve: distribución muestral y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Primer uso del error estándar: el intervalo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La pendiente también se mueve: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Segundo uso: la prueba de hipótesis, la t y el valor p. Qué supone.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Otro modelo, el mismo lector: regresión logística para un sí o no.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pic>
        <p:nvPicPr>
          <p:cNvPr id="4" name="Picture 3" descr="c5_29_descriptiva_in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5284"/>
            <a:ext cx="7744968" cy="2515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769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descriptiva habla de la tabla que tenemos; la inferencia, de la población de la que salió, con su incertidumbre. Dos preguntas: cuánto vale, y si es real o azar.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1. El azar tiene forma</a:t>
            </a:r>
          </a:p>
        </p:txBody>
      </p:sp>
      <p:pic>
        <p:nvPicPr>
          <p:cNvPr id="4" name="Picture 3" descr="c5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Probabilidad, el lenguaje de la incertidumbre: variables aleatorias y distribuciones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45" y="1143000"/>
            <a:ext cx="662930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también es una variable aleatoria</a:t>
            </a:r>
          </a:p>
        </p:txBody>
      </p:sp>
      <p:pic>
        <p:nvPicPr>
          <p:cNvPr id="4" name="Picture 3" descr="c5_30_media_variable_alea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6373"/>
            <a:ext cx="7744968" cy="2493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7660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Depende de qué 100 viajes cayeron en la muestra: otra muestra, otra media. Y aunque la duración no tenga forma de campana, la media sí. Esa campana tiene nombre, y es la siguiente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327"/>
            <a:ext cx="7744968" cy="2567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56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no es normal;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739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723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2. Un número se mueve</a:t>
            </a:r>
          </a:p>
        </p:txBody>
      </p:sp>
      <p:pic>
        <p:nvPicPr>
          <p:cNvPr id="4" name="Picture 3" descr="c5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Muestra y población: una muestra es una de muchas posibles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3849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912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 el error estándar: cuánto se mueve la media de una muestra a otra. Se pudo hacer porque aquí tenemos la población.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Desviación estándar y error estándar</a:t>
            </a:r>
          </a:p>
        </p:txBody>
      </p:sp>
      <p:pic>
        <p:nvPicPr>
          <p:cNvPr id="4" name="Picture 3" descr="c5_33_desviacion_vs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815" y="1143000"/>
            <a:ext cx="74323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desviación estándar σ describe los datos: cuánto varía la duración de un viaje a otro. El error estándar EE(x̄) = σ/√n describe el estimador: cuánto varía la media de una muestra a otra. Es la desviación estándar de la distribución muestral; por eso es más chico, y baja con 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estándar, desde una sola muestra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181" y="1143000"/>
            <a:ext cx="603363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2.000 muestras fueron posibles porque aquí tenemos la población. En la vida real hay una sola muestra y ninguna población a la vista: la fórmula da casi el mismo número desde esa muestra, con s en lugar de σ.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8765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0817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3. Primer uso del error estándar: el intervalo</a:t>
            </a:r>
          </a:p>
        </p:txBody>
      </p:sp>
      <p:pic>
        <p:nvPicPr>
          <p:cNvPr id="4" name="Picture 3" descr="c5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397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5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76204"/>
            <a:ext cx="7744968" cy="2433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677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61" y="1143000"/>
            <a:ext cx="690147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4. La pendiente también se mueve</a:t>
            </a:r>
          </a:p>
        </p:txBody>
      </p:sp>
      <p:pic>
        <p:nvPicPr>
          <p:cNvPr id="4" name="Picture 3" descr="c5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9527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974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pregunta pendiente: la pendiente de la recta duración = a + b · ingreso, b = −4,8 minutos por millón, con 45 comunas (el coef del ingreso en el summary). Otra muestra de comunas daría otra b. ¿Cuánto se mueve?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bootstrap</a:t>
            </a:r>
          </a:p>
        </p:txBody>
      </p:sp>
      <p:pic>
        <p:nvPicPr>
          <p:cNvPr id="4" name="Picture 3" descr="c5_39_que_e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una población de comunas de donde sacar otra muestra, así que la muestra hace de población: se sacan de ella muestras nuevas de 45, con reemplazo, y se mira cuánto cambia la pendiente entre ellas. Sin reemplazo no serviría: 45 de 45 son siempre las mismas 45.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remuestra: los mismos 45 puntos</a:t>
            </a:r>
          </a:p>
        </p:txBody>
      </p:sp>
      <p:pic>
        <p:nvPicPr>
          <p:cNvPr id="4" name="Picture 3" descr="c5_35_una_remues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884" y="1143000"/>
            <a:ext cx="673023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remuestra anterior, sobre el gráfico: las comunas que no salieron quedan vacías, las que salieron varias veces pesan más, y la recta de esta remuestra tiene otra pendiente que la observada.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Otra muestra, otra recta, otra pendiente</a:t>
            </a:r>
          </a:p>
        </p:txBody>
      </p:sp>
      <p:pic>
        <p:nvPicPr>
          <p:cNvPr id="4" name="Picture 3" descr="c5_24_recta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6139"/>
            <a:ext cx="7744968" cy="2577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9080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da una recta y cada recta una pendiente: 30 rectas, 30 pendientes. Las 30 son solo para ver la idea; para ver la forma completa hacen falta más, y la siguiente slide dice cuántas y por qué.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3 comunas, 10 remuestras posibles; con 45, 5 × 10²⁵</a:t>
            </a:r>
          </a:p>
        </p:txBody>
      </p:sp>
      <p:pic>
        <p:nvPicPr>
          <p:cNvPr id="4" name="Picture 3" descr="c5_37_tres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3443"/>
            <a:ext cx="7744968" cy="26828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3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es un conjunto distinto de puntos, con repeticiones, y cada conjunto da su recta. Con 45 comunas las combinaciones son 5 × 10²⁵: las 30 rectas y las 2.000 son combinaciones distintas elegidas al azar. Lo que se repite es el procedimiento, no el ajuste.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¿Por qué 2.000 remuestras, y no 30?</a:t>
            </a:r>
          </a:p>
        </p:txBody>
      </p:sp>
      <p:pic>
        <p:nvPicPr>
          <p:cNvPr id="4" name="Picture 3" descr="c5_36_por_que_2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6719"/>
            <a:ext cx="7744968" cy="25563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022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30 el histograma es tosco y el error estándar todavía se mueve; desde unas 2.000 deja de cambiar. Y no se repite ningún ajuste: de 5 × 10²⁵ remuestras posibles, las 2.000 sacadas son todas distintas.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#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remuestra da una pendiente. La distribución de las 2.000 pendientes es la distribución muestral de la pendiente, estimada sin fórmulas ni supuestos.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pendiente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94" y="1143000"/>
            <a:ext cx="661081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bootstrap, el histograma: una campana alrededor de la pendiente observada, cuya desviación es el error estándar de la pendiente. Sin bootstrap, la campana punteada: la fórmula de statsmodels, que viene en la siguiente slide. Casi ninguna remuestra llega al 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bootstrap: los percentiles 2,5 y 97,5</a:t>
            </a:r>
          </a:p>
        </p:txBody>
      </p:sp>
      <p:pic>
        <p:nvPicPr>
          <p:cNvPr id="4" name="Picture 3" descr="c5_40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207" y="1143000"/>
            <a:ext cx="646558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Ordenar las 2.000 pendientes: la número 50 desde abajo es el percentil 2,5 y la número 50 desde arriba, el 97,5. Entre ambas queda el 95% central de las remuestras, y ese es el intervalo. No supone forma de campana: lo lee directo del histograma.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statsmodels lo calcula con una fórmula: std err</a:t>
            </a:r>
          </a:p>
        </p:txBody>
      </p:sp>
      <p:pic>
        <p:nvPicPr>
          <p:cNvPr id="4" name="Picture 3" descr="c5_11b_summary_coef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0443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86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remuestrear, a partir de los residuos: la columna std err. El error estándar de la pendiente es 2,02, cerca del 1,8 del bootstrap. Las demás columnas se van a ir pintando a medida que lleguen sus conceptos.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el std err: la fórmula</a:t>
            </a:r>
          </a:p>
        </p:txBody>
      </p:sp>
      <p:pic>
        <p:nvPicPr>
          <p:cNvPr id="4" name="Picture 3" descr="c5_32_formula_e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919" y="1143000"/>
            <a:ext cx="676616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decisión de la etapa 2, ahora para la recta: s reemplaza a σ. La pendiente se mueve menos si las comunas están cerca de la recta (s chico) y si los ingresos están bien desplegados (la suma grande).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en el summary</a:t>
            </a:r>
          </a:p>
        </p:txBody>
      </p:sp>
      <p:pic>
        <p:nvPicPr>
          <p:cNvPr id="4" name="Picture 3" descr="c5_11a_summary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[0.025 0.975]: b ± 2,02 · EE = [−8,9; −0,75]. El primer uso del error estándar, ahora para la pendiente.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pendiente de las comunas, con y sin bootstrap</a:t>
            </a:r>
          </a:p>
        </p:txBody>
      </p:sp>
      <p:pic>
        <p:nvPicPr>
          <p:cNvPr id="4" name="Picture 3" descr="c5_34_tabla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723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922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caminos al mismo número, con la misma muestra de 45 comunas: se parecen, y ningún intervalo incluye el 0. La fórmula es instantánea, pero existe solo para algunos estadísticos y supone cosas sobre los residuos.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5. Segundo uso del error estándar: el contraste</a:t>
            </a:r>
          </a:p>
        </p:txBody>
      </p:sp>
      <p:pic>
        <p:nvPicPr>
          <p:cNvPr id="4" name="Picture 3" descr="c5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Prueba de hipótesis y valor p: ¿la pendiente es real o azar?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tiene que ver p con la regresión</a:t>
            </a:r>
          </a:p>
        </p:txBody>
      </p:sp>
      <p:pic>
        <p:nvPicPr>
          <p:cNvPr id="4" name="Picture 3" descr="c5_45_p_y_regre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07" y="1143000"/>
            <a:ext cx="757058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p = 0,021 concluimos que la relación entre ingreso y duración probablemente es real; con p = 0,40 no podríamos distinguir la recta del ruido. Lo que p no dice: si el efecto es grande, ni si es causal.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campana, en dos posiciones</a:t>
            </a:r>
          </a:p>
        </p:txBody>
      </p:sp>
      <p:pic>
        <p:nvPicPr>
          <p:cNvPr id="4" name="Picture 3" descr="c5_46_campana_a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749" y="1143000"/>
            <a:ext cx="563250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Arriba, centrada en lo observado: cuánto se mueve nuestra pendiente, y de ahí el intervalo. Abajo, centrada en 0: qué haría el azar sin relación, y de ahí la prueba. Que el intervalo no toque el 0 y que b caiga en la zona de rechazo es la misma afirmación.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regla del 1,96 al revés: si la real fuera 0, el 95% de las pendientes caería a menos de unos 2 errores estándar de 0. El estadístico: t = b / EE(b), a cuántos errores estándar del cero está la pendiente 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p: la probabilidad, si H0 fuera cierta, de un t así de lejos. Convención: si p &lt; 0,05, se rechaza H0 y el efecto se declara significativo.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t, en el summary</a:t>
            </a:r>
          </a:p>
        </p:txBody>
      </p:sp>
      <p:pic>
        <p:nvPicPr>
          <p:cNvPr id="4" name="Picture 3" descr="c5_11d_summar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 = −4,81 / 2,02 = −2,39: la pendiente está a 2,4 errores estándar del cero. Falta saber qué tan raro es eso, y con qué distribución se mide.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p: la fórmula y el código</a:t>
            </a:r>
          </a:p>
        </p:txBody>
      </p:sp>
      <p:pic>
        <p:nvPicPr>
          <p:cNvPr id="4" name="Picture 3" descr="c5_44_t_p_formula_codi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436" y="1143000"/>
            <a:ext cx="701312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 es la acumulada de la t de Student con n − 2 = 43 grados de libertad: la normal con un margen extra, porque σ se estimó con 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última columna, P&gt;|t| = 0,021: si la pendiente real fuera 0, un t así de lejos ocurre el 2,1% de las veces. Las cinco columnas, pintadas: coeficiente, error estándar, intervalo, t y valor 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pendiente que nos dio el modelo no es azar: en las comunas de mayor ingreso los viajes duran menos, unos 4,8 minutos menos por cada millón de pesos de ingreso medio (entre 0,75 y 8,9).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la sostiene: p = 0,021 y el intervalo [−8,9; −0,75] no incluye el 0. Con 45 comunas apenas cruza el umbral, porque p depende del efecto y del tamaño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Que un efecto sea estadísticamente significativo no dice que sea grande: el tamaño lo da el coeficiente, y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1: residuos independientes</a:t>
            </a:r>
          </a:p>
        </p:txBody>
      </p:sp>
      <p:pic>
        <p:nvPicPr>
          <p:cNvPr id="4" name="Picture 3" descr="c5_20_indep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72212"/>
            <a:ext cx="7744968" cy="27853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473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residuo de un viaje no debería decir nada del residuo de otro. En la EOD la vuelta se parece a la ida: statsmodels cuenta 102 mil viajes independientes cuando hay menos información, y el error estándar queda demasiado chico.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2: la misma varianza en todo el rango</a:t>
            </a:r>
          </a:p>
        </p:txBody>
      </p:sp>
      <p:pic>
        <p:nvPicPr>
          <p:cNvPr id="4" name="Picture 3" descr="c5_21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la dispersión de los residuos crece con x, el error estándar queda mal calculado. Otra razón del log de la clase 4.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3: la normalidad</a:t>
            </a:r>
          </a:p>
        </p:txBody>
      </p:sp>
      <p:pic>
        <p:nvPicPr>
          <p:cNvPr id="4" name="Picture 3" descr="c5_22_norm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8462"/>
            <a:ext cx="7744968" cy="25528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848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se supone que las variables sean normales. Con n chico, como las 45 comunas, se supone que los residuos lo son; con n grande el TCL hace el trabajo, porque un coeficiente es un promedio ponderado de los y. Lo que daña son las colas largas y los atípicos.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6. Otro modelo, el mismo lector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¿Qué hogares tienen auto? Explicar un sí o no con el ingreso del hogar: la regresión logística, y con ella, clasificar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de un sí o no: Bernoulli y binomial</a:t>
            </a:r>
          </a:p>
        </p:txBody>
      </p:sp>
      <p:pic>
        <p:nvPicPr>
          <p:cNvPr id="4" name="Picture 3" descr="c5_04_binom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5092"/>
            <a:ext cx="7744968" cy="3055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57883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Tener auto es un sí o no con probabilidad p: una Bernoulli. Contar los síes en n intentos da la binomial, y cada barra sale de su fórmula. La logística modela esa p según el ingreso.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no sirve para un sí o no</a:t>
            </a:r>
          </a:p>
        </p:txBody>
      </p:sp>
      <p:pic>
        <p:nvPicPr>
          <p:cNvPr id="4" name="Picture 3" descr="c5_15_recta_vs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479" y="1143000"/>
            <a:ext cx="660904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Sobre un 0/1, la recta predice 1,39 a los 5 millones y valores negativos abajo: no respeta que la respuesta vive entre 0 y 1. La logística pasa la recta por una S y queda siempre en el rango.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5_16_formula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910"/>
            <a:ext cx="7744968" cy="26999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006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a + b·x, pero dentro de la sigmoide. La respuesta es una Bernoulli (la binomial con n = 1) cuya probabilidad depende de x.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logistica = sm.GLM(h["tiene_auto"], sm.add_constant(ingreso),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family=sm.families.Binomial(),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freq_weights=h["Factor"]).fit()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np.exp(logistica.params["IngresoHogar"])   # 8.9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GLM con familia binomial, ponderado con el factor. Lectura multiplicativa, como el log de la clase 4: cada millón multiplica las chances de tener auto por 8,9.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5_28_summary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8476"/>
            <a:ext cx="7744968" cy="19528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78467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columnas: z es el t cuando la referencia es la normal en vez de la t de Student (con n grande, lo mismo), y P&gt;|z| su valor p. Letra chica: el error estándar es minúsculo porque freq_weights cuenta cada hogar tantas veces como su factor; los coeficientes están bien, ese z no.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5_17_clas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340" y="1143000"/>
            <a:ext cx="636331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Predecir "tiene auto" cuando P supera 0,5 (desde 0,86 millones). Acierta el 70%, contra el 61% de decir siempre "no": la comparación con la base es obligatoria. Dónde se equivoca lo dice la matriz de confusión (un crosstab).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número que sale de una muestra se mueve de muestra en muestra; el error estándar mide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Primer uso: el intervalo, estimación ± 2 EE, atrapa el valor real el 95% de las veces.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Segundo uso: la prueba, t = b / EE y el valor p. La pendiente de −4,8: p = 0,021, real.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bootstrap da lo mismo remuestreando, sin fórmulas; la logística usa el mismo summary para un sí o no.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lineal en profundidad: supuestos, diagnósticos con los residuos y evaluación fuera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
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3 · Análisis exploratorio de datos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1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Relaciones entre pares de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Correlación: Pearson y Spearman.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EOD: distancia y duración de los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Grupos y tablas de contingencia.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La primera regresión.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Buenas prácticas de visualización.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Inscriban su grupo en la planilla compartida (correo de ayer).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Jueves 3: presentación breve de la idea de cada equipo, alrededor de 5 minutos, sin nota. El enunciado y la rúbrica están publicados.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Lunes 7: entrega de la formulación (30%).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de hoy alimenta directo el primer análisis exploratorio, que se entrega el lunes 15.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norte: los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diplomado apunta a construir modelos; la clase de hoy es su antesala directa.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primera pregunta de hoy: ¿qué tan relacionadas están dos variables? Eso decide cuáles sirven para predecir.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Y hacia el final, la primera regresión: el primer modelo del diplomado.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Relaciones entre variables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 describir una variable a cruzar dos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tipos de pares, tres herramientas</a:t>
            </a:r>
          </a:p>
        </p:txBody>
      </p:sp>
      <p:pic>
        <p:nvPicPr>
          <p:cNvPr id="4" name="Picture 3" descr="c3_01_tipos_p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06911"/>
            <a:ext cx="7744968" cy="24268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análisis bivariado depende del tipo de cada variable (clase 1): el par define qué gráfico y qué resumen corresponden.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tres especies de iris</a:t>
            </a:r>
          </a:p>
        </p:txBody>
      </p:sp>
      <p:pic>
        <p:nvPicPr>
          <p:cNvPr id="4" name="Picture 3" descr="10_iris_espe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04180"/>
            <a:ext cx="7744968" cy="2832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mismas 150 flores de la clase 2, 50 por especie. Fotografías: Radomil, D. Gordon E. Robertson y Frank Mayfield, Wikimedia Commons, CC BY-SA.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gráfico de dispersión</a:t>
            </a:r>
          </a:p>
        </p:txBody>
      </p:sp>
      <p:pic>
        <p:nvPicPr>
          <p:cNvPr id="4" name="Picture 3" descr="c3_02_scatter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1653" y="1143000"/>
            <a:ext cx="474069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flor; los ejes son dos de sus medidas. La nube sube junta: pétalos más largos vienen con pétalos más anchos.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Correlación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Un número para la relación entre dos variables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coeficiente de correlación de Pearson</a:t>
            </a:r>
          </a:p>
        </p:txBody>
      </p:sp>
      <p:pic>
        <p:nvPicPr>
          <p:cNvPr id="4" name="Picture 3" descr="c3_03_formula_pea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4343" y="1143000"/>
            <a:ext cx="625531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Mide la fuerza y el signo de la relación lineal entre dos variables cuantitativas.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fórmula, dibujada</a:t>
            </a:r>
          </a:p>
        </p:txBody>
      </p:sp>
      <p:pic>
        <p:nvPicPr>
          <p:cNvPr id="4" name="Picture 3" descr="c3_11_cuadrantes_pea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3945" y="1143000"/>
            <a:ext cx="463610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medias parten el plano en cuatro cuadrantes: los puntos de los cuadrantes verdes empujan r hacia arriba y los de los rojos, hacia abajo. En iris casi todos los aportes son positivos: r = 0,96.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escala de r</a:t>
            </a:r>
          </a:p>
        </p:txBody>
      </p:sp>
      <p:pic>
        <p:nvPicPr>
          <p:cNvPr id="4" name="Picture 3" descr="c3_04_escala_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4750" y="1143000"/>
            <a:ext cx="549449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 = 1 y r = −1 son rectas perfectas; r = 0, ausencia de relación lineal. En datos reales, los valores intermedios son la norma.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correlación en Pandas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338328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Entre dos columnas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iris_df["petal length (cm)"].corr(iris_df["petal width (cm)"])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0.9629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Todas contra todas: la matriz de correlación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iris_df.drop(columns="species").corr()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89204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corr() usa Pearson por defecto. En iris, largo y ancho del pétalo correlacionan 0,96.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correlación</a:t>
            </a:r>
          </a:p>
        </p:txBody>
      </p:sp>
      <p:pic>
        <p:nvPicPr>
          <p:cNvPr id="4" name="Picture 3" descr="c3_06_matriz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4763" y="1143000"/>
            <a:ext cx="3654473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Todos los pares de una vez: diagonal en 1 y matriz simétrica. El 0,96 entre largo y ancho del pétalo dice que son casi redundantes: evidencia para decidir qué variables conservar en un proyecto.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Siempre graficar: el cuarteto de Anscombe</a:t>
            </a:r>
          </a:p>
        </p:txBody>
      </p:sp>
      <p:pic>
        <p:nvPicPr>
          <p:cNvPr id="4" name="Picture 3" descr="c3_05_anscom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9880" y="1143000"/>
            <a:ext cx="498423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cuatro conjuntos comparten medias, correlación y recta, y solo el primero es lo que el número sugiere. El resumen no reemplaza al gráfico.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una sola fila</a:t>
            </a:r>
          </a:p>
        </p:txBody>
      </p:sp>
      <p:pic>
        <p:nvPicPr>
          <p:cNvPr id="4" name="Picture 3" descr="c3_07_punto_extr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" y="1143000"/>
            <a:ext cx="757123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Cuarenta puntos sin relación (r = 0,05) y un solo punto extremo fabrican r = 0,72. La correlación de Pearson es tan sensible a los atípicos como la media.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calculan los rangos</a:t>
            </a:r>
          </a:p>
        </p:txBody>
      </p:sp>
      <p:pic>
        <p:nvPicPr>
          <p:cNvPr id="4" name="Picture 3" descr="c3_19_rangos_tab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2974" y="1143000"/>
            <a:ext cx="529805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variable se ordena por separado y cada valor recibe su posición. En la fórmula: di es la diferencia de rangos de la comuna i, y n el número de casos. Cinco comunas bastan para calcular un Spearman a mano.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rangos en Pandas: rank()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rank() ordena la columna y asigna posiciones: 1 el menor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cinco_comunas["rango_ingreso"] = cinco_comunas["ingreso"].rank()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cinco_comunas["rango_duracion"] = cinco_comunas["duracion"].rank()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Con los rangos listos, Spearman es el Pearson de esas dos columnas nuevas: corr(method="spearman") hace todo el proceso de una vez.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Spearman: la correlación de los rangos</a:t>
            </a:r>
          </a:p>
        </p:txBody>
      </p:sp>
      <p:pic>
        <p:nvPicPr>
          <p:cNvPr id="4" name="Picture 3" descr="c3_12_spearman_rang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1483" y="1143000"/>
            <a:ext cx="728103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Reemplazar cada valor por su posición en el orden endereza las curvas monótonas y desarma los atípicos. En Pandas: corr(method="spearman"). En la EOD, distancia y duración dan 0,57 con Pearson y 0,76 con Spearman: la diferencia delata curvatura y atípicos.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Correlación no es causalidad</a:t>
            </a:r>
          </a:p>
        </p:txBody>
      </p:sp>
      <p:pic>
        <p:nvPicPr>
          <p:cNvPr id="4" name="Picture 3" descr="c3_13_causa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370" y="1143000"/>
            <a:ext cx="689925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Que dos variables se muevan juntas no dice que una cause a la otra: puede haber una tercera moviendo a ambas. Con datos observacionales reportamos asociación (recuerden las preguntas reparadas de la clase 2).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EOD: ingreso y duración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¿Los que menos ganan viajan más tiempo?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ponderada, con el factor</a:t>
            </a:r>
          </a:p>
        </p:txBody>
      </p:sp>
      <p:pic>
        <p:nvPicPr>
          <p:cNvPr id="4" name="Picture 3" descr="c3_24_formula_media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07386"/>
            <a:ext cx="7744968" cy="26259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media ponderada de la clase 2, ahora por comuna: la siguiente diapo la aplica en pandas, sumando w por x y dividiendo por la suma de w.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comuna, ponderada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lab["w_ingreso"] = lab["Factor"] * lab["IngresoHogar"]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 = lab.groupby("Comuna").sum()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media ponderada de la clase 2, ahora por comuna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suma["w_ingreso"] / suma["Factor"]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conclusiones son sobre la ciudad, así que se pondera (clase 2): cada media por comuna es suma de w por x, dividida por suma de w, con el factor del día laboral.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Ingreso y duración, por comuna</a:t>
            </a:r>
          </a:p>
        </p:txBody>
      </p:sp>
      <p:pic>
        <p:nvPicPr>
          <p:cNvPr id="4" name="Picture 3" descr="c3_17_ingreso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4280" y="1143000"/>
            <a:ext cx="5015438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comuna (medias ponderadas por factor). La asociación es negativa (r = −0,34): las comunas de menor ingreso promedian viajes más largos. Providencia, 25 minutos; Puente Alto, 40.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las comunas</a:t>
            </a:r>
          </a:p>
        </p:txBody>
      </p:sp>
      <p:pic>
        <p:nvPicPr>
          <p:cNvPr id="4" name="Picture 3" descr="c3_20_matriz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594" y="1143000"/>
            <a:ext cx="380281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Cuatro variables, seis pares (todo ponderado): el ingreso compra autos (0,94), y la sorpresa es que el mejor acompañante de la duración no es el ingreso (−0,34) sino las personas por hogar (0,65).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Grupos y tablas de contingencia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Cuando una de las dos variables es categórica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groupby: partir, aplicar, juntar</a:t>
            </a:r>
          </a:p>
        </p:txBody>
      </p:sp>
      <p:pic>
        <p:nvPicPr>
          <p:cNvPr id="4" name="Picture 3" descr="c3_14_groupb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98178"/>
            <a:ext cx="7744968" cy="30443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versión numérica del boxplot por grupo: la tabla se parte por categoría, cada parte recibe el resumen y los resultados se juntan.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resumen por grupo: groupby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37160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¿Cuántos viajes diarios mueve cada modo?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lab.groupby("ModoAgrupado")["w"].sum()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288036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groupby parte la tabla por categoría, aplica el resumen a cada parte y junta los resultados. El peso w (factor de la persona por ajuste del viaje) expande la muestra a la ciudad.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resultado, como tabla</a:t>
            </a:r>
          </a:p>
        </p:txBody>
      </p:sp>
      <p:pic>
        <p:nvPicPr>
          <p:cNvPr id="4" name="Picture 3" descr="c3_25_groupby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5295" y="1143000"/>
            <a:ext cx="715340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serie que devuelve groupby, ordenada: los viajes que cada modo mueve en un día laboral de Santiago.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categóricas: la tabla de contingencia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tabla de contingencia cuenta cuántos casos caen en cada combinación: una categórica en las filas, la otra en las columnas.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pandas hay dos herramientas hermanas: pivot_table, la general, y pd.crosstab, la especialista en contar.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pregunta para la EOD: ¿el modo de viaje depende del sexo?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tabla larga al cuadro de doble entrada</a:t>
            </a:r>
          </a:p>
        </p:txBody>
      </p:sp>
      <p:pic>
        <p:nvPicPr>
          <p:cNvPr id="4" name="Picture 3" descr="c3_28_antes_desp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80621"/>
            <a:ext cx="7744968" cy="20794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dos herramientas hacen la misma transformación: de una fila por viaje a una celda por combinación de sexo y modo (aquí, contando los viajes de la muestra).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pivot_table: el groupby en dos dimensiones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lab.pivot_table(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values="w",             # la columna a resumir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index="SexoNombre",     # define las filas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columns="ModoAgrupado", # define las columnas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aggfunc="sum")          # el resumen por celda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Reordena la tabla como cuadro de doble entrada y resume cada celda: contar, sumar, promediar. Sumando el peso w, cada celda queda en viajes de la ciudad.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pd.crosstab: la especialista en contar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pd.crosstab(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lab["SexoNombre"],    # la variable de las filas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lab["ModoAgrupado"],  # la de las columnas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normalize="index")    # proporciones por fila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Recibe las dos columnas, cuenta las combinaciones y trae normalize incorporado. También acepta values y aggfunc, así que puede ponderar igual que pivot_table: la elección es de costumbre.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resultado: modo según sexo</a:t>
            </a:r>
          </a:p>
        </p:txBody>
      </p:sp>
      <p:pic>
        <p:nvPicPr>
          <p:cNvPr id="4" name="Picture 3" descr="c3_26_tabla_sexo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7206"/>
            <a:ext cx="7744968" cy="202626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tabla tal como la entrega el código: el sexo en las filas (index) y el modo en las columnas. Cada fila suma 100: las mujeres caminan más (40% contra 28%); los hombres usan más el auto (31% contra 21%).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primera regresión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del diplomado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</a:t>
            </a:r>
          </a:p>
        </p:txBody>
      </p:sp>
      <p:pic>
        <p:nvPicPr>
          <p:cNvPr id="4" name="Picture 3" descr="c3_15_residu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8329"/>
            <a:ext cx="7744968" cy="31240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correlación mide la asociación; la regresión la dibuja: la recta que deja la menor suma de errores al cuadrado. La pendiente dice cuánto cambia y por cada unidad de x. Hoy es un primer contacto; en las clases 6 y 7 la profundizamos.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 de la recta</a:t>
            </a:r>
          </a:p>
        </p:txBody>
      </p:sp>
      <p:pic>
        <p:nvPicPr>
          <p:cNvPr id="4" name="Picture 3" descr="c3_21_formulas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2115"/>
            <a:ext cx="7744968" cy="27564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método se llama mínimos cuadrados ordinarios (OLS): np.polyfit implementa exactamente esta fórmula. En las clases 6 y 7 lo harán scikit-learn y statsmodels, con diagnósticos e inferencia.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Pendiente e intercepto, dibujados</a:t>
            </a:r>
          </a:p>
        </p:txBody>
      </p:sp>
      <p:pic>
        <p:nvPicPr>
          <p:cNvPr id="4" name="Picture 3" descr="c3_23_pendiente_intercep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5735" y="1143000"/>
            <a:ext cx="571252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intercepto es donde la recta corta el eje: el valor de y cuando x es 0. La pendiente es cuánto sube y por cada unidad de x. En nuestra recta: 38,3 minutos de base y −4,8 por cada millón de ingreso.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recta: ingreso y duración</a:t>
            </a:r>
          </a:p>
        </p:txBody>
      </p:sp>
      <p:pic>
        <p:nvPicPr>
          <p:cNvPr id="4" name="Picture 3" descr="c3_18_ingreso_duracion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7331" y="1143000"/>
            <a:ext cx="4929336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duración = 38,3 − 4,8 · ingreso (ponderada por factor): por cada millón adicional, la duración media baja casi 5 minutos. Y r² = 0,12: la recta captura el 12% de la variación; la asociación es real pero moderada, y así se reporta.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en NumPy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recta y = a + b·x: polyfit devuelve [b, a], en ese orden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pendiente, intercepto = np.polyfit(por_comuna["ingreso"],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              por_comuna["duracion"], 1)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ax.plot(x, intercepto + pendiente * 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polyfit ajusta un polinomio por mínimos cuadrados; el 1 pide grado 1, una recta. En las clases 6 y 7 usaremos herramientas con más diagnósticos.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Usar la recta: predecir y medir residuos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residuo e = y - (a + b·x): lo observado menos lo predicho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prediccion = intercepto + pendiente * ingreso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residuo = duracion - prediccion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por_comuna.nlargest(5, "residuo")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Pintana viaja 13 minutos más de lo predicho y Santiago 7 menos: el residuo revela periferia y centralidad. ¿Azar? La clase 5 responde.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Medirlo: recalcular cada resumen sin la fila, y comparar.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Sin Lo Barnechea, r casi no se mueve (sigue en −0,34), pero la pendiente cambia en un quinto: de −4,8 a −5,8 minutos por millón.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mismo punto puede pesar poco en un resumen y mucho en otro. El código está en el notebook.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fórmulas,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2115"/>
            <a:ext cx="7744968" cy="27564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es la que usa el modelo que sigue, y en statsmodels se llama WLS (weighted least squares).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modelo: la motorización del hogar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h["IngresoHogar"] / 1e6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y, w = h["NumVeh"], h["Factor"]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fórmula de la pendiente ponderada, tal cual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 = (w*(x - xw)*(y - yw)).sum() / (w*(x - xw)**2).sum()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18.264 hogares reales, ponderados por su factor: vehículos = 0,20 + 0,50 · ingreso. Medio vehículo más por cada millón.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atípicos de la variable a predecir</a:t>
            </a:r>
          </a:p>
        </p:txBody>
      </p:sp>
      <p:pic>
        <p:nvPicPr>
          <p:cNvPr id="4" name="Picture 3" descr="c3_27_boxplot_numve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92260"/>
            <a:ext cx="7744968" cy="24561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boxplot de NumVeh (clase 2): la cerca de Tukey queda en 2,5, y los hogares de 3 autos o más son atípicos. La siguiente diapo mide qué pasa al sacarlos.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Sacar atípicos de la variable a predecir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q1, q3 = h["NumVeh"].quantile([0.25, 0.75])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sin_atipicos = h[h["NumVeh"] &lt;= q3 + 1.5 * (q3 - q1)]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modelo, sin los hogares de 3 autos o más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np.polyfit(sin_atipicos["IngresoHogar"] / 1e6, sin_atipicos["NumVeh"],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Sacar 236 hogares aplana la pendiente ponderada (0,50 a 0,44): no eran errores, eran la señal. Los atípicos de y se investigan; se eliminan solo por dominio.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Buenas prácticas de visualización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Que el gráfico diga la verdad y se entienda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45618"/>
            <a:ext cx="7744968" cy="23494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la tabla DistanciaViaje.csv; sus −1 son faltantes disfrazados).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7136"/>
            <a:ext cx="7744968" cy="2986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distancia tiene cola larga: en lineal se aplasta; en log, la forma aparece. Y transformar con log es feature engineering clásico: vuelve lineales las relaciones multiplicativas (clases de regresión).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gráfico, dos veces</a:t>
            </a:r>
          </a:p>
        </p:txBody>
      </p:sp>
      <p:pic>
        <p:nvPicPr>
          <p:cNvPr id="4" name="Picture 3" descr="c3_16_mal_buen_graf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7944"/>
            <a:ext cx="7744968" cy="30047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30 mil viajes: sin rotular y saturado, contra rotulado, con transparencia y con el hallazgo en el título.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del buen gráfico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Título que diga el hallazgo, no solo las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Ejes con nombre y unidad; ejes que parten de cero en gráficos de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alpha, muestreo o hexbin.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Colas largas: escala logarítmica o eje recortado, declarándolo.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gráfico se corrige igual que el código: se itera hasta que un tercero lo entienda sin explicación oral.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análisis bivariado se elige según el par de tipos: scatter y correlación, groupby y boxplot, o tabla de contingencia.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Pearson para relaciones lineales; Spearman cuando hay atípicos o curvas. Y siempre graficar: Anscombe.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Correlación no es causalidad: reportamos asociación.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es el primer modelo: una función que resume, predice y deja residuos que diagnostican.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lo de hoy es exactamente lo que el primer EDA del proyecto debe mostrar (entrega: lunes 15).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Jueves 3 de septiembre: presentaciones breves de las ideas de proyecto (5 minutos por equipo, sin nota).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Después: fundamentos de probabilidad, la base para la inferencia de las clases siguientes.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publica la rúbrica del primer análisis exploratorio.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Recuerden: la formulación se entrega el lunes 7 por el aula virtual.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Anscombe, F. J. (1973). Graphs in Statistical Analysis. The American Statistician, 27(1), 17-21.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Spearman, C. (1904). The Proof and Measurement of Association between Two Things. The American Journal of Psychology, 15(1), 72-101.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4 (Matplotlib).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 e iris (Fisher, 1936).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
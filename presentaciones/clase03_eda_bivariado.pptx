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3B4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1252728"/>
            <a:ext cx="77449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Fira Sans"/>
              </a:rPr>
              <a:t>Introducción y fundamentos estadísticos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5104" y="2651760"/>
            <a:ext cx="5202936" cy="521207"/>
          </a:xfrm>
          <a:prstGeom prst="rect">
            <a:avLst/>
          </a:prstGeom>
          <a:solidFill>
            <a:srgbClr val="E0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D3557"/>
                </a:solidFill>
                <a:latin typeface="Fira Sans"/>
              </a:rPr>
              <a:t>Clase 3 · Análisis exploratorio de datos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547872"/>
            <a:ext cx="7744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Fira Sans"/>
              </a:rPr>
              <a:t>Daniela Opitz</a:t>
            </a:r>
          </a:p>
          <a:p>
            <a:r>
              <a:rPr sz="1300" b="0">
                <a:solidFill>
                  <a:srgbClr val="B8C4D4"/>
                </a:solidFill>
                <a:latin typeface="Fira Sans"/>
              </a:rPr>
              <a:t>Diplomado en Ciencia de Datos Aplicada · Departamento de Informática · UTFSM · martes 1 de septiembre,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4480560"/>
            <a:ext cx="30175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_logo_recor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62856"/>
            <a:ext cx="2743200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Contenidos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1. Relaciones entre pares de variables.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2. Correlación: Pearson y Spearman.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3. La EOD: distancia y duración de los viajes.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4. Grupos y tablas de contingencia.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5. La primera regresión.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6. Buenas prácticas de visualización.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Avisos del proyecto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Inscriban su grupo en la planilla compartida (correo de ayer).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Jueves 3: presentación breve de la idea de cada equipo, alrededor de 5 minutos, sin nota. El enunciado y la rúbrica están publicados.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Lunes 7: entrega de la formulación (30%).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Lo de hoy alimenta directo el primer análisis exploratorio, que se entrega el martes 15.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norte: los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El diplomado apunta a construir modelos; la clase de hoy es su antesala directa.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primera pregunta de hoy: ¿qué tan relacionadas están dos variables? Eso decide cuáles sirven para predecir.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Y hacia el final, la primera regresión: el primer modelo del diplomado.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Relaciones entre variables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De describir una variable a cruzar 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Tres tipos de pares, tres herramientas</a:t>
            </a:r>
          </a:p>
        </p:txBody>
      </p:sp>
      <p:pic>
        <p:nvPicPr>
          <p:cNvPr id="4" name="Picture 3" descr="c3_01_tipos_pa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479479"/>
            <a:ext cx="7744968" cy="24268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4349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análisis bivariado depende del tipo de cada variable (clase 1): el par define qué gráfico y qué resumen corresponden.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 tres especies de iris</a:t>
            </a:r>
          </a:p>
        </p:txBody>
      </p:sp>
      <p:pic>
        <p:nvPicPr>
          <p:cNvPr id="4" name="Picture 3" descr="10_iris_espe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76748"/>
            <a:ext cx="7744968" cy="2832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246227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Las mismas 150 flores de la clase 2, 50 por especie. Fotografías: Radomil, D. Gordon E. Robertson y Frank Mayfield, Wikimedia Commons, CC BY-SA.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gráfico de dispersión</a:t>
            </a:r>
          </a:p>
        </p:txBody>
      </p:sp>
      <p:pic>
        <p:nvPicPr>
          <p:cNvPr id="4" name="Picture 3" descr="c3_02_scatter_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876" y="1143000"/>
            <a:ext cx="4658246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punto es una flor; los ejes son dos de sus medidas. La nube sube junta: pétalos más largos vienen con pétalos más anchos.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Correlación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Un número para la relación entre dos variables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coeficiente de correlación de Pearson</a:t>
            </a:r>
          </a:p>
        </p:txBody>
      </p:sp>
      <p:pic>
        <p:nvPicPr>
          <p:cNvPr id="4" name="Picture 3" descr="c3_03_formula_pea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343" y="1243584"/>
            <a:ext cx="6255312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535424"/>
            <a:ext cx="7744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Mide la fuerza y el signo de la relación lineal entre dos variables cuantitativas.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fórmula, dibujada</a:t>
            </a:r>
          </a:p>
        </p:txBody>
      </p:sp>
      <p:pic>
        <p:nvPicPr>
          <p:cNvPr id="4" name="Picture 3" descr="c3_11_cuadrantes_pea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259" y="1143000"/>
            <a:ext cx="4555480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Las medias parten el plano en cuatro cuadrantes: los puntos de los cuadrantes verdes empujan r hacia arriba y los de los rojos, hacia abajo. En iris casi todos los aportes son positivos: r = 0,96.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escala de r</a:t>
            </a:r>
          </a:p>
        </p:txBody>
      </p:sp>
      <p:pic>
        <p:nvPicPr>
          <p:cNvPr id="4" name="Picture 3" descr="c3_04_escala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529" y="1143000"/>
            <a:ext cx="5398941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r = 1 y r = −1 son rectas perfectas; r = 0, ausencia de relación lineal. En datos reales, los valores intermedios son la norma.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correlación en Pandas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338328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Entre dos columnas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iris_df["petal length (cm)"].corr(iris_df["petal width (cm)"])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0.9629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/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Todas contra todas: la matriz de correlación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iris_df.drop(columns="species").corr()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89204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corr() usa Pearson por defecto. En iris, largo y ancho del pétalo correlacionan 0,96.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matriz de correlación</a:t>
            </a:r>
          </a:p>
        </p:txBody>
      </p:sp>
      <p:pic>
        <p:nvPicPr>
          <p:cNvPr id="4" name="Picture 3" descr="c3_06_matriz_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541" y="1143000"/>
            <a:ext cx="3590917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Todos los pares de una vez: diagonal en 1 y matriz simétrica. El 0,96 entre largo y ancho del pétalo dice que son casi redundantes: evidencia para decidir qué variables conservar en un proyecto.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Siempre graficar: el cuarteto de Anscombe</a:t>
            </a:r>
          </a:p>
        </p:txBody>
      </p:sp>
      <p:pic>
        <p:nvPicPr>
          <p:cNvPr id="4" name="Picture 3" descr="c3_05_anscom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221" y="1143000"/>
            <a:ext cx="4897556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Los cuatro conjuntos comparten medias, correlación y recta, y solo el primero es lo que el número sugiere. El resumen no reemplaza al gráfico.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impacto de una sola fila</a:t>
            </a:r>
          </a:p>
        </p:txBody>
      </p:sp>
      <p:pic>
        <p:nvPicPr>
          <p:cNvPr id="4" name="Picture 3" descr="c3_07_punto_extr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0" y="1143000"/>
            <a:ext cx="7439558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Cuarenta puntos sin relación (r = 0,05) y un solo punto extremo fabrican r = 0,72. La correlación de Pearson es tan sensible a los atípicos como la media.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Cómo se calculan los rangos</a:t>
            </a:r>
          </a:p>
        </p:txBody>
      </p:sp>
      <p:pic>
        <p:nvPicPr>
          <p:cNvPr id="4" name="Picture 3" descr="c3_19_rangos_ta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037" y="1143000"/>
            <a:ext cx="4775924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variable se ordena por separado y cada valor recibe su posición. En la fórmula: di es la diferencia de rangos de la comuna i, y n el número de casos. Cinco comunas bastan para calcular un Spearman a mano.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rangos en Pandas: rank()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187452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rank() ordena la columna y asigna posiciones: 1 el menor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cinco_comunas["rango_ingreso"] = cinco_comunas["ingreso"].rank()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cinco_comunas["rango_duracion"] = cinco_comunas["duracion"].rank()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383279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Con los rangos listos, Spearman es el Pearson de esas dos columnas nuevas: corr(method="spearman") hace todo el proceso de una vez.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Spearman: la correlación de los rangos</a:t>
            </a:r>
          </a:p>
        </p:txBody>
      </p:sp>
      <p:pic>
        <p:nvPicPr>
          <p:cNvPr id="4" name="Picture 3" descr="c3_12_spearman_ran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259" y="1143000"/>
            <a:ext cx="6563481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Reemplazar cada valor por su posición en el orden endereza las curvas monótonas y desarma los atípicos. En Pandas: corr(method="spearman"). En la EOD, distancia y duración dan 0,57 con Pearson y 0,76 con Spearman: la diferencia delata curvatura y atípicos.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Correlación no es causalidad</a:t>
            </a:r>
          </a:p>
        </p:txBody>
      </p:sp>
      <p:pic>
        <p:nvPicPr>
          <p:cNvPr id="4" name="Picture 3" descr="c3_13_causa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333" y="1143000"/>
            <a:ext cx="6219332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Que dos variables se muevan juntas no dice que una cause a la otra: puede haber una tercera moviendo a ambas. Con datos observacionales reportamos asociación (recuerden las preguntas reparadas de la clase 2).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La EOD: ingreso y duración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¿Los que menos ganan viajan más tiempo?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media ponderada, con el factor</a:t>
            </a:r>
          </a:p>
        </p:txBody>
      </p:sp>
      <p:pic>
        <p:nvPicPr>
          <p:cNvPr id="4" name="Picture 3" descr="c3_24_formula_media_ponder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79954"/>
            <a:ext cx="7744968" cy="26259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43021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media ponderada de la clase 2, ahora por comuna: la siguiente diapo la aplica en pandas, sumando w por x y dividiendo por la suma de 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tabla por comuna, ponderada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lab["w_ingreso"] = lab["Factor"] * lab["IngresoHogar"]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suma = lab.groupby("Comuna").sum()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/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La media ponderada de la clase 2, ahora por comuna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suma["w_ingreso"] / suma["Factor"]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Las conclusiones son sobre la ciudad, así que se pondera (clase 2): cada media por comuna es suma de w por x, dividida por suma de w, con el factor del día laboral.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Ingreso y duración, por comuna</a:t>
            </a:r>
          </a:p>
        </p:txBody>
      </p:sp>
      <p:pic>
        <p:nvPicPr>
          <p:cNvPr id="4" name="Picture 3" descr="c3_17_ingreso_du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893" y="1143000"/>
            <a:ext cx="4928213" cy="3099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punto es una comuna (medias ponderadas por factor). La asociación es negativa (r = −0,34): las comunas de menor ingreso promedian viajes más largos. Providencia, 25 minutos; Puente Alto, 40.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matriz de las comunas</a:t>
            </a:r>
          </a:p>
        </p:txBody>
      </p:sp>
      <p:pic>
        <p:nvPicPr>
          <p:cNvPr id="4" name="Picture 3" descr="c3_20_matriz_comu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662" y="1143000"/>
            <a:ext cx="3736675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Cuatro variables, seis pares (todo ponderado): el ingreso compra autos (0,94), y la sorpresa es que el mejor acompañante de la duración no es el ingreso (−0,34) sino las personas por hogar (0,65).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Grupos y tablas de contingencia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Cuando una de las dos variables es categórica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groupby: partir, aplicar, juntar</a:t>
            </a:r>
          </a:p>
        </p:txBody>
      </p:sp>
      <p:pic>
        <p:nvPicPr>
          <p:cNvPr id="4" name="Picture 3" descr="c3_14_groupb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170746"/>
            <a:ext cx="7744968" cy="30443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52229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versión numérica del boxplot por grupo: la tabla se parte por categoría, cada parte recibe el resumen y los resultados se juntan.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resumen por grupo: groupby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137160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¿Cuántos viajes diarios mueve cada modo?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lab.groupby("ModoAgrupado")["w"].sum()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88036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groupby parte la tabla por categoría, aplica el resumen a cada parte y junta los resultados. El peso w (factor de la persona por ajuste del viaje) expande la muestra a la ciudad.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resultado, como tabla</a:t>
            </a:r>
          </a:p>
        </p:txBody>
      </p:sp>
      <p:pic>
        <p:nvPicPr>
          <p:cNvPr id="4" name="Picture 3" descr="c3_25_groupby_m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99" y="1143000"/>
            <a:ext cx="7029001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serie que devuelve groupby, ordenada: los viajes que cada modo mueve en un día laboral de Santiago.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Dos categóricas: la tabla de contingencia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La tabla de contingencia cuenta cuántos casos caen en cada combinación: una categórica en las filas, la otra en las columnas.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En pandas hay dos herramientas hermanas: pivot_table, la general, y pd.crosstab, la especialista en contar.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pregunta para la EOD: ¿el modo de viaje depende del sexo?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 la tabla larga al cuadro de doble entrada</a:t>
            </a:r>
          </a:p>
        </p:txBody>
      </p:sp>
      <p:pic>
        <p:nvPicPr>
          <p:cNvPr id="4" name="Picture 3" descr="c3_28_antes_desp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653189"/>
            <a:ext cx="7744968" cy="20794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6978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Las dos herramientas hacen la misma transformación: de una fila por viaje a una celda por combinación de sexo y modo (aquí, contando los viajes de la muestra).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pivot_table: el groupby en dos dimensiones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lab.pivot_table(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values="w",             # la columna a resumir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index="SexoNombre",     # define las filas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columns="ModoAgrupado", # define las columnas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aggfunc="sum")          # el resumen por celda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Reordena la tabla como cuadro de doble entrada y resume cada celda: contar, sumar, promediar. Sumando el peso w, cada celda queda en viajes de la ciudad.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pd.crosstab: la especialista en contar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pd.crosstab(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lab["SexoNombre"],     # la variable de las filas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lab["ModoAgrupado"],   # la de las columnas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values=lab["w"], aggfunc="sum",  # sumar w, no contar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normalize="index")     # proporciones por fila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Sola, crosstab cuenta combinaciones; con values y aggfunc pondera igual que pivot_table, y normalize entrega las proporciones por fila.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resultado: modo según sexo</a:t>
            </a:r>
          </a:p>
        </p:txBody>
      </p:sp>
      <p:pic>
        <p:nvPicPr>
          <p:cNvPr id="4" name="Picture 3" descr="c3_26_tabla_sexo_m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551758"/>
            <a:ext cx="7744968" cy="20262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715185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tabla tal como la entrega el código: el sexo en las filas (index) y el modo en las columnas. Cada fila suma 100: las mujeres caminan más (40% contra 28%); los hombres usan más el auto (31% contra 21%).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La primera regresión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El primer modelo del diplomado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Mínimos cuadrados</a:t>
            </a:r>
          </a:p>
        </p:txBody>
      </p:sp>
      <p:pic>
        <p:nvPicPr>
          <p:cNvPr id="4" name="Picture 3" descr="c3_15_residu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92" y="1143000"/>
            <a:ext cx="7050214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correlación mide la asociación; la regresión la dibuja: la recta que deja la menor suma de errores al cuadrado. La pendiente dice cuánto cambia y por cada unidad de x. Hoy es un primer contacto; en las clases 6 y 7 la profundizamos.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 fórmulas de la recta</a:t>
            </a:r>
          </a:p>
        </p:txBody>
      </p:sp>
      <p:pic>
        <p:nvPicPr>
          <p:cNvPr id="4" name="Picture 3" descr="c3_21_formulas_re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14683"/>
            <a:ext cx="7744968" cy="2756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208292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método se llama mínimos cuadrados ordinarios (OLS): np.polyfit implementa exactamente esta fórmula. En las clases 6 y 7 lo harán scikit-learn y statsmodels, con diagnósticos e inferencia.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Pendiente e intercepto, dibujados</a:t>
            </a:r>
          </a:p>
        </p:txBody>
      </p:sp>
      <p:pic>
        <p:nvPicPr>
          <p:cNvPr id="4" name="Picture 3" descr="c3_23_pendiente_intercep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409" y="1143000"/>
            <a:ext cx="5613180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intercepto es donde la recta corta el eje: el valor de y cuando x es 0. La pendiente es cuánto sube y por cada unidad de x. En nuestra recta: 38,3 minutos de base y −4,8 por cada millón de ingreso.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recta: ingreso y duración</a:t>
            </a:r>
          </a:p>
        </p:txBody>
      </p:sp>
      <p:pic>
        <p:nvPicPr>
          <p:cNvPr id="4" name="Picture 3" descr="c3_18_ingreso_duracion_re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226" y="1143000"/>
            <a:ext cx="4443547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duración = 38,3 − 4,8 · ingreso (ponderada por factor): por cada millón adicional, la duración media baja casi 5 minutos. Y r² = 0,12: la recta captura el 12% de la variación; la asociación es real pero moderada, y así se reporta.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recta en NumPy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La recta y = a + b·x: polyfit devuelve [b, a], en ese orden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pendiente, intercepto = np.polyfit(por_comuna["ingreso"],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                               por_comuna["duracion"], 1)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/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ax.plot(x, intercepto + pendiente * 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polyfit ajusta un polinomio por mínimos cuadrados; el 1 pide grado 1, una recta. En las clases 6 y 7 usaremos herramientas con más diagnósticos.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Usar la recta: predecir y medir residuos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El residuo e = y - (a + b·x): lo observado menos lo predicho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prediccion = intercepto + pendiente * ingreso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residuo = duracion - prediccion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/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por_comuna.nlargest(5, "residuo")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La Pintana viaja 13 minutos más de lo predicho y Santiago 7 menos: el residuo revela periferia y centralidad. ¿Azar? La clase 5 responde.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impacto de sacar una fila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Medirlo: recalcular cada resumen sin la fila, y comparar.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Sin Lo Barnechea, r casi no se mueve (sigue en −0,34), pero la pendiente cambia en un quinto: de −4,8 a −5,8 minutos por millón.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Un mismo punto puede pesar poco en un resumen y mucho en otro. El código está en el notebook.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 fórmulas, con factor de expansión</a:t>
            </a:r>
          </a:p>
        </p:txBody>
      </p:sp>
      <p:pic>
        <p:nvPicPr>
          <p:cNvPr id="4" name="Picture 3" descr="c3_22_formulas_ponder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14683"/>
            <a:ext cx="7744968" cy="2756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208292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misma recta de mínimos cuadrados, con cada término pesado por su factor: es la que usa el modelo que sigue, y en statsmodels se llama WLS (weighted least squares).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Otro modelo: la motorización del hogar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x = h["IngresoHogar"] / 1e6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y, w = h["NumVeh"], h["Factor"]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/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La fórmula de la pendiente ponderada, tal cual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b = (w*(x - xw)*(y - yw)).sum() / (w*(x - xw)**2).sum()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18.264 hogares reales, ponderados por su factor: vehículos = 0,20 + 0,50 · ingreso. Medio vehículo más por cada millón.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atípicos de la variable a predecir</a:t>
            </a:r>
          </a:p>
        </p:txBody>
      </p:sp>
      <p:pic>
        <p:nvPicPr>
          <p:cNvPr id="4" name="Picture 3" descr="c3_27_boxplot_numve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464828"/>
            <a:ext cx="7744968" cy="24561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58147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boxplot de NumVeh (clase 2): la cerca de Tukey queda en 2,5, y los hogares de 3 autos o más son atípicos. La siguiente diapo mide qué pasa al sacarlos.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Sacar atípicos de la variable a predecir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q1, q3 = h["NumVeh"].quantile([0.25, 0.75])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sin_atipicos = h[h["NumVeh"] &lt;= q3 + 1.5 * (q3 - q1)]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/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El mismo modelo, sin los hogares de 3 autos o más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np.polyfit(sin_atipicos["IngresoHogar"] / 1e6, sin_atipicos["NumVeh"],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Sacar 236 hogares aplana la pendiente ponderada (0,50 a 0,44): no eran errores, eran la señal. Los atípicos de y se investigan; se eliminan solo por dominio.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Buenas prácticas de visualización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Que el gráfico diga la verdad y se entienda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Graficar 90 mil puntos: overplotting</a:t>
            </a:r>
          </a:p>
        </p:txBody>
      </p:sp>
      <p:pic>
        <p:nvPicPr>
          <p:cNvPr id="4" name="Picture 3" descr="c3_08_overplo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90170"/>
            <a:ext cx="7744968" cy="23494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76773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 todos los puntos sólidos, el scatter se satura y miente. Los remedios: transparencia (alpha), muestreo, o hexbin, donde el color cuenta los viajes (la distancia viene en la tabla DistanciaViaje.csv; sus −1 son faltantes disfrazados).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Cuándo usar escala logarítmica</a:t>
            </a:r>
          </a:p>
        </p:txBody>
      </p:sp>
      <p:pic>
        <p:nvPicPr>
          <p:cNvPr id="4" name="Picture 3" descr="c3_10_escala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55" y="1143000"/>
            <a:ext cx="7375088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misma distancia tiene cola larga: en lineal se aplasta; en log, la forma aparece. Y transformar con log es feature engineering clásico: vuelve lineales las relaciones multiplicativas (clases de regresión).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mismo gráfico, dos veces</a:t>
            </a:r>
          </a:p>
        </p:txBody>
      </p:sp>
      <p:pic>
        <p:nvPicPr>
          <p:cNvPr id="4" name="Picture 3" descr="c3_16_mal_buen_gra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190512"/>
            <a:ext cx="7744968" cy="30047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32463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Los mismos 30 mil viajes: sin rotular y saturado, contra rotulado, con transparencia y con el hallazgo en el título.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Checklist del buen gráfico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Título que diga el hallazgo, no solo las variables.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Ejes con nombre y unidad; ejes que parten de cero en gráficos de barras.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Muchos puntos: alpha, muestreo o hexbin.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Colas largas: escala logarítmica o eje recortado, declarándolo.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El gráfico se corrige igual que el código: se itera hasta que un tercero lo entienda sin explicación oral.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Recreo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10 minutos · al volver: manos al teclado, con el notebook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Síntesis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análisis bivariado se elige según el par de tipos: scatter y correlación, groupby y boxplot, o tabla de contingencia.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Pearson para relaciones lineales; Spearman cuando hay atípicos o curvas. Y siempre graficar: Anscombe.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Correlación no es causalidad: reportamos asociación.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regresión es el primer modelo: una función que resume, predice y deja residuos que diagnostican.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Todo lo de hoy es exactamente lo que el primer EDA del proyecto debe mostrar (entrega: martes 15).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Próxima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Jueves 3 de septiembre: presentaciones breves de las ideas de proyecto (5 minutos por equipo, sin nota).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Después: fundamentos de probabilidad, la base para la inferencia de las clases siguientes.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Se publica la rúbrica del primer análisis exploratorio.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Recuerden: la formulación se entrega el lunes 7 por el aula virtual.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234440"/>
            <a:ext cx="774496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Anscombe, F. J. (1973). Graphs in Statistical Analysis. The American Statistician, 27(1), 17-21.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Spearman, C. (1904). The Proof and Measurement of Association between Two Things. The American Journal of Psychology, 15(1), 72-101.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Tukey, J. W. (1977). Exploratory Data Analysis. Addison-Wesley.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VanderPlas, J. (2016). Python Data Science Handbook. O'Reilly. Capítulo 4 (Matplotlib).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Datos: Encuesta Origen Destino Santiago 2012 (Sectra) e iris (Fisher, 1936).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
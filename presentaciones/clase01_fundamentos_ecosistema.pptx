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3B4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1252728"/>
            <a:ext cx="77449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Fira Sans"/>
              </a:rPr>
              <a:t>Introducción y fundamentos estadísticos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75104" y="2651760"/>
            <a:ext cx="5202936" cy="521207"/>
          </a:xfrm>
          <a:prstGeom prst="rect">
            <a:avLst/>
          </a:prstGeom>
          <a:solidFill>
            <a:srgbClr val="E0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D3557"/>
                </a:solidFill>
                <a:latin typeface="Fira Sans"/>
              </a:rPr>
              <a:t>Clase 1 · 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547872"/>
            <a:ext cx="7744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Fira Sans"/>
              </a:rPr>
              <a:t>Daniela Opitz</a:t>
            </a:r>
          </a:p>
          <a:p>
            <a:r>
              <a:rPr sz="1300" b="0">
                <a:solidFill>
                  <a:srgbClr val="B8C4D4"/>
                </a:solidFill>
                <a:latin typeface="Fira Sans"/>
              </a:rPr>
              <a:t>Diplomado en Ciencia de Datos Aplicada · Departamento de Informática · UTFSM · martes 25 de agosto,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4480560"/>
            <a:ext cx="30175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_logo_recor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62856"/>
            <a:ext cx="2743200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Contenidos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1. Qué es la ciencia de datos.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2. El ciclo de vida de un proyecto de ciencia de datos.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3. Tipos de datos y tipos de variables.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4. El ecosistema Python: NumPy, Pandas y Matplotlib.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5. Puesta en marcha del entorno y ejemplo con Pandas.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¿Qué es la ciencia de datos?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Definición, componentes y objetivos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Una definición formal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“Data science is the study of the generalizable extraction of knowledge from data” (Dhar, 2013, CACM).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Es decir: el estudio de la extracción generalizable de conocimiento a partir de los datos.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Generalizable: las conclusiones deben ser válidas fuera de los datos usados para obtenerlas. Este requisito define los dos objetivos del análisis, inferencia y predicción (clases 5 a 8).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Cleveland (2001) propuso el área como una ampliación técnica de la estadística; Donoho (2017) revisa su desarrollo durante los últimos 50 años.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Tres componentes en intersección</a:t>
            </a:r>
          </a:p>
        </p:txBody>
      </p:sp>
      <p:pic>
        <p:nvPicPr>
          <p:cNvPr id="4" name="Picture 3" descr="07_compon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950" y="1143000"/>
            <a:ext cx="4432099" cy="3099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literatura describe la disciplina en la intersección de estadística, computación y conocimiento del dominio (Cleveland, 2001; Donoho, 2017).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Dos objetivos: inferencia y predicción</a:t>
            </a:r>
          </a:p>
        </p:txBody>
      </p:sp>
      <p:pic>
        <p:nvPicPr>
          <p:cNvPr id="4" name="Picture 3" descr="08_inferencia_predi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83138"/>
            <a:ext cx="7744968" cy="28755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95869"/>
            <a:ext cx="7744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Los dos grandes objetivos del trabajo con datos; estructuran las clases 5 a 8 del módulo.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El ciclo de vida de un proyecto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Etapas, iteración y planificación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Las etapas de un proyecto de ciencia de datos</a:t>
            </a:r>
          </a:p>
        </p:txBody>
      </p:sp>
      <p:pic>
        <p:nvPicPr>
          <p:cNvPr id="4" name="Picture 3" descr="03_ciclo_v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81086"/>
            <a:ext cx="7744968" cy="26236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41889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ciclo tiene dos entradas: una necesidad del dominio o datos ya disponibles. Los hallazgos de una etapa pueden devolver el proyecto a etapas anteriores.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datos disponibles condicionan la pregunta</a:t>
            </a:r>
          </a:p>
        </p:txBody>
      </p:sp>
      <p:pic>
        <p:nvPicPr>
          <p:cNvPr id="4" name="Picture 3" descr="10_datos_pregu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79" y="1143000"/>
            <a:ext cx="7445040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encuesta de viajes de hoy es el caso ideal: se diseñó para estudiar la movilidad. El caso frecuente: los registros de telefonía móvil, generados para operar la red, se usan para estimar matrices de viaje y planificar transporte. Por eso el ciclo dedica tanto trabajo a limpieza y validación.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Tres advertencias sobre el ciclo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Cargar y limpiar datos consume en promedio el 45% del tiempo de trabajo, más que el modelamiento (Anaconda, 2020; encuesta a 2.360 profesionales).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ciclo se recorre varias veces: un hallazgo cambia la pregunta y una limpieza revela problemas nuevos.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Un error en la formulación del problema invalida las etapas posteriores; conviene revisarla antes de invertir en el resto.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Evaluación del módulo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8138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868680"/>
                <a:gridCol w="3703320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Fira Sans"/>
                        </a:rPr>
                        <a:t>Actividad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Fira Sans"/>
                        </a:rPr>
                        <a:t>Pond.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Fira Sans"/>
                        </a:rPr>
                        <a:t>Hitos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000000"/>
                          </a:solidFill>
                          <a:latin typeface="Fira Sans"/>
                        </a:rPr>
                        <a:t>Formulación del proyecto Capstone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000000"/>
                          </a:solidFill>
                          <a:latin typeface="Fira Sans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1D3557"/>
                          </a:solidFill>
                          <a:latin typeface="Fira Sans"/>
                        </a:rPr>
                        <a:t>Entrega: lu 07-sep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000000"/>
                          </a:solidFill>
                          <a:latin typeface="Fira Sans"/>
                        </a:rPr>
                        <a:t>Rúbrica: ju 27-ago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000000"/>
                          </a:solidFill>
                          <a:latin typeface="Fira Sans"/>
                        </a:rPr>
                        <a:t>Presentación de la idea: ju 03-sep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000000"/>
                          </a:solidFill>
                          <a:latin typeface="Fira Sans"/>
                        </a:rPr>
                        <a:t>Primer análisis exploratorio de datos (NumPy, Pandas y Matplotlib)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000000"/>
                          </a:solidFill>
                          <a:latin typeface="Fira Sans"/>
                        </a:rP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1D3557"/>
                          </a:solidFill>
                          <a:latin typeface="Fira Sans"/>
                        </a:rPr>
                        <a:t>Entrega: ma 15-sep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000000"/>
                          </a:solidFill>
                          <a:latin typeface="Fira Sans"/>
                        </a:rPr>
                        <a:t>Rúbrica: ju 03-sep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000000"/>
                          </a:solidFill>
                          <a:latin typeface="Fira Sans"/>
                        </a:rPr>
                        <a:t>Informe de avance del proyecto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000000"/>
                          </a:solidFill>
                          <a:latin typeface="Fira Sans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1D3557"/>
                          </a:solidFill>
                          <a:latin typeface="Fira Sans"/>
                        </a:rPr>
                        <a:t>Informe escrito: vi 25-sep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000000"/>
                          </a:solidFill>
                          <a:latin typeface="Fira Sans"/>
                        </a:rPr>
                        <a:t>Presentación oral: ma 22-sep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29768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Tres actividades asociadas al proyecto Capstone (programa oficial), que se desarrolla en equipos de máximo dos personas. Calificación mínima de aprobación: 60%. Fechas por confirmar en el aula virtual.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Tipos de datos y tipos de variables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Qué análisis admite cada columna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Datos estructurados y no estructurados</a:t>
            </a:r>
          </a:p>
        </p:txBody>
      </p:sp>
      <p:pic>
        <p:nvPicPr>
          <p:cNvPr id="4" name="Picture 3" descr="09_estructur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363" y="1143000"/>
            <a:ext cx="6779272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Los no estructurados se trabajan en los módulos de machine learning y deep learning; en la práctica, analizarlos suele requerir convertirlos primero en representaciones tabulares o numéricas.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Tipos de variables</a:t>
            </a:r>
          </a:p>
        </p:txBody>
      </p:sp>
      <p:pic>
        <p:nvPicPr>
          <p:cNvPr id="4" name="Picture 3" descr="04_tipos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172" y="1243584"/>
            <a:ext cx="6297654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535424"/>
            <a:ext cx="7744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misma tabla mezcla los cuatro tipos; cada columna se analiza según el suyo.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Recreo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10 minutos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El ecosistema Python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NumPy, Pandas y Matplotlib, más Jupyter y uv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Las herramientas del módulo</a:t>
            </a:r>
          </a:p>
        </p:txBody>
      </p:sp>
      <p:pic>
        <p:nvPicPr>
          <p:cNvPr id="4" name="Picture 3" descr="05_ecosist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622" y="1143000"/>
            <a:ext cx="6948754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Python trae la sintaxis; NumPy, Pandas y Matplotlib traen el trabajo con datos. Jupyter y uv son el entorno donde todo corre.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Dos formas de trabajar en el curso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393192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la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37160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305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D3557"/>
                </a:solidFill>
                <a:latin typeface="Fira Sans"/>
              </a:rPr>
              <a:t>Opción 1 · Google Colab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E0A437"/>
                </a:solidFill>
                <a:latin typeface="Fira Sans"/>
              </a:rPr>
              <a:t>▸ </a:t>
            </a:r>
            <a:r>
              <a:rPr sz="1250" b="0">
                <a:solidFill>
                  <a:srgbClr val="000000"/>
                </a:solidFill>
                <a:latin typeface="Fira Sans"/>
              </a:rPr>
              <a:t>Los notebooks corren en la nube, sin instalar nada.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E0A437"/>
                </a:solidFill>
                <a:latin typeface="Fira Sans"/>
              </a:rPr>
              <a:t>▸ </a:t>
            </a:r>
            <a:r>
              <a:rPr sz="1250" b="0">
                <a:solidFill>
                  <a:srgbClr val="000000"/>
                </a:solidFill>
                <a:latin typeface="Fira Sans"/>
              </a:rPr>
              <a:t>Se abren con los enlaces del README del repositorio.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E0A437"/>
                </a:solidFill>
                <a:latin typeface="Fira Sans"/>
              </a:rPr>
              <a:t>▸ </a:t>
            </a:r>
            <a:r>
              <a:rPr sz="1250" b="0">
                <a:solidFill>
                  <a:srgbClr val="000000"/>
                </a:solidFill>
                <a:latin typeface="Fira Sans"/>
              </a:rPr>
              <a:t>Requiere una cuenta de Google.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E0A437"/>
                </a:solidFill>
                <a:latin typeface="Fira Sans"/>
              </a:rPr>
              <a:t>▸ </a:t>
            </a:r>
            <a:r>
              <a:rPr sz="1250" b="0">
                <a:solidFill>
                  <a:srgbClr val="000000"/>
                </a:solidFill>
                <a:latin typeface="Fira Sans"/>
              </a:rPr>
              <a:t>Guarde su copia en una carpeta de su Drive.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143000"/>
            <a:ext cx="393192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ithub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731520" cy="731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37760" y="21305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D3557"/>
                </a:solidFill>
                <a:latin typeface="Fira Sans"/>
              </a:rPr>
              <a:t>Opción 2 · Entorno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587752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E0A437"/>
                </a:solidFill>
                <a:latin typeface="Fira Sans"/>
              </a:rPr>
              <a:t>▸ </a:t>
            </a:r>
            <a:r>
              <a:rPr sz="1250" b="0">
                <a:solidFill>
                  <a:srgbClr val="000000"/>
                </a:solidFill>
                <a:latin typeface="Fira Sans"/>
              </a:rPr>
              <a:t>Se clona el repositorio del curso desde GitHub y uv sync instala Python y todas las librerías.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E0A437"/>
                </a:solidFill>
                <a:latin typeface="Fira Sans"/>
              </a:rPr>
              <a:t>▸ </a:t>
            </a:r>
            <a:r>
              <a:rPr sz="1250" b="0">
                <a:solidFill>
                  <a:srgbClr val="000000"/>
                </a:solidFill>
                <a:latin typeface="Fira Sans"/>
              </a:rPr>
              <a:t>Todo el material queda descargado: notebooks, datos y guía.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E0A437"/>
                </a:solidFill>
                <a:latin typeface="Fira Sans"/>
              </a:rPr>
              <a:t>▸ </a:t>
            </a:r>
            <a:r>
              <a:rPr sz="1250" b="0">
                <a:solidFill>
                  <a:srgbClr val="000000"/>
                </a:solidFill>
                <a:latin typeface="Fira Sans"/>
              </a:rPr>
              <a:t>Se trabaja en VS Code (así se dictan las clases) o en JupyterLab.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3333"/>
                </a:solidFill>
                <a:latin typeface="Fira Sans"/>
              </a:rPr>
              <a:t>Ambas opciones usan los mismos notebooks y los mismos datos. Material en github.com/daniopitz/diplomado-cdd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Puesta en marcha del entorno local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37744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git clone https://github.com/daniopitz/diplomado-cdd.git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cd diplomado-cdd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uv sync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uv run jupyter lab   # opcional, solo si no usa VS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88620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uv sync instala Python 3.12 y las librerías con las versiones fijadas en el repositorio; git pull trae el material nuevo cada semana (sin git: Code &gt; Download ZIP). En las clases se trabaja en VS Code: basta abrir la carpeta y elegir el kernel de .venv, sin comandos adicionales.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Pandas: la tabla como objeto de trabajo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43000"/>
            <a:ext cx="7744968" cy="132588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l"/>
            <a:r>
              <a:rPr sz="1400" b="0">
                <a:solidFill>
                  <a:srgbClr val="1D3557"/>
                </a:solidFill>
                <a:latin typeface="Menlo"/>
              </a:rPr>
              <a:t>import pandas as pd</a:t>
            </a:r>
          </a:p>
          <a:p>
            <a:pPr algn="l"/>
            <a:r>
              <a:rPr sz="1400" b="0">
                <a:solidFill>
                  <a:srgbClr val="1D3557"/>
                </a:solidFill>
                <a:latin typeface="Menlo"/>
              </a:rPr>
              <a:t>viajes = pd.read_csv(URL_VIAJES, sep=";", decimal=",")</a:t>
            </a:r>
          </a:p>
          <a:p>
            <a:pPr algn="l"/>
            <a:r>
              <a:rPr sz="1400" b="0">
                <a:solidFill>
                  <a:srgbClr val="1D3557"/>
                </a:solidFill>
                <a:latin typeface="Menlo"/>
              </a:rPr>
              <a:t>viajes.head()</a:t>
            </a:r>
          </a:p>
        </p:txBody>
      </p:sp>
      <p:pic>
        <p:nvPicPr>
          <p:cNvPr id="5" name="Picture 4" descr="02_df_viaj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606040"/>
            <a:ext cx="5486400" cy="19968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4590288"/>
            <a:ext cx="7744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Con esas tres líneas se abre la EOD 2012 completa: 18.264 hogares, 60.054 personas y 113.591 viajes. Cada columna es una variable de su propio tipo.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EOD: una encuesta, varias tablas</a:t>
            </a:r>
          </a:p>
        </p:txBody>
      </p:sp>
      <p:pic>
        <p:nvPicPr>
          <p:cNvPr id="4" name="Picture 3" descr="12_eod_tab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144" y="1143000"/>
            <a:ext cx="5931711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tabla tiene su unidad (hogar, persona, viaje) y las llaves las conectan; las tablas de parámetros traducen los códigos. Por eso la operación clave para trabajar con la EOD es merge.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DataFrame no es exclusivo de Pandas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Varias herramientas usan la misma abstracción de tabla, y Pandas no siempre es la mejor opción cuando los datos crecen: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Polars: DataFrames implementados en Rust, más rápidos y eficientes en memoria.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Apache Spark: DataFrames distribuidos en un clúster, para volúmenes que no caben en una máquina.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Dask: paraleliza la interfaz de Pandas sobre varios núcleos o máquinas.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DuckDB: consultas SQL directas sobre archivos y DataFrames.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En este módulo usamos Pandas: es el estándar para el análisis interactivo con datos de tamaño pequeño y mediano, y su interfaz es la referencia que las demás herramientas siguen.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Matplotlib: tres gráficos básicos</a:t>
            </a:r>
          </a:p>
        </p:txBody>
      </p:sp>
      <p:pic>
        <p:nvPicPr>
          <p:cNvPr id="4" name="Picture 3" descr="11_tres_grafi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8503920" cy="2715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25196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gráfico depende del tipo de variable: barras para una cualitativa, histograma para una cuantitativa, dispersión para dos cuantitativas. Los tres salen de la tabla de viajes y se construyen en el notebook.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factor de expansión</a:t>
            </a:r>
          </a:p>
        </p:txBody>
      </p:sp>
      <p:pic>
        <p:nvPicPr>
          <p:cNvPr id="4" name="Picture 3" descr="13_factor_expa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72" y="1143000"/>
            <a:ext cx="6811655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persona encuestada representa a muchas otras; su factor de expansión dice a cuántas. La suma de los factores estima la población completa.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factor de expansión en los cálculos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Una encuesta entrevista a una muestra: la EOD, a 60.054 personas de los 6,65 millones de habitantes que cubre.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factor de expansión de cada persona indica a cuántos habitantes representa; sale del diseño muestral (comuna, sexo, edad).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suma de los factores reproduce la población: en la EOD, Factor_LaboralNormal suma 6.651.735.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Todo resumen tiene dos versiones: muestral (contar filas) y ponderada (sumar factores). ¿De quién habla cada número?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En el notebook: 52,8% de mujeres en la muestra, 51,5% ponderado.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Reparto modal de Santiago, EOD 2012</a:t>
            </a:r>
          </a:p>
        </p:txBody>
      </p:sp>
      <p:pic>
        <p:nvPicPr>
          <p:cNvPr id="4" name="Picture 3" descr="01_reparto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915" y="1143000"/>
            <a:ext cx="5350169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Uno de cada tres viajes es a pie. Esta versión está ponderada por factores de expansión, así que habla de la ciudad; en el notebook calcularemos la versión muestral, y la diferencia entre ambas abre las clases 2 y 3.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Síntesis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El tipo de cada variable determina qué resúmenes, gráficos y análisis son válidos.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Ciencia de datos: extracción generalizable de conocimiento a partir de los datos (Dhar, 2013); combina estadística, computación y dominio.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ciclo de vida tiene dos entradas (una necesidad del dominio o datos disponibles) y se recorre de forma iterativa.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preparación de datos consume cerca de la mitad del tiempo de un proyecto (Anaconda, 2020).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Próxima clase (jueves 27): estadística descriptiva, con el entorno ya funcionando.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234440"/>
            <a:ext cx="774496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Anaconda (2020). 2020 State of Data Science. Reporte de encuesta (n=2.360). anaconda.com/resources/whitepaper/state-of-data-science-2020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Cleveland, W. S. (2001). Data Science: An Action Plan for Expanding the Technical Areas of the Field of Statistics. International Statistical Review, 69(1), 21-26.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Dhar, V. (2013). Data Science and Prediction. Communications of the ACM, 56(12), 64-73.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Donoho, D. (2017). 50 Years of Data Science. Journal of Computational and Graphical Statistics, 26(4), 745-766.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VanderPlas, J. (2016). Python Data Science Handbook. O'Reilly. Versión en línea: jakevdp.github.io/PythonDataScienceHandbook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
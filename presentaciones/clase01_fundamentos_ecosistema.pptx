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</p:sldIdLst>
  <p:sldSz cx="9144000" cy="5138928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3B4B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04088" y="1252728"/>
            <a:ext cx="7744968" cy="12984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200" b="1">
                <a:solidFill>
                  <a:srgbClr val="FFFFFF"/>
                </a:solidFill>
                <a:latin typeface="Fira Sans"/>
              </a:rPr>
              <a:t>Fundamentos de la ciencia de datos</a:t>
            </a:r>
          </a:p>
        </p:txBody>
      </p:sp>
      <p:sp>
        <p:nvSpPr>
          <p:cNvPr id="4" name="Rectangle 3"/>
          <p:cNvSpPr/>
          <p:nvPr/>
        </p:nvSpPr>
        <p:spPr>
          <a:xfrm>
            <a:off x="1975104" y="2651760"/>
            <a:ext cx="5202936" cy="521207"/>
          </a:xfrm>
          <a:prstGeom prst="rect">
            <a:avLst/>
          </a:prstGeom>
          <a:solidFill>
            <a:srgbClr val="E0A4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900" b="1">
                <a:solidFill>
                  <a:srgbClr val="1D3557"/>
                </a:solidFill>
                <a:latin typeface="Fira Sans"/>
              </a:rPr>
              <a:t>Clase 1 · Módulo 1 del diplomado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3547872"/>
            <a:ext cx="7744968" cy="896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0">
                <a:solidFill>
                  <a:srgbClr val="FFFFFF"/>
                </a:solidFill>
                <a:latin typeface="Fira Sans"/>
              </a:rPr>
              <a:t>Daniela Opitz</a:t>
            </a:r>
          </a:p>
          <a:p>
            <a:r>
              <a:rPr sz="1300" b="0">
                <a:solidFill>
                  <a:srgbClr val="B8C4D4"/>
                </a:solidFill>
                <a:latin typeface="Fira Sans"/>
              </a:rPr>
              <a:t>Diplomado en Ciencia de Datos Aplicada · Departamento de Informática · UTFSM · martes 25 de agosto,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Contenidos de la clase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1. Un caso para partir: la Encuesta Origen Destino de Santiago.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2. Qué es la ciencia de datos y de dónde viene.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3. El ciclo de vida de un proyecto de ciencia de datos.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4. Tipos de datos y tipos de variables.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5. El ecosistema Python: NumPy, Pandas y Matplotlib.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6. Puesta en marcha del entorno de trabajo.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idea que ordena esta clase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Un proyecto de datos empieza en la pregunta, no en los datos.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Las herramientas cambian (hoy Python, hace 20 años planillas), pero la lógica del trabajo con datos se mantiene.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Al final de la clase volveremos sobre esta idea con un caso completo a la vista.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Un caso para partir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La Encuesta Origen Destino de Santiago 2012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pregunta: ¿cómo se mueve Santiago?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Planificar el Metro, las ciclovías o los paraderos exige saber cómo viaja la gente: en qué se mueve, cuánto demora, a qué hora.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La intuición no basta: quien planifica mirando el tráfico ve autos, no personas.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La decisión pública se juega en una pregunta que solo los datos pueden responder.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Para responderla, el Estado levanta cada cierto tiempo una encuesta de movilidad: la Encuesta Origen Destino (EOD).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Los datos: la tabla de viajes, tal como llega</a:t>
            </a:r>
          </a:p>
        </p:txBody>
      </p:sp>
      <p:pic>
        <p:nvPicPr>
          <p:cNvPr id="4" name="Picture 3" descr="02_df_viaj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2296353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EOD Santiago 2012: 18.264 hogares, 60.054 personas y 113.591 viajes registrados. Cada fila es un viaje; los códigos se resuelven contra tablas de parámetros.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Un primer hallazgo</a:t>
            </a:r>
          </a:p>
        </p:txBody>
      </p:sp>
      <p:pic>
        <p:nvPicPr>
          <p:cNvPr id="4" name="Picture 3" descr="01_reparto_mod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18083" y="1143000"/>
            <a:ext cx="5707832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Uno de cada tres viajes en un día laboral es a pie. El tráfico que se ve en la calle no es un buen retrato de cómo se mueve la ciudad.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Un detalle que importa: ¿de quién habla este número?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La encuesta entrevistó a 60.054 personas, pero Santiago tiene millones de habitantes.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Cada persona encuestada representa a muchas otras: su factor de expansión.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El 33,9% de caminata está ponderado por esos factores: habla de la ciudad, no solo de los encuestados.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Pregunta guía para todo el módulo: ¿de quién habla este número?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Los factores de expansión se trabajan en detalle en las clases 2 y 3.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Lo que acabamos de hacer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Partimos de una pregunta concreta: ¿cómo se mueve Santiago?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Buscamos datos capaces de responderla: la EOD 2012.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Los exploramos y encontramos algo que corrige la intuición.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Lo comunicamos con un gráfico y una frase.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Ese recorrido, hecho con cuidado y método, es la ciencia de datos.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¿Qué es la ciencia de datos?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Una definición y cuatro episodios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Una definición de trabajo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Ciencia de datos: extraer conocimiento útil de los datos, combinando estadística, computación y conocimiento del dominio.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La estadística aporta el rigor: qué se puede afirmar y con cuánta confianza.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La computación aporta la escala: volúmenes y formatos que el papel no resiste.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El dominio aporta el sentido: qué pregunta vale la pena y qué respuesta es plausible.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Dos grandes objetivos, que retomaremos en el módulo: inferencia (entender relaciones) y predicción (anticipar valores nuevos).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1854: una pregunta antes que una teoría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Londres, brote de cólera en el barrio de Soho: unas 600 muertes en pocas semanas.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La teoría dominante culpaba al aire (los miasmas).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El médico John Snow preguntó otra cosa: ¿dónde vivían los muertos?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Marcó cada muerte en un mapa: se concentraban alrededor de la bomba de agua de Broad Street.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Los datos, bien preguntados, contradijeron a la teoría dominante: el agua, no el aire.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1962-2001: la estadística se ensancha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John Tukey, “The Future of Data Analysis” (1962): el análisis de datos es más que probar hipótesis; explorar los datos es trabajo científico serio.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De ahí nace el análisis exploratorio de datos (EDA), que veremos en la clase 3.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William Cleveland, “Data Science: An Action Plan” (2001): propone ampliar la estadística con la computación y llama a esa área “data science”.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El nombre es reciente; la práctica lleva décadas madurando.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2008-2012: la industria le pone nombre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En 2008, los equipos de datos de LinkedIn y Facebook (DJ Patil y Jeff Hammerbacher) acuñan el cargo “data scientist”.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Davenport y Patil lo popularizan en Harvard Business Review (2012).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¿Qué cambió? Internet: por primera vez las empresas acumulan más datos de los que saben usar.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La ciencia de datos pasa de los laboratorios a las decisiones de negocio.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2009-2014: la lección de Google Flu Trends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Google Flu Trends (Ginsberg et al., Nature, 2009): estimar la influenza en tiempo real a partir de las búsquedas en Google.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Al principio funcionó; después falló: llegó a más que duplicar la prevalencia que medía el CDC (Lazer et al., Science, 2014).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El modelo confundía correlación con relevancia y nadie revisaba qué medían de verdad las búsquedas.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Más datos no es mejor ciencia: sin pregunta clara ni validación, el volumen solo agranda el error.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Qué nos dejan los cuatro episodios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Snow: la pregunta correcta vale más que la teoría de moda.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Tukey y Cleveland: explorar los datos es ciencia, no un trámite previo.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La industria: los datos abundan; el criterio para usarlos, no.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Google Flu Trends: el volumen no reemplaza al método.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Cuatro épocas, una constante: primero la pregunta, después los datos.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El ciclo de vida de un proyecto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De la pregunta a la decisión, y de vuelta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Las etapas de un proyecto de ciencia de datos</a:t>
            </a:r>
          </a:p>
        </p:txBody>
      </p:sp>
      <p:pic>
        <p:nvPicPr>
          <p:cNvPr id="4" name="Picture 3" descr="03_ciclo_vid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213732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No es una línea de montaje: los hallazgos de una etapa devuelven el proyecto a etapas anteriores.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ciclo, aplicado al caso que abrió la clase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Pregunta: ¿cómo se mueve Santiago?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Obtención: la EOD 2012, publicada por el Observatorio de Transporte.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Limpieza y exploración: resolver códigos contra tablas, aplicar factores de expansión, revisar valores extremos.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Análisis: reparto modal ponderado por modo de transporte.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Comunicación: un gráfico de barras y una frase que corrige la intuición.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En 20 minutos recorrimos el ciclo completo, en miniatura.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Tres advertencias sobre el ciclo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La mayor parte del tiempo se va en obtener, limpiar y entender los datos, no en modelar: conviene planificar con eso en mente.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El ciclo se recorre varias veces: un hallazgo cambia la pregunta, una limpieza revela problemas nuevos.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La etapa más barata de arreglar es la primera: una pregunta mal planteada invalida todo lo que sigue.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proyecto final del módulo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El módulo se evalúa con un proyecto aplicado sobre datos reales, que recorre el ciclo completo: pregunta, datos, exploración, análisis y comunicación.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Puede usar datos de su propio trabajo o un conjunto de datos público.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Desde hoy: anote las preguntas de su trabajo que le gustaría responder con datos.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El enunciado y la pauta se publican en las próximas clases.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Tipos de datos y tipos de variables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Qué análisis admite cada columna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Datos estructurados y no estructurados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Estructurados: tablas con filas y columnas (la EOD, una base de ventas, un registro de sensores). Son el foco de este módulo.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No estructurados: texto libre, imágenes, audio. Se trabajan en los módulos de machine learning y deep learning del diplomado.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Frontera práctica: casi todo análisis termina convirtiendo lo no estructurado en una tabla.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Tipos de variables</a:t>
            </a:r>
          </a:p>
        </p:txBody>
      </p:sp>
      <p:pic>
        <p:nvPicPr>
          <p:cNvPr id="4" name="Picture 3" descr="04_tipos_variabl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23172" y="1143000"/>
            <a:ext cx="6297654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 misma tabla mezcla los cuatro tipos; cada columna se analiza según el suyo.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Cuidado con los números que no son números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En la tabla de viajes, ComunaOrigen vale 94, 71, 13... pero es una variable nominal: los números son códigos de comuna.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Promediar códigos de comuna no significa nada; contar viajes por comuna, sí.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El tipo de la variable define qué resumen y qué gráfico son válidos: es lo primero que se revisa al abrir una tabla.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En la clase 2 esto se vuelve operativo: cada resumen de la estadística descriptiva aplica a ciertos tipos de variables.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Recreo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10 minutos y volvemos con Python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El ecosistema Python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NumPy, Pandas y Matplotlib, más Jupyter y uv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mapa de las herramientas del módulo</a:t>
            </a:r>
          </a:p>
        </p:txBody>
      </p:sp>
      <p:pic>
        <p:nvPicPr>
          <p:cNvPr id="4" name="Picture 3" descr="05_ecosistem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281458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Python trae la sintaxis; NumPy, Pandas y Matplotlib traen el trabajo con datos. Jupyter y uv son el entorno donde todo corre.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NumPy: cálculo sobre arreglos completos</a:t>
            </a:r>
          </a:p>
        </p:txBody>
      </p:sp>
      <p:sp>
        <p:nvSpPr>
          <p:cNvPr id="4" name="Rectangle 3"/>
          <p:cNvSpPr/>
          <p:nvPr/>
        </p:nvSpPr>
        <p:spPr>
          <a:xfrm>
            <a:off x="704088" y="1280160"/>
            <a:ext cx="7744968" cy="1874520"/>
          </a:xfrm>
          <a:prstGeom prst="rect">
            <a:avLst/>
          </a:prstGeom>
          <a:solidFill>
            <a:srgbClr val="F0F2F5"/>
          </a:solidFill>
          <a:ln>
            <a:solidFill>
              <a:srgbClr val="D8DD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37160"/>
          <a:lstStyle/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import numpy as np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tiempos = np.array([70, 105, 90, 25, 40])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tiempos.mean()          # 66.0, sin escribir un ciclo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3383279"/>
            <a:ext cx="7744968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6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600" b="0">
                <a:solidFill>
                  <a:srgbClr val="000000"/>
                </a:solidFill>
                <a:latin typeface="Fira Sans"/>
              </a:rPr>
              <a:t>La operación se aplica al arreglo completo (vectorización): menos código y mucho más rápido que iterar en Python puro. Es la base sobre la que se construye todo lo demás.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Pandas: la tabla como objeto de trabajo</a:t>
            </a:r>
          </a:p>
        </p:txBody>
      </p:sp>
      <p:sp>
        <p:nvSpPr>
          <p:cNvPr id="4" name="Rectangle 3"/>
          <p:cNvSpPr/>
          <p:nvPr/>
        </p:nvSpPr>
        <p:spPr>
          <a:xfrm>
            <a:off x="704088" y="1280160"/>
            <a:ext cx="7744968" cy="1874520"/>
          </a:xfrm>
          <a:prstGeom prst="rect">
            <a:avLst/>
          </a:prstGeom>
          <a:solidFill>
            <a:srgbClr val="F0F2F5"/>
          </a:solidFill>
          <a:ln>
            <a:solidFill>
              <a:srgbClr val="D8DD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37160"/>
          <a:lstStyle/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import pandas as pd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viajes = pd.read_csv(URL_VIAJES, sep=";", decimal=",")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viajes.head()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3383279"/>
            <a:ext cx="7744968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6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600" b="0">
                <a:solidFill>
                  <a:srgbClr val="000000"/>
                </a:solidFill>
                <a:latin typeface="Fira Sans"/>
              </a:rPr>
              <a:t>El DataFrame es una tabla con columnas etiquetadas, cada una de su propio tipo. Con esas tres líneas se abre la EOD completa: lo haremos en vivo en el notebook de hoy.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Matplotlib: del DataFrame al gráfico</a:t>
            </a:r>
          </a:p>
        </p:txBody>
      </p:sp>
      <p:pic>
        <p:nvPicPr>
          <p:cNvPr id="4" name="Picture 3" descr="06_hist_tiemp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78310" y="1143000"/>
            <a:ext cx="5587379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Este histograma sale de la tabla de viajes con unas seis líneas de código; el notebook de la clase las muestra completas.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Jupyter y uv: el entorno de trabajo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Jupyter: notebooks que mezclan texto, código y resultados; el formato en que trabajaremos todas las clases.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uv: administra Python, los paquetes y sus versiones, para que todo el curso trabaje con el mismo entorno.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Alternativa sin instalar nada: Google Colab ejecuta los mismos notebooks en la nube.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Todo el material queda en el repositorio del módulo: github.com/daniopitz/diplomado-cdd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Puesta en marcha del entorno</a:t>
            </a:r>
          </a:p>
        </p:txBody>
      </p:sp>
      <p:sp>
        <p:nvSpPr>
          <p:cNvPr id="4" name="Rectangle 3"/>
          <p:cNvSpPr/>
          <p:nvPr/>
        </p:nvSpPr>
        <p:spPr>
          <a:xfrm>
            <a:off x="704088" y="1280160"/>
            <a:ext cx="7744968" cy="2377440"/>
          </a:xfrm>
          <a:prstGeom prst="rect">
            <a:avLst/>
          </a:prstGeom>
          <a:solidFill>
            <a:srgbClr val="F0F2F5"/>
          </a:solidFill>
          <a:ln>
            <a:solidFill>
              <a:srgbClr val="D8DD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37160"/>
          <a:lstStyle/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uv init --bare --python 3.12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uv add numpy pandas matplotlib seaborn scipy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uv add statsmodels scikit-learn jupyterlab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uv run jupyter lab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3886200"/>
            <a:ext cx="7744968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6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600" b="0">
                <a:solidFill>
                  <a:srgbClr val="000000"/>
                </a:solidFill>
                <a:latin typeface="Fira Sans"/>
              </a:rPr>
              <a:t>La guía de instalación del repositorio detalla estos pasos por sistema operativo y los problemas frecuentes. Lo hacemos juntos ahora; debe quedar funcionando antes de la clase 2.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Manos al teclado: el notebook de hoy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Abrimos el notebook 01 del repositorio (o en Colab, con el enlace del README).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Leeremos la tabla de viajes de la EOD directo desde una URL.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Tres miradas iniciales a cualquier tabla: shape, head, info.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Y el histograma de duración de los viajes, para cerrar el circuito datos → tabla → gráfico.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Antes de cerrar: su turno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Escriba en el chat una decisión de su trabajo que hoy se toma por intuición y que podría tomarse con datos.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Comentaremos dos o tres: cuál sería la pregunta, qué datos harían falta, qué etapa del ciclo sería la difícil.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Guarde la suya: puede ser el germen de su proyecto final.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Síntesis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Un proyecto de datos empieza en la pregunta, no en los datos.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La ciencia de datos une estadística, computación y dominio; el nombre es nuevo, el método lleva más de un siglo madurando.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El ciclo de vida ordena el trabajo y se recorre más de una vez.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El tipo de cada variable define qué análisis es válido.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Próxima clase (jueves 27): estadística descriptiva, con el entorno ya funcionando.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
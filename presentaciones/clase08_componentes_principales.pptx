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8 · PCA y cierre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22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organiza la 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De 18:00 a 18:30, la última clase del módulo, en dos partes: el análisis de componentes principales y el cierre.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Desde las 18:30, las presentaciones orales del avance: ocho equipos, máximo 10 minutos cada uno más preguntas, en el orden en que se ofrezcan. El tiempo se controla. Recreo de 10 minutos a mitad de las presentaciones.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se suben al Aula hasta el final de la clase (20:30), un envío por equipo con los nombres de sus integrantes.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 se entrega el viernes 25 de septiembre por el Aula, con un máximo de 7 páginas. Las dos rúbricas están publicadas.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problema: muchas variables que se mueven juntas.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Qué es el análisis de componentes principales y para qué sirve.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Cómo se leen las componentes: cuánta variación explica cada una y de qué está hecha.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Cuándo conviene usarlo y cuándo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Cierre del módulo: el hilo de las ocho clases y lo que sigue.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idea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Muchas variables que se mueven juntas dicen pocas cosas.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de componentes principales encuentra cuántas cosas distintas dicen y cuánto pesa cada 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hace construyendo variables nuevas a partir de las originales, en vez de elegir algunas y descartar 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los números del béisbol de la clase 7: 16 variables que, en lo esencial, son 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1. El problema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Muchas variables que se mueven juntas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del béisbol van en bloques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785" y="1143000"/>
            <a:ext cx="533442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la clase 7. Las 7 variables de la carrera se correlacionan entre 0,72 y 0,995; en el bloque de la temporada 1986, turnos, hits y anotadas están entre 0,90 y 0,96. Cada bloque dice casi lo mismo por dentro. La pregunta de hoy: ¿cuántas cosas distintas miden las 16 variables numéricas?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variables que dicen casi lo mismo</a:t>
            </a:r>
          </a:p>
        </p:txBody>
      </p:sp>
      <p:pic>
        <p:nvPicPr>
          <p:cNvPr id="4" name="Picture 3" descr="c8_00_dos_variables_cru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4572000" cy="31783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715000" y="1600200"/>
            <a:ext cx="3063240" cy="1920240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¿Cuánto se pierde si las dos variables se reemplazan por una sola?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431123"/>
            <a:ext cx="774496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jugador, con sus turnos al bate y sus hits acumulados en la carrera. Correlación 0,995: los puntos siguen una diagonal y saber una variable es saber casi la otra.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2. La idea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Reemplazar dos variables por una sola; después, 16 por pocas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Primero: estandarizar las dos variables</a:t>
            </a:r>
          </a:p>
        </p:txBody>
      </p:sp>
      <p:pic>
        <p:nvPicPr>
          <p:cNvPr id="4" name="Picture 3" descr="c8_00b_estandariz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99" y="1143000"/>
            <a:ext cx="2933200" cy="3099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cada variable se le resta su media y se divide por su desviación estándar (el puntaje z de la clase 2). Las dos quedan con media 0 y desviación 1, y el centro de la nube en el origen.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puntos siguen una recta: la diagonal</a:t>
            </a:r>
          </a:p>
        </p:txBody>
      </p:sp>
      <p:pic>
        <p:nvPicPr>
          <p:cNvPr id="4" name="Picture 3" descr="c8_00c_diag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99" y="1143000"/>
            <a:ext cx="2933200" cy="3099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pasa por el centro y sigue la nube de puntos. Es la dirección en que los jugadores se diferencian: hacia arriba y a la derecha, más carrera.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Cada jugador queda en un solo número</a:t>
            </a:r>
          </a:p>
        </p:txBody>
      </p:sp>
      <p:pic>
        <p:nvPicPr>
          <p:cNvPr id="4" name="Picture 3" descr="c8_01a_proy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3689622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38261" y="1325880"/>
            <a:ext cx="458569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diagonal es una regla: el 0 en el centro de la nube, en las unidades de los ejes, positivo hacia arriba y a la derecha.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 cada jugador se le marca el punto de la regla más cercano y se lee el número: A cae en −1,60, B en −0,48 y C en 2,01.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Ese número es la variable nueva: reemplaza a los dos valores de cada jugador, sus turnos y sus hits.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 se conserva y cuánto se pierde</a:t>
            </a:r>
          </a:p>
        </p:txBody>
      </p:sp>
      <p:pic>
        <p:nvPicPr>
          <p:cNvPr id="4" name="Picture 3" descr="c8_01_d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3689622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38261" y="1325880"/>
            <a:ext cx="458569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Para cada dirección que pasa por el centro se mide cuánto se dispersan los puntos a lo largo de ella.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Horizontal 1,00; vertical 1,00; diagonal 1,41, la mayor de todas; perpendicular a la diagonal 0,07.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Quedarse con la posición sobre la diagonal conserva el 99,8% de la variación de los datos y pierde el 0,2%.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 un cambio de ejes: las dos componentes</a:t>
            </a:r>
          </a:p>
        </p:txBody>
      </p:sp>
      <p:pic>
        <p:nvPicPr>
          <p:cNvPr id="4" name="Picture 3" descr="c8_01c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4032615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81254" y="1325880"/>
            <a:ext cx="424270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cambio de sistema de referencia: en vez de turnos y hits, dos ejes nuevos girados 45°, la diagonal y su perpendicular, con el mismo centro.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jugador tiene dos coordenadas nuevas. A pasa de (−1,16; −1,11) a (−1,60; 0,03); C, de (1,51; 1,33) a (2,01; −0,13).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segunda coordenada es casi 0 para todos: es lo que se descarta al quedarse con un solo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primer eje se llama primera componente principal; el segundo, segunda.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99,8%</a:t>
            </a:r>
          </a:p>
        </p:txBody>
      </p:sp>
      <p:pic>
        <p:nvPicPr>
          <p:cNvPr id="4" name="Picture 3" descr="c8_01d_calculo_p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0230" y="1143000"/>
            <a:ext cx="5463540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1879"/>
            <a:ext cx="7744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variación de una coordenada se mide con su varianza. Las dos variables estandarizadas tienen varianza 1 y 1: la variación total es 2. Las dos coordenadas nuevas reparten esa misma variación, 1,995 y 0,005, que también suman 2. La parte de la primera es 1,995 / 2 = 99,8%; la de la segunda, 0,005 / 2 = 0,2%. Con 16 variables es lo mismo: la variación total es 16 y cada componente se lleva una parte.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la práctica: un puntaje ponderado por jugador</a:t>
            </a:r>
          </a:p>
        </p:txBody>
      </p:sp>
      <p:pic>
        <p:nvPicPr>
          <p:cNvPr id="4" name="Picture 3" descr="c8_01b_puntaje_ponde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61139"/>
            <a:ext cx="7744968" cy="260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05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posición sobre la diagonal se calcula como un puntaje ponderado, igual que el de la admisión universitaria: cada variable entra con un peso y sale un número por jugador. Aquí los pesos no los fija nadie: se calculan para que ese número separe a los jugadores lo más posible.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de componentes principales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Busca la dirección en que los datos más se dispersan (la primera componente), luego la que más se dispersa entre las perpendiculares (la segunda), y así hasta tener tantas como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componente es una variable nueva: un puntaje ponderado de las originales, con una parte de la variación total.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usa ninguna respuesta Y: es un método no supervisado (James et al., 2013, p. 375).</a:t>
            </a:r>
          </a:p>
        </p:txBody>
      </p:sp>
      <p:pic>
        <p:nvPicPr>
          <p:cNvPr id="5" name="Picture 4" descr="c8_01c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70104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sirve?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mirar los datos: con 16 variables hay 120 gráficos de dispersión posibles; con dos componentes, uno solo.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entregarle a un modelo menos entradas: las componentes reemplazan a un grupo de variables que se repiten.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entender de qué está hecha la variación: qué variables se mueven juntas y cuánto pesa cada grupo.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no hace: no elige variables ni las descarta, y no sabe qué se quiere predecir.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16 variables, los mismos pasos</a:t>
            </a:r>
          </a:p>
        </p:txBody>
      </p:sp>
      <p:pic>
        <p:nvPicPr>
          <p:cNvPr id="4" name="Picture 3" descr="c8_08_pa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31946"/>
            <a:ext cx="7744968" cy="20658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3499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16 variables la nube no se puede dibujar, pero el cálculo es el mismo: cada jugador es un punto con 16 coordenadas, se busca la dirección de mayor dispersión, luego la perpendicular que más se dispersa, y así hasta tener 16 componentes, ordenadas de la que más variación conserva a la que menos.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se estandariza</a:t>
            </a:r>
          </a:p>
        </p:txBody>
      </p:sp>
      <p:pic>
        <p:nvPicPr>
          <p:cNvPr id="4" name="Picture 3" descr="c8_02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1351" y="1143000"/>
            <a:ext cx="4301297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1879"/>
            <a:ext cx="7744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las variables en sus unidades, la primera componente es casi solo turnos_carrera, porque su desviación estándar (2.287) es 476 veces la de temporadas (4,8): PCA sigue a la variable que más varía en sus unidades. Con cada variable estandarizada (media 0 y desviación 1, como en las clases 2 y 7) todas parten iguales. Se estandariza salvo que las variables compartan unidad (James et al., 2013, p. 381).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3. Cómo se leen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Cuánta variación explica cada componente y de qué está hecha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Cuánta variación explica cada componente</a:t>
            </a:r>
          </a:p>
        </p:txBody>
      </p:sp>
      <p:pic>
        <p:nvPicPr>
          <p:cNvPr id="4" name="Picture 3" descr="c8_03_sc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301" y="1143000"/>
            <a:ext cx="4469397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primera componente explica el 45,3% de la variación de las 16 variables; la segunda, el 25,7%; la tercera, el 10,8%. Dos componentes reúnen el 71% y tres, el 82%. Para decidir cuántas conservar se mira dónde la curva deja de caer (el codo); no hay una regla objetiva, depende del uso (James et al., 2013, p. 384).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qué está hecha cada componente: los pesos</a:t>
            </a:r>
          </a:p>
        </p:txBody>
      </p:sp>
      <p:pic>
        <p:nvPicPr>
          <p:cNvPr id="4" name="Picture 3" descr="c8_04_pe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563" y="1143000"/>
            <a:ext cx="4750872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Primera componente: las siete variables de la carrera pesan casi lo mismo (0,29 a 0,34), las de la temporada la mitad (0,19 a 0,23) y la defensa no cuenta: mide cuánta carrera lleva el jugador. Segunda componente: la temporada 1986 pesa positivo (0,24 a 0,39) y la carrera negativo (−0,12 a −0,26): separa a quien rindió este año más de lo que dice su carrera.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263 jugadores en dos componentes</a:t>
            </a:r>
          </a:p>
        </p:txBody>
      </p:sp>
      <p:pic>
        <p:nvPicPr>
          <p:cNvPr id="4" name="Picture 3" descr="c8_05_jugad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826" y="1143000"/>
            <a:ext cx="3744346" cy="2587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 y el color, su salario de 1987, que PCA no usó. El salario crece hacia la derecha (correlación 0,64 con la primera componente) y casi nada hacia arriba (0,11 con la segunda): la carrera pesa en el salario; la última temporada, poco. Dos ejes muestran lo que en 16 variables había que leer coeficiente por coeficiente.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cálculo con las flores de la clase 2</a:t>
            </a:r>
          </a:p>
        </p:txBody>
      </p:sp>
      <p:pic>
        <p:nvPicPr>
          <p:cNvPr id="4" name="Picture 3" descr="c8_06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606" y="1143000"/>
            <a:ext cx="3330786" cy="2587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cuatro medidas de iris se resumen en dos componentes que reúnen el 96% de la variación. La primera (73%) pesa casi igual el largo y el ancho del pétalo y el largo del sépalo (0,52 a 0,58): el tamaño de la flor. La segunda (23%) es casi solo el ancho del sépalo (0,92). PCA no conoce la especie y aun así las tres quedan separadas a lo largo de la primera componente.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4. Cuándo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Cuándo conviene y cuándo no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 muchas variables numéricas que se correlacionan en bloques, como en la matriz de la clase 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mirar los datos en un plano, o para entregarle a un modelo menos entradas.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aporta si las variables son pocas y distintas entre sí: no hay nada que resumir.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precauciones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Las variables categóricas (las dummies de la clase 6) no entran bien en el cálculo: se dejan fuera o se tratan aparte.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componentes no siempre tienen una lectura clara. Aquí sí (la carrera; la temporada frente a la carrera), pero no está garantizado.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no supervisado: la dirección de más variación no es necesariamente la que mejor predice la respuesta. Ridge y Lasso eligen mirando Y; PCA no la mira.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el código: cinco líneas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 = StandardScaler().fit_transform(X)  # 1. estandarizar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 = PCA().fit(Z)                     # 2. las componentes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pca.explained_variance_ratio_          # 3. cuánto explica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pca.components_                        # 4. los pesos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puntajes = pca.transform(Z)            # 5. los puntajes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ejemplo completo, con las tablas de pesos y los gráficos de la clase, está en el notebook 08_componentes_principales.ipynb.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5. Cierre del módulo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Ocho clases, un hilo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módulo en una página</a:t>
            </a:r>
          </a:p>
        </p:txBody>
      </p:sp>
      <p:pic>
        <p:nvPicPr>
          <p:cNvPr id="4" name="Picture 3" descr="c8_07_mapa_modu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546" y="1143000"/>
            <a:ext cx="708490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clase dejó una idea. Juntas, son lo que el módulo enseñó: cómo se llega de una pregunta y unos datos a un resultado, y cómo se lee ese resultado con su incertidumbre.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 que sigue en el diplomado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Módulo 2, Visualización e Inteligencia de Negocios: visualización efectiva, narrativas con datos y métricas de negocio.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Módulo 3, Machine Learning para la Toma de Decisiones: aprendizaje supervisado y no supervisado (clustering y PCA en profundidad), evaluación de modelos, redes neuronales y explicabilidad.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Capstone continúa en esos módulos: el primer modelo de hoy es el punto de partida.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se lleva de aquí: leer un resultado con su incertidumbre, juzgar un modelo en datos que no vio, y distinguir describir de encontrar una relación.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Ahora: las presentaciones del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Ocho equipos, en el orden en que se ofrezcan. Máximo 10 minutos por equipo; el tiempo se controla. Después, preguntas de la profesora y del curso.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evalúa el avance, no un resultado final: el modelo es un primer intento. La exigencia está en el tiempo, la claridad, la explicación de los gráficos y las relaciones, y en advertir qué falta o qué no tiene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al Aula hasta las 20:30: un envío por equipo con los nombres.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escrito, el viernes 25 de septiembre por el Aula: máximo 7 páginas, con su rúbrica publicada.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Sección 10.2, pp. 374 a 385: qué es una componente principal, por qué estandarizar, la proporción de variación explicada y cuántas componentes usar.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"In Depth: Principal Component Analysis", de acceso abierto en jakevdp.github.io/PythonDataScienceHandbook.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scikit-learn, sklearn.decomposition.PCA: scikit-learn.org/stable/modules/decomposition.html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Hitters, del libro de James et al. (statlearning.com), e iris (Fisher, 1936), incluido en scikit-learn.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
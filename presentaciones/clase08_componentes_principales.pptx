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8 · PCA y cierre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martes 22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organiza la 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De 18:00 a 18:30, la última clase del módulo, en dos partes: el análisis de componentes principales y el cierre.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Desde las 18:30, las presentaciones orales del avance: ocho equipos, máximo 10 minutos cada uno más preguntas, en el orden en que se ofrezcan. El tiempo se controla. Recreo de 10 minutos a mitad de las presentaciones.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Las slides, en PDF, se suben al Aula hasta el final de la clase (20:30), un envío por equipo con los nombres de sus integrantes.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informe escrito se entrega el viernes 25 de septiembre por el Aula, con un máximo de 7 páginas. Las dos rúbricas están publicadas.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El problema: muchas variables que se mueven juntas.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Qué es el análisis de componentes principales y para qué sirve.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Cómo se leen las componentes: cuánta variación explica cada una y de qué está hecha.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Cuándo conviene usarlo y cuándo 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Cierre del módulo: el hilo de las ocho clases y lo que sigue.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idea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Muchas variables que se mueven juntas dicen pocas cosas.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análisis de componentes principales encuentra cuántas cosas distintas dicen y cuánto pesa cada una.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hace construyendo variables nuevas a partir de las originales, en vez de elegir algunas y descartar el resto.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los números del béisbol de la clase 7: 16 variables que, en lo esencial, son 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1. El problema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Muchas variables que se mueven juntas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variables del béisbol van en bloques</a:t>
            </a:r>
          </a:p>
        </p:txBody>
      </p:sp>
      <p:pic>
        <p:nvPicPr>
          <p:cNvPr id="4" name="Picture 3" descr="c7_28_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785" y="1143000"/>
            <a:ext cx="533442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matriz de la clase 7. Las 7 variables de la carrera se correlacionan entre 0,72 y 0,995; en el bloque de la temporada 1986, turnos, hits y anotadas están entre 0,90 y 0,96. Cada bloque dice casi lo mismo por dentro. La pregunta de hoy: ¿cuántas cosas distintas miden las 16 variables numéricas?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variables que dicen casi lo mismo</a:t>
            </a:r>
          </a:p>
        </p:txBody>
      </p:sp>
      <p:pic>
        <p:nvPicPr>
          <p:cNvPr id="4" name="Picture 3" descr="c8_00_dos_variables_cru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572000" cy="31783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0" y="1600200"/>
            <a:ext cx="3063240" cy="1920240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¿Cuánto se pierde si las dos variables se reemplazan por una sola?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431123"/>
            <a:ext cx="77449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 jugador, con sus turnos al bate y sus hits acumulados en la carrera. Correlación 0,995: los puntos siguen una diagonal y saber una variable es saber casi la otra.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2. La idea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Reemplazar dos variables por una sola; después, 16 por pocas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Primero: estandarizar las dos variables</a:t>
            </a:r>
          </a:p>
        </p:txBody>
      </p:sp>
      <p:pic>
        <p:nvPicPr>
          <p:cNvPr id="4" name="Picture 3" descr="c8_00b_estandariz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99" y="1143000"/>
            <a:ext cx="2933200" cy="3099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 cada variable se le resta su media y se divide por su desviación estándar (el puntaje z de la clase 2). Las dos quedan con media 0 y desviación 1, y el centro de la nube en el origen.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puntos siguen una recta: la diagonal</a:t>
            </a:r>
          </a:p>
        </p:txBody>
      </p:sp>
      <p:pic>
        <p:nvPicPr>
          <p:cNvPr id="4" name="Picture 3" descr="c8_00c_di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99" y="1143000"/>
            <a:ext cx="2933200" cy="3099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recta pasa por el centro y sigue la nube de puntos. Es la dirección en que los jugadores se diferencian: hacia arriba y a la derecha, más carrera.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Cada jugador queda en un solo número</a:t>
            </a:r>
          </a:p>
        </p:txBody>
      </p:sp>
      <p:pic>
        <p:nvPicPr>
          <p:cNvPr id="4" name="Picture 3" descr="c8_01a_proy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689622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38261" y="1325880"/>
            <a:ext cx="458569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La diagonal es una regla: el 0 en el centro de la nube, en las unidades de los ejes, positivo hacia arriba y a la derecha.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A cada jugador se le marca el punto de la regla más cercano y se lee el número: A cae en −1,60, B en −0,48 y C en 2,01.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Ese número es la variable nueva: reemplaza a los dos valores de cada jugador, sus turnos y sus hits.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Es un cambio de ejes: las dos componentes</a:t>
            </a:r>
          </a:p>
        </p:txBody>
      </p:sp>
      <p:pic>
        <p:nvPicPr>
          <p:cNvPr id="4" name="Picture 3" descr="c8_01c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4032615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81254" y="1325880"/>
            <a:ext cx="424270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Un cambio de sistema de referencia: en vez de turnos y hits, dos ejes nuevos girados 45°, la diagonal y su perpendicular, con el mismo centro.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Cada jugador tiene dos coordenadas nuevas. A pasa de (−1,16; −1,11) a (−1,60; 0,03); C, de (1,51; 1,33) a (2,01; −0,13).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segunda coordenada es casi 0 para todos: es lo que se descarta al quedarse con un solo número.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primer eje se llama primera componente principal; el segundo, segunda.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En la práctica: un puntaje ponderado por jugador</a:t>
            </a:r>
          </a:p>
        </p:txBody>
      </p:sp>
      <p:pic>
        <p:nvPicPr>
          <p:cNvPr id="4" name="Picture 3" descr="c8_01b_puntaje_pond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36" y="1143000"/>
            <a:ext cx="6944127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 puntaje ponderado, como el de la admisión universitaria: cada variable entra con un peso y sale un número por jugador. Los pesos son la dirección de la diagonal: un paso de 1 sobre ella avanza 0,707 en turnos y 0,707 en hits. Por eso no los fija nadie: los fija la dirección en que los puntos más se dispersan.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Cuánto se conserva y cuánto se pierde</a:t>
            </a:r>
          </a:p>
        </p:txBody>
      </p:sp>
      <p:pic>
        <p:nvPicPr>
          <p:cNvPr id="4" name="Picture 3" descr="c8_01d_calculo_p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270" y="1143000"/>
            <a:ext cx="6063458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Quedarse con la posición sobre la diagonal conserva el 99,8% de la variación de los datos y pierde el 0,2%. Sale de las varianzas: las dos variables estandarizadas tienen 1 y 1 (total 2); las dos coordenadas nuevas reparten esa misma variación, 1,995 y 0,005; 1,995 / 2 = 99,8% y 0,005 / 2 = 0,2%. Con 16 variables, la variación total es 16 y cada componente se lleva una parte.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análisis de componentes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Busca la dirección en que los datos más se dispersan (la primera componente), luego la que más se dispersa entre las perpendiculares (la segunda), y así hasta tener tantas como variables.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Cada componente es una variable nueva: un puntaje ponderado de las originales, con una parte de la variación total.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No usa ninguna respuesta Y: es un método no supervisado (James et al., 2013, p. 375).</a:t>
            </a:r>
          </a:p>
        </p:txBody>
      </p:sp>
      <p:pic>
        <p:nvPicPr>
          <p:cNvPr id="5" name="Picture 4" descr="c8_01c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701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¿Para qué sirve?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Para mirar los datos: con 16 variables hay 120 gráficos de dispersión posibles; con dos componentes, uno solo.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Para entregarle a un modelo menos entradas: las componentes reemplazan a un grupo de variables que se repiten.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Para entender de qué está hecha la variación: qué variables se mueven juntas y cuánto pesa cada grupo.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que no hace: no elige variables ni las descarta, y no sabe qué se quiere predecir.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tres variables: tres ejes, y se decide cuántos conservar</a:t>
            </a:r>
          </a:p>
        </p:txBody>
      </p:sp>
      <p:pic>
        <p:nvPicPr>
          <p:cNvPr id="4" name="Picture 3" descr="c8_01e_tres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91" y="1143000"/>
            <a:ext cx="5330816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611879"/>
            <a:ext cx="7744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Siempre salen tantos ejes como variables. Aquí se agrega una tercera que no tiene que ver con las otras dos, los outs de defensa: el primer eje junta turnos y hits (66,7%), el segundo es la defensa (33,1%) y el tercero, la diferencia entre turnos y hits, casi nada (0,2%). Con dos ejes se conserva el 99,8% y el tercero se descarta. Si las tres variables dijeran cosas distintas, harían falta los tres.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16 variables, los mismos pasos</a:t>
            </a:r>
          </a:p>
        </p:txBody>
      </p:sp>
      <p:pic>
        <p:nvPicPr>
          <p:cNvPr id="4" name="Picture 3" descr="c8_08_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531946"/>
            <a:ext cx="7744968" cy="2065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734997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16 variables la nube no se puede dibujar, pero el cálculo es el mismo: cada jugador es un punto con 16 coordenadas, se busca la dirección de mayor dispersión, luego la perpendicular que más se dispersa, y así hasta tener 16 componentes, ordenadas de la que más variación conserva a la que menos.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Por qué se estandariza</a:t>
            </a:r>
          </a:p>
        </p:txBody>
      </p:sp>
      <p:pic>
        <p:nvPicPr>
          <p:cNvPr id="4" name="Picture 3" descr="c8_02_estandariz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351" y="1143000"/>
            <a:ext cx="4301297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611879"/>
            <a:ext cx="7744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las variables en sus unidades, la primera componente es casi solo turnos_carrera, porque su desviación estándar (2.287) es 476 veces la de temporadas (4,8): PCA sigue a la variable que más varía en sus unidades. Con cada variable estandarizada (media 0 y desviación 1, como en las clases 2 y 7) todas parten iguales. Se estandariza salvo que las variables compartan unidad (James et al., 2013, p. 381).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3. Cómo se leen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Cuánta variación explica cada componente y de qué está hecha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Cuánto explica cada componente: el codo</a:t>
            </a:r>
          </a:p>
        </p:txBody>
      </p:sp>
      <p:pic>
        <p:nvPicPr>
          <p:cNvPr id="4" name="Picture 3" descr="c8_03a_c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58" y="1143000"/>
            <a:ext cx="4991682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barras caen fuerte al principio (45,3%, 25,7%, 10,8%) y desde la cuarta quedan casi planas (5,4%, 4,4%, 3,2%...). Ese quiebre es el codo. Se conservan las componentes de antes del codo, que son las que explican mucho cada una: aquí, dos o tres.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¿Con cuántas quedarse?</a:t>
            </a:r>
          </a:p>
        </p:txBody>
      </p:sp>
      <p:pic>
        <p:nvPicPr>
          <p:cNvPr id="4" name="Picture 3" descr="c8_03b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760" y="1143000"/>
            <a:ext cx="4676478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acumulado dice cuánto se conserva con cada cantidad: con dos componentes, el 71%; con tres, el 82%; con cinco, el 92%; con diez, el 99%. Conservar diez de dieciséis casi no reduce nada: el codo sugiere dos o tres. No hay una regla objetiva: depende de cuánta variación se acepte perder y para qué se usen las componentes (James et al., 2013, p. 384).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dónde salen los pesos: con dos variables</a:t>
            </a:r>
          </a:p>
        </p:txBody>
      </p:sp>
      <p:pic>
        <p:nvPicPr>
          <p:cNvPr id="4" name="Picture 3" descr="c8_04a_triang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314447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63087" y="1325880"/>
            <a:ext cx="49608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La flecha azul es un paso de largo 1 sobre el eje nuevo: su punta queda a distancia 1 del centro.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En ese paso, turnos avanza 0,707 y hits avanza 0,707: los dos catetos del triángulo (0,707² + 0,707² = 1²).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Esos dos números son los pesos de la primera componente: cuánto avanza cada variable en un paso de 1 sobre el eje.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16 variables: los 16 pesos del 1.º eje</a:t>
            </a:r>
          </a:p>
        </p:txBody>
      </p:sp>
      <p:pic>
        <p:nvPicPr>
          <p:cNvPr id="4" name="Picture 3" descr="c8_04b_16p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211" y="1143000"/>
            <a:ext cx="4529577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 mismo en 16 dimensiones, donde ya no se puede dibujar: un paso de 1 sobre el primer eje avanza 0,33 en turnos_carrera, 0,33 en hits_carrera, 0,20 en turnos de 1986, 0,08 en outs de defensa y casi nada en errores. Son dieciséis catetos cuyos cuadrados suman 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qué está hecha cada componente: los pesos</a:t>
            </a:r>
          </a:p>
        </p:txBody>
      </p:sp>
      <p:pic>
        <p:nvPicPr>
          <p:cNvPr id="4" name="Picture 3" descr="c8_04_p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64" y="1143000"/>
            <a:ext cx="6276471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1.ª componente: la carrera pesa 0,29 a 0,34, la temporada 1986 la mitad (0,19 a 0,23) y la defensa nada: cuánta carrera lleva el jugador. 2.ª: la temporada positiva (0,24 a 0,39) y la carrera negativa (−0,12 a −0,26): quien rindió este año más de lo que dice su carrera.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263 jugadores en dos componentes</a:t>
            </a:r>
          </a:p>
        </p:txBody>
      </p:sp>
      <p:pic>
        <p:nvPicPr>
          <p:cNvPr id="4" name="Picture 3" descr="c8_05_jug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26" y="1143000"/>
            <a:ext cx="3744346" cy="2587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 jugador y el color, su salario de 1987, que PCA no usó. El salario crece hacia la derecha (correlación 0,64 con la primera componente) y casi nada hacia arriba (0,11 con la segunda): la carrera pesa en el salario; la última temporada, poco. Dos ejes muestran lo que en 16 variables había que leer coeficiente por coeficiente.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salario con pocas componentes</a:t>
            </a:r>
          </a:p>
        </p:txBody>
      </p:sp>
      <p:pic>
        <p:nvPicPr>
          <p:cNvPr id="4" name="Picture 3" descr="c8_09_p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567691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6330" y="1325880"/>
            <a:ext cx="470762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Con el reparto de la clase 7 (131 y 132 jugadores), el salario se predice con las primeras k componentes. Con 1, 2 o 3, el error de prueba es 321.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Mínimos cuadrados con las mismas 16 variables da 347 y con las 19, 342; Lasso 325 y Ridge 316.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Dos números por jugador predicen casi tan bien como el mejor modelo de la clase 7 (en 20 repartos le gana a mínimos cuadrados en 17): es la regresión sobre componentes principales (James et al., 2013, sección 6.3.1).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4. Cuándo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Cuándo conviene y cuándo 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¿Cuándo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Con muchas variables numéricas que se correlacionan en bloques, como en la matriz de la clase 7.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Para mirar los datos en un plano, o para entregarle a un modelo menos entradas.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No aporta si las variables son pocas y distintas entre sí: no hay nada que resumir.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precauciones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Las variables categóricas (las dummies de la clase 6) no entran bien en el cálculo: se dejan fuera o se tratan aparte.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Las componentes no siempre tienen una lectura clara. Aquí sí (la carrera; la temporada frente a la carrera), pero no está garantizado.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 no supervisado: la dirección de más variación no es necesariamente la que mejor predice la respuesta. Ridge y Lasso eligen mirando Y; PCA no la mira.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En el código: cinco líneas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Z = StandardScaler().fit_transform(X)  # 1. estandarizar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pca = PCA().fit(Z)                     # 2. las componentes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pca.explained_variance_ratio_          # 3. cuánto explica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pca.components_                        # 4. los pesos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puntajes = pca.transform(Z)            # 5. los puntajes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El ejemplo completo, con las tablas de pesos y los gráficos de la clase, está en el notebook 08_componentes_principales.ipynb.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5. Cierre del módulo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Ocho clases, un hilo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módulo en una página</a:t>
            </a:r>
          </a:p>
        </p:txBody>
      </p:sp>
      <p:pic>
        <p:nvPicPr>
          <p:cNvPr id="4" name="Picture 3" descr="c8_07_mapa_mod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46" y="1143000"/>
            <a:ext cx="708490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clase dejó una idea. Juntas, son lo que el módulo enseñó: cómo se llega de una pregunta y unos datos a un resultado, y cómo se lee ese resultado con su incertidumbre.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Ahora: las presentaciones del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Ocho equipos, en el orden en que se ofrezcan. Máximo 10 minutos por equipo; el tiempo se controla. Después, preguntas de la profesora y del curso.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 evalúa el avance, no un resultado final: el modelo es un primer intento. La exigencia está en el tiempo, la claridad, la explicación de los gráficos y las relaciones, y en advertir qué falta o qué no tiene sentido.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Las slides, en PDF, al Aula hasta las 20:30: un envío por equipo con los nombres.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informe escrito, el viernes 25 de septiembre por el Aula: máximo 7 páginas, con su rúbrica publicada.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James, G., Witten, D., Hastie, T. y Tibshirani, R. (2013). An Introduction to Statistical Learning. Springer. Sección 10.2, pp. 374 a 385: qué es una componente principal, por qué estandarizar, la proporción de variación explicada y cuántas componentes usar; sección 6.3.1, regresión sobre componentes principales. PDF gratuito en statlearning.com.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 Capítulo "In Depth: Principal Component Analysis", de acceso abierto en jakevdp.github.io/PythonDataScienceHandbook.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Documentación de scikit-learn, sklearn.decomposition.PCA: scikit-learn.org/stable/modules/decomposition.html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Hitters, del libro de James et al. (statlearning.com).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Anexo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Cómo se calcula la componente de un jugador, paso a paso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Anexo 1. El jugador y su posición en el eje</a:t>
            </a:r>
          </a:p>
        </p:txBody>
      </p:sp>
      <p:pic>
        <p:nvPicPr>
          <p:cNvPr id="4" name="Picture 3" descr="c8_anexo_1_pos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75628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4920" y="1325880"/>
            <a:ext cx="451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Un jugador con 5.409 turnos y 1.338 hits en la carrera: estandarizado, queda en (1,21; 0,95).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Del punto se baja la perpendicular al eje nuevo y se lee la regla: 1,53.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Ese número es su primera componente. Lo que sigue muestra de dónde sale el 1,53 sin mirar el dibujo.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Anexo 2. Del centro al jugador en dos tramos</a:t>
            </a:r>
          </a:p>
        </p:txBody>
      </p:sp>
      <p:pic>
        <p:nvPicPr>
          <p:cNvPr id="4" name="Picture 3" descr="c8_anexo_2_tra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75628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4920" y="1325880"/>
            <a:ext cx="451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Para llegar al jugador se camina primero 1,21 por turnos y después 0,95 por hits.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Los dos tramos son sus dos coordenadas estandarizadas.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Anexo 3. Cada tramo proyecta su sombra</a:t>
            </a:r>
          </a:p>
        </p:txBody>
      </p:sp>
      <p:pic>
        <p:nvPicPr>
          <p:cNvPr id="4" name="Picture 3" descr="c8_anexo_3_somb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75628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4920" y="1325880"/>
            <a:ext cx="451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Sombra del tramo 1 sobre el eje: 1,21 × 0,707 = 0,85.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Sombra del tramo 2: 0,95 × 0,707 = 0,67.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Las sombras se ponen una a continuación de la otra y suman 0,85 + 0,67 = 1,53: el mismo número del anexo 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Anexo 4. Por qué se multiplica por 0,707</a:t>
            </a:r>
          </a:p>
        </p:txBody>
      </p:sp>
      <p:pic>
        <p:nvPicPr>
          <p:cNvPr id="4" name="Picture 3" descr="c8_anexo_4_por_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812608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1248" y="1325880"/>
            <a:ext cx="4462711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El eje va a 45°. Un tramo de largo 1 en turnos proyecta sobre él una sombra de cos 45° = 0,707; un tramo de 1,21 proyecta 1,21 veces eso.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Con hits pasa lo mismo, porque el eje también está a 45° de ese lado.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Si el eje se inclinara más hacia turnos, el peso de turnos sería mayor que el de hits: los pesos son los cosenos de esos dos ángulos.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Anexo 5. La cuenta completa, sin dibujo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componente = 0,707 × z(turnos) + 0,707 × z(hits) = 0,707 × 1,21 + 0,707 × 0,95 = 0,85 + 0,67 = 1,53.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 la fórmula del puntaje ponderado: cada peso dice cuánto vale, hacia el eje nuevo, cada unidad de esa variable; se multiplica por las unidades que el jugador tiene y se suman los aportes.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16 variables el camino tiene 16 tramos y la suma, 16 términos.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scikit-learn, pca.components_ son los pesos y pca.transform(Z) hace esta cuenta para cada jugador.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
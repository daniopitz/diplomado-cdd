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</p:sldIdLst>
  <p:sldSz cx="9144000" cy="5138928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3B4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4088" y="1252728"/>
            <a:ext cx="7744968" cy="1298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200" b="1">
                <a:solidFill>
                  <a:srgbClr val="FFFFFF"/>
                </a:solidFill>
                <a:latin typeface="Fira Sans"/>
              </a:rPr>
              <a:t>Introducción y fundamentos estadísticos</a:t>
            </a:r>
          </a:p>
        </p:txBody>
      </p:sp>
      <p:sp>
        <p:nvSpPr>
          <p:cNvPr id="4" name="Rectangle 3"/>
          <p:cNvSpPr/>
          <p:nvPr/>
        </p:nvSpPr>
        <p:spPr>
          <a:xfrm>
            <a:off x="1975104" y="2651760"/>
            <a:ext cx="5202936" cy="521207"/>
          </a:xfrm>
          <a:prstGeom prst="rect">
            <a:avLst/>
          </a:prstGeom>
          <a:solidFill>
            <a:srgbClr val="E0A4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900" b="1">
                <a:solidFill>
                  <a:srgbClr val="1D3557"/>
                </a:solidFill>
                <a:latin typeface="Fira Sans"/>
              </a:rPr>
              <a:t>Clase 8 · PCA y cierre del módulo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547872"/>
            <a:ext cx="7744968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FFFFFF"/>
                </a:solidFill>
                <a:latin typeface="Fira Sans"/>
              </a:rPr>
              <a:t>Daniela Opitz</a:t>
            </a:r>
          </a:p>
          <a:p>
            <a:r>
              <a:rPr sz="1300" b="0">
                <a:solidFill>
                  <a:srgbClr val="B8C4D4"/>
                </a:solidFill>
                <a:latin typeface="Fira Sans"/>
              </a:rPr>
              <a:t>Diplomado en Ciencia de Datos Aplicada · Departamento de Informática · UTFSM · martes 22 de septiembre,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5806440" y="4480560"/>
            <a:ext cx="3017520" cy="5303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di_logo_recorta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4562856"/>
            <a:ext cx="2743200" cy="39319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Cómo se organiza la sesión de hoy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De 18:00 a 18:30, la última clase del módulo, en dos partes: el análisis de componentes principales y el cierre.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Desde las 18:30, las presentaciones orales del avance: ocho equipos, máximo 10 minutos cada uno más preguntas, en el orden en que se ofrezcan. El tiempo se controla. Recreo de 10 minutos a mitad de las presentaciones.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Las slides, en PDF, se suben al Aula hasta el final de la clase (20:30), un envío por equipo con los nombres de sus integrantes.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informe escrito se entrega el viernes 25 de septiembre por el Aula, con un máximo de 7 páginas. Las dos rúbricas están publicadas.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Contenidos de la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1. El problema: muchas variables que se mueven juntas.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2. Qué es el análisis de componentes principales y para qué sirve.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3. Cómo se leen las componentes: cuánta variación explica cada una y de qué está hecha.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4. Cuándo conviene usarlo y cuándo no.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5. Cierre del módulo: el hilo de las ocho clases y lo que sigue.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idea de la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Muchas variables que se mueven juntas dicen pocas cosas.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análisis de componentes principales encuentra cuántas cosas distintas dicen y cuánto pesa cada una.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Lo hace construyendo variables nuevas a partir de las originales, en vez de elegir algunas y descartar el resto.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Con los números del béisbol de la clase 7: 16 variables que, en lo esencial, son dos.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1. El problema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Muchas variables que se mueven juntas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Las variables del béisbol van en bloques</a:t>
            </a:r>
          </a:p>
        </p:txBody>
      </p:sp>
      <p:pic>
        <p:nvPicPr>
          <p:cNvPr id="4" name="Picture 3" descr="c7_28_correlacion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04785" y="1143000"/>
            <a:ext cx="5334428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matriz de la clase 7. Las 7 variables de la carrera se correlacionan entre 0,72 y 0,995; en el bloque de la temporada 1986, turnos, hits y anotadas están entre 0,90 y 0,96. Cada bloque dice casi lo mismo por dentro. La pregunta de hoy: ¿cuántas cosas distintas miden las 16 variables numéricas?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Dos variables que dicen casi lo mismo</a:t>
            </a:r>
          </a:p>
        </p:txBody>
      </p:sp>
      <p:pic>
        <p:nvPicPr>
          <p:cNvPr id="4" name="Picture 3" descr="c8_00_dos_variables_crud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143000"/>
            <a:ext cx="4572000" cy="3178396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715000" y="1600200"/>
            <a:ext cx="3063240" cy="1920240"/>
          </a:xfrm>
          <a:prstGeom prst="rect">
            <a:avLst/>
          </a:prstGeom>
          <a:solidFill>
            <a:srgbClr val="E0A4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/>
            <a:r>
              <a:rPr sz="1900" b="1">
                <a:solidFill>
                  <a:srgbClr val="1D3557"/>
                </a:solidFill>
                <a:latin typeface="Fira Sans"/>
              </a:rPr>
              <a:t>¿Cuánto se pierde si las dos variables se reemplazan por una sola?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431123"/>
            <a:ext cx="7744968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Cada punto es un jugador, con sus turnos al bate y sus hits acumulados en la carrera. Correlación 0,995: los puntos siguen una diagonal y saber una variable es saber casi la otra.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2. La idea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Reemplazar dos variables por una sola; después, 16 por pocas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Primero: estandarizar las dos variables</a:t>
            </a:r>
          </a:p>
        </p:txBody>
      </p:sp>
      <p:pic>
        <p:nvPicPr>
          <p:cNvPr id="4" name="Picture 3" descr="c8_00b_estandarizad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05399" y="1143000"/>
            <a:ext cx="2933200" cy="309981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997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A cada variable se le resta su media y se divide por su desviación estándar (el puntaje z de la clase 2). Las dos quedan con media 0 y desviación 1, y el centro de la nube en el origen.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Los puntos siguen una recta: la diagonal</a:t>
            </a:r>
          </a:p>
        </p:txBody>
      </p:sp>
      <p:pic>
        <p:nvPicPr>
          <p:cNvPr id="4" name="Picture 3" descr="c8_00c_diago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05399" y="1143000"/>
            <a:ext cx="2933200" cy="309981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997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recta pasa por el centro y sigue la nube de puntos. Es la dirección en que los jugadores se diferencian: hacia arriba y a la derecha, más carrera.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Cada jugador queda en un solo número</a:t>
            </a:r>
          </a:p>
        </p:txBody>
      </p:sp>
      <p:pic>
        <p:nvPicPr>
          <p:cNvPr id="4" name="Picture 3" descr="c8_01a_proyecc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52663" y="1143000"/>
            <a:ext cx="2838672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A cada jugador se le marca el punto más cercano de la diagonal. Su posición sobre ella es un solo número que reemplaza a sus dos valores: A queda en −1,60, B en −0,48 y C en 2,01. Lo que se pierde es la distancia del punto a la recta, que aquí es casi nula.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Cuánto se conserva y cuánto se pierde</a:t>
            </a:r>
          </a:p>
        </p:txBody>
      </p:sp>
      <p:pic>
        <p:nvPicPr>
          <p:cNvPr id="4" name="Picture 3" descr="c8_01_dos_variab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79455" y="1143000"/>
            <a:ext cx="5585089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Se mide con la dispersión de las posiciones a lo largo de cada dirección: 1,41 sobre la diagonal, casi toda la que hay, y 0,07 en su perpendicular. Quedarse con la posición sobre la diagonal conserva el 99,8% de la variación y pierde el 0,2%.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diagonal se llama primera componente</a:t>
            </a:r>
          </a:p>
        </p:txBody>
      </p:sp>
      <p:pic>
        <p:nvPicPr>
          <p:cNvPr id="4" name="Picture 3" descr="c8_01c_component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22002" y="1143000"/>
            <a:ext cx="3899995" cy="30998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997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Ninguna otra dirección conserva más variación que la diagonal: por eso se llama primera componente principal. Su perpendicular, la que conserva el resto, es la segunda.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En la práctica: un puntaje ponderado por jugador</a:t>
            </a:r>
          </a:p>
        </p:txBody>
      </p:sp>
      <p:pic>
        <p:nvPicPr>
          <p:cNvPr id="4" name="Picture 3" descr="c8_01b_puntaje_pondera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61139"/>
            <a:ext cx="7744968" cy="260750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00580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posición sobre la diagonal se calcula como un puntaje ponderado, igual que el de la admisión universitaria: cada variable entra con un peso y sale un número por jugador. Aquí los pesos no los fija nadie: se calculan para que ese número separe a los jugadores lo más posible.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análisis de componentes principales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52728"/>
            <a:ext cx="40233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1">
                <a:solidFill>
                  <a:srgbClr val="1D3557"/>
                </a:solidFill>
                <a:latin typeface="Fira Sans"/>
              </a:rPr>
              <a:t>Busca la dirección en que los datos más se dispersan (la primera componente), luego la que más se dispersa entre las perpendiculares (la segunda), y así hasta tener tantas como variables.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Cada componente es una variable nueva: un puntaje ponderado de las originales, con una parte de la variación total.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No usa ninguna respuesta Y: es un método no supervisado (James et al., 2013, p. 375).</a:t>
            </a:r>
          </a:p>
        </p:txBody>
      </p:sp>
      <p:pic>
        <p:nvPicPr>
          <p:cNvPr id="5" name="Picture 4" descr="c8_01c_component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371600"/>
            <a:ext cx="3840480" cy="3052511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¿Para qué sirve?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Para mirar los datos: con 16 variables hay 120 gráficos de dispersión posibles; con dos componentes, uno solo.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Para entregarle a un modelo menos entradas: las componentes reemplazan a un grupo de variables que se repiten.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Para entender de qué está hecha la variación: qué variables se mueven juntas y cuánto pesa cada grupo.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Lo que no hace: no elige variables ni las descarta, y no sabe qué se quiere predecir.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Con 16 variables, los mismos pasos</a:t>
            </a:r>
          </a:p>
        </p:txBody>
      </p:sp>
      <p:pic>
        <p:nvPicPr>
          <p:cNvPr id="4" name="Picture 3" descr="c8_08_pas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531946"/>
            <a:ext cx="7744968" cy="206589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734997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Con 16 variables la nube no se puede dibujar, pero el cálculo es el mismo: cada jugador es un punto con 16 coordenadas, se busca la dirección de mayor dispersión, luego la perpendicular que más se dispersa, y así hasta tener 16 componentes, ordenadas de la que más variación conserva a la que menos.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Por qué se estandariza</a:t>
            </a:r>
          </a:p>
        </p:txBody>
      </p:sp>
      <p:pic>
        <p:nvPicPr>
          <p:cNvPr id="4" name="Picture 3" descr="c8_02_estandariz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21351" y="1143000"/>
            <a:ext cx="4301297" cy="23317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611879"/>
            <a:ext cx="7744968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Con las variables en sus unidades, la primera componente es casi solo turnos_carrera, porque su desviación estándar (2.287) es 476 veces la de temporadas (4,8): PCA sigue a la variable que más varía en sus unidades. Con cada variable estandarizada (media 0 y desviación 1, como en las clases 2 y 7) todas parten iguales. El libro recomienda estandarizar, salvo que las variables compartan unidad (James et al., 2013, p. 381).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3. Cómo se leen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Cuánta variación explica cada componente y de qué está hecha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Cuánta variación explica cada componente</a:t>
            </a:r>
          </a:p>
        </p:txBody>
      </p:sp>
      <p:pic>
        <p:nvPicPr>
          <p:cNvPr id="4" name="Picture 3" descr="c8_03_scre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37301" y="1143000"/>
            <a:ext cx="4469397" cy="258775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867912"/>
            <a:ext cx="7744968" cy="1024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primera componente explica el 45,3% de la variación de las 16 variables; la segunda, el 25,7%; la tercera, el 10,8%. Dos componentes reúnen el 71% y tres, el 82%. Para decidir cuántas conservar, el libro sugiere mirar dónde la curva deja de caer (el codo) y advierte que no hay una regla objetiva: depende del uso (James et al., 2013, p. 384).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De qué está hecha cada componente: los pesos</a:t>
            </a:r>
          </a:p>
        </p:txBody>
      </p:sp>
      <p:pic>
        <p:nvPicPr>
          <p:cNvPr id="4" name="Picture 3" descr="c8_04_pes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96563" y="1143000"/>
            <a:ext cx="4750872" cy="258775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867912"/>
            <a:ext cx="7744968" cy="1024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Primera componente: las siete variables de la carrera pesan casi lo mismo (0,29 a 0,34), las de la temporada la mitad (0,19 a 0,23) y la defensa no cuenta: mide cuánta carrera lleva el jugador. Segunda componente: la temporada 1986 pesa positivo (0,24 a 0,39) y la carrera negativo (−0,12 a −0,26): separa a quien rindió este año más de lo que dice su carrera.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Los 263 jugadores en dos componentes</a:t>
            </a:r>
          </a:p>
        </p:txBody>
      </p:sp>
      <p:pic>
        <p:nvPicPr>
          <p:cNvPr id="4" name="Picture 3" descr="c8_05_jugado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99826" y="1143000"/>
            <a:ext cx="3744346" cy="258775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867912"/>
            <a:ext cx="7744968" cy="1024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Cada punto es un jugador y el color, su salario de 1987, que PCA no usó. El salario crece hacia la derecha (correlación 0,64 con la primera componente) y casi nada hacia arriba (0,11 con la segunda): la carrera pesa en el salario; la última temporada, poco. Dos ejes muestran lo que en 16 variables había que leer coeficiente por coeficiente.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mismo cálculo con las flores de la clase 2</a:t>
            </a:r>
          </a:p>
        </p:txBody>
      </p:sp>
      <p:pic>
        <p:nvPicPr>
          <p:cNvPr id="4" name="Picture 3" descr="c8_06_ir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06606" y="1143000"/>
            <a:ext cx="3330786" cy="258775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867912"/>
            <a:ext cx="7744968" cy="1024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Las cuatro medidas de iris se resumen en dos componentes que reúnen el 96% de la variación. La primera (73%) pesa casi igual el largo y el ancho del pétalo y el largo del sépalo (0,52 a 0,58): el tamaño de la flor. La segunda (23%) es casi solo el ancho del sépalo (0,92). PCA no conoce la especie y aun así las tres quedan separadas a lo largo de la primera componente.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4. Cuándo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Cuándo conviene y cuándo no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¿Cuándo conviene?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Con muchas variables numéricas que se correlacionan en bloques, como en la matriz de la clase 7.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Para mirar los datos en un plano, o para entregarle a un modelo menos entradas.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No aporta si las variables son pocas y distintas entre sí: no hay nada que resumir.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Tres precauciones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Las variables categóricas (las dummies de la clase 6) no entran bien en el cálculo: se dejan fuera o se tratan aparte.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Las componentes no siempre tienen una lectura clara. Aquí sí (la carrera; la temporada frente a la carrera), pero no está garantizado.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Es no supervisado: la dirección de más variación no es necesariamente la que mejor predice la respuesta. Ridge y Lasso eligen mirando Y; PCA no la mira.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En el código: cinco líneas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Z = StandardScaler().fit_transform(X)  # 1. estandarizar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pca = PCA().fit(Z)                     # 2. las componentes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pca.explained_variance_ratio_          # 3. cuánto explica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pca.components_                        # 4. los pesos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puntajes = pca.transform(Z)            # 5. los puntajes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El ejemplo completo, con las tablas de pesos y los gráficos de la clase, está en el notebook 08_componentes_principales.ipynb.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5. Cierre del módulo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Ocho clases, un hilo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módulo en una página</a:t>
            </a:r>
          </a:p>
        </p:txBody>
      </p:sp>
      <p:pic>
        <p:nvPicPr>
          <p:cNvPr id="4" name="Picture 3" descr="c8_07_mapa_modu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9546" y="1143000"/>
            <a:ext cx="7084906" cy="30998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997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Cada clase dejó una idea. Juntas, son lo que el módulo enseñó: cómo se llega de una pregunta y unos datos a un resultado, y cómo se lee ese resultado con su incertidumbre.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Lo que sigue en el diplomado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Módulo 2, Visualización e Inteligencia de Negocios: visualización efectiva, narrativas con datos y métricas de negocio.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Módulo 3, Machine Learning para la Toma de Decisiones: aprendizaje supervisado y no supervisado (clustering y PCA en profundidad), evaluación de modelos, redes neuronales y explicabilidad.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Capstone continúa en esos módulos: el primer modelo de hoy es el punto de partida.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Lo que se lleva de aquí: leer un resultado con su incertidumbre, juzgar un modelo en datos que no vio, y distinguir describir de encontrar una relación.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Ahora: las presentaciones del avance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Ocho equipos, en el orden en que se ofrezcan. Máximo 10 minutos por equipo; el tiempo se controla. Después, preguntas de la profesora y del curso.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Se evalúa el avance, no un resultado final: el modelo es un primer intento. La exigencia está en el tiempo, la claridad, la explicación de los gráficos y las relaciones, y en advertir qué falta o qué no tiene sentido.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Las slides, en PDF, al Aula hasta las 20:30: un envío por equipo con los nombres.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informe escrito, el viernes 25 de septiembre por el Aula: máximo 7 páginas, con su rúbrica publicada.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Referencias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234440"/>
            <a:ext cx="7744968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James, G., Witten, D., Hastie, T. y Tibshirani, R. (2013). An Introduction to Statistical Learning. Springer. Sección 10.2, pp. 374 a 385: qué es una componente principal, por qué estandarizar, la proporción de variación explicada y cuántas componentes usar. PDF gratuito en statlearning.com.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VanderPlas, J. (2016). Python Data Science Handbook. O'Reilly. Capítulo "In Depth: Principal Component Analysis", de acceso abierto en jakevdp.github.io/PythonDataScienceHandbook.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Documentación de scikit-learn, sklearn.decomposition.PCA: scikit-learn.org/stable/modules/decomposition.html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Datos: Hitters, del libro de James et al. (statlearning.com), e iris (Fisher, 1936), incluido en scikit-learn.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